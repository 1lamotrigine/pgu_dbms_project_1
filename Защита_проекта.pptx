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3541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95779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7799007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6316762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2261336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49232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710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8966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6780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60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6923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Цель проекта и семь задач: от базы данных до интерфейса на Next.js.</a:t>
            </a:r>
            <a:endParaRPr lang="en-US"/>
          </a:p>
        </p:txBody>
      </p:sp>
      <p:sp>
        <p:nvSpPr>
          <p:cNvPr id="24656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3881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664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758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201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4882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2092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6592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450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574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789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9615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2414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31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6918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8814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544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384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0586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627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056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8334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554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7695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68760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275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550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036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0280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035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703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0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281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0128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body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067884" name="Title Placeholder 1"/>
          <p:cNvSpPr/>
          <p:nvPr>
            <p:ph type="title"/>
          </p:nvPr>
        </p:nvSpPr>
        <p:spPr bwMode="auto">
          <a:xfrm>
            <a:off x="812800" y="812800"/>
            <a:ext cx="10566400" cy="521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80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800"/>
          </a:p>
        </p:txBody>
      </p:sp>
      <p:sp>
        <p:nvSpPr>
          <p:cNvPr id="2076183604" name="Text Placeholder 2"/>
          <p:cNvSpPr/>
          <p:nvPr>
            <p:ph type="body" idx="101"/>
          </p:nvPr>
        </p:nvSpPr>
        <p:spPr bwMode="auto">
          <a:xfrm>
            <a:off x="812800" y="1638829"/>
            <a:ext cx="10566400" cy="4406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258261" name="Title Placeholder 1"/>
          <p:cNvSpPr/>
          <p:nvPr>
            <p:ph type="title"/>
          </p:nvPr>
        </p:nvSpPr>
        <p:spPr bwMode="auto">
          <a:xfrm>
            <a:off x="812800" y="812800"/>
            <a:ext cx="10566400" cy="521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80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800"/>
          </a:p>
        </p:txBody>
      </p:sp>
      <p:sp>
        <p:nvSpPr>
          <p:cNvPr id="462976167" name="Text Placeholder 2"/>
          <p:cNvSpPr/>
          <p:nvPr>
            <p:ph type="body" idx="101"/>
          </p:nvPr>
        </p:nvSpPr>
        <p:spPr bwMode="auto">
          <a:xfrm>
            <a:off x="812800" y="1638829"/>
            <a:ext cx="10566400" cy="4406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870368" name="Text 0"/>
          <p:cNvSpPr/>
          <p:nvPr/>
        </p:nvSpPr>
        <p:spPr bwMode="auto">
          <a:xfrm>
            <a:off x="8763000" y="952500"/>
            <a:ext cx="872596" cy="655320"/>
          </a:xfrm>
          <a:custGeom>
            <a:avLst/>
            <a:gdLst/>
            <a:ahLst/>
            <a:cxnLst/>
            <a:rect l="l" t="t" r="r" b="b"/>
            <a:pathLst>
              <a:path w="872596" h="655320" fill="norm" stroke="1" extrusionOk="0">
                <a:moveTo>
                  <a:pt x="254000" y="0"/>
                </a:moveTo>
                <a:lnTo>
                  <a:pt x="618596" y="0"/>
                </a:lnTo>
                <a:arcTo wR="254000" hR="254000" stAng="16200000" swAng="5400000"/>
                <a:lnTo>
                  <a:pt x="872596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A1</a:t>
            </a:r>
            <a:endParaRPr lang="en-US" sz="2400"/>
          </a:p>
        </p:txBody>
      </p:sp>
      <p:sp>
        <p:nvSpPr>
          <p:cNvPr id="2135460675" name="Text 1"/>
          <p:cNvSpPr/>
          <p:nvPr/>
        </p:nvSpPr>
        <p:spPr bwMode="auto">
          <a:xfrm>
            <a:off x="9906000" y="2095500"/>
            <a:ext cx="854075" cy="655320"/>
          </a:xfrm>
          <a:custGeom>
            <a:avLst/>
            <a:gdLst/>
            <a:ahLst/>
            <a:cxnLst/>
            <a:rect l="l" t="t" r="r" b="b"/>
            <a:pathLst>
              <a:path w="854075" h="655320" fill="norm" stroke="1" extrusionOk="0">
                <a:moveTo>
                  <a:pt x="254000" y="0"/>
                </a:moveTo>
                <a:lnTo>
                  <a:pt x="600075" y="0"/>
                </a:lnTo>
                <a:arcTo wR="254000" hR="254000" stAng="16200000" swAng="5400000"/>
                <a:lnTo>
                  <a:pt x="854075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B2</a:t>
            </a:r>
            <a:endParaRPr lang="en-US" sz="2400"/>
          </a:p>
        </p:txBody>
      </p:sp>
      <p:sp>
        <p:nvSpPr>
          <p:cNvPr id="1594487070" name="Text 2"/>
          <p:cNvSpPr/>
          <p:nvPr/>
        </p:nvSpPr>
        <p:spPr bwMode="auto">
          <a:xfrm>
            <a:off x="8445500" y="3302000"/>
            <a:ext cx="875982" cy="655320"/>
          </a:xfrm>
          <a:custGeom>
            <a:avLst/>
            <a:gdLst/>
            <a:ahLst/>
            <a:cxnLst/>
            <a:rect l="l" t="t" r="r" b="b"/>
            <a:pathLst>
              <a:path w="875982" h="655320" fill="norm" stroke="1" extrusionOk="0">
                <a:moveTo>
                  <a:pt x="254000" y="0"/>
                </a:moveTo>
                <a:lnTo>
                  <a:pt x="621982" y="0"/>
                </a:lnTo>
                <a:arcTo wR="254000" hR="254000" stAng="16200000" swAng="5400000"/>
                <a:lnTo>
                  <a:pt x="875982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F5A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XP</a:t>
            </a:r>
            <a:endParaRPr lang="en-US" sz="2400"/>
          </a:p>
        </p:txBody>
      </p:sp>
      <p:sp>
        <p:nvSpPr>
          <p:cNvPr id="742769993" name="Text 3"/>
          <p:cNvSpPr/>
          <p:nvPr/>
        </p:nvSpPr>
        <p:spPr bwMode="auto">
          <a:xfrm>
            <a:off x="10160000" y="4445000"/>
            <a:ext cx="849736" cy="655320"/>
          </a:xfrm>
          <a:custGeom>
            <a:avLst/>
            <a:gdLst/>
            <a:ahLst/>
            <a:cxnLst/>
            <a:rect l="l" t="t" r="r" b="b"/>
            <a:pathLst>
              <a:path w="849736" h="655320" fill="norm" stroke="1" extrusionOk="0">
                <a:moveTo>
                  <a:pt x="254000" y="0"/>
                </a:moveTo>
                <a:lnTo>
                  <a:pt x="595736" y="0"/>
                </a:lnTo>
                <a:arcTo wR="254000" hR="254000" stAng="16200000" swAng="5400000"/>
                <a:lnTo>
                  <a:pt x="849736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7CC4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C1</a:t>
            </a:r>
            <a:endParaRPr lang="en-US" sz="2400"/>
          </a:p>
        </p:txBody>
      </p:sp>
      <p:sp>
        <p:nvSpPr>
          <p:cNvPr id="1766870937" name="Text 4"/>
          <p:cNvSpPr/>
          <p:nvPr/>
        </p:nvSpPr>
        <p:spPr bwMode="auto">
          <a:xfrm>
            <a:off x="7937500" y="5207000"/>
            <a:ext cx="1334982" cy="655320"/>
          </a:xfrm>
          <a:custGeom>
            <a:avLst/>
            <a:gdLst/>
            <a:ahLst/>
            <a:cxnLst/>
            <a:rect l="l" t="t" r="r" b="b"/>
            <a:pathLst>
              <a:path w="1334982" h="655320" fill="norm" stroke="1" extrusionOk="0">
                <a:moveTo>
                  <a:pt x="254000" y="0"/>
                </a:moveTo>
                <a:lnTo>
                  <a:pt x="1080982" y="0"/>
                </a:lnTo>
                <a:arcTo wR="254000" hR="254000" stAng="16200000" swAng="5400000"/>
                <a:lnTo>
                  <a:pt x="1334982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Quest</a:t>
            </a:r>
            <a:endParaRPr lang="en-US" sz="2400"/>
          </a:p>
        </p:txBody>
      </p:sp>
      <p:sp>
        <p:nvSpPr>
          <p:cNvPr id="601761944" name="Text 5"/>
          <p:cNvSpPr/>
          <p:nvPr/>
        </p:nvSpPr>
        <p:spPr bwMode="auto">
          <a:xfrm>
            <a:off x="812800" y="16129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ЗАЩИТА ПРОЕКТА · ИГРА НАЧИНАЕТСЯ ▶</a:t>
            </a:r>
            <a:endParaRPr lang="en-US" sz="1500"/>
          </a:p>
        </p:txBody>
      </p:sp>
      <p:sp>
        <p:nvSpPr>
          <p:cNvPr id="1899153356" name="Text 6"/>
          <p:cNvSpPr/>
          <p:nvPr>
            <p:ph type="title"/>
          </p:nvPr>
        </p:nvSpPr>
        <p:spPr bwMode="auto">
          <a:xfrm>
            <a:off x="812800" y="2108200"/>
            <a:ext cx="719454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  <a:defRPr/>
            </a:pPr>
            <a:r>
              <a:rPr lang="en-US" sz="52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English Quest</a:t>
            </a:r>
            <a:endParaRPr lang="en-US" sz="5200"/>
          </a:p>
        </p:txBody>
      </p:sp>
      <p:sp>
        <p:nvSpPr>
          <p:cNvPr id="1702671382" name="Text 7"/>
          <p:cNvSpPr/>
          <p:nvPr/>
        </p:nvSpPr>
        <p:spPr bwMode="auto">
          <a:xfrm>
            <a:off x="812800" y="3030220"/>
            <a:ext cx="686752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  <a:defRPr/>
            </a:pPr>
            <a:r>
              <a:rPr lang="en-US" sz="24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Геймифицированная платформа для изучения английского языка</a:t>
            </a:r>
            <a:endParaRPr lang="en-US" sz="2400"/>
          </a:p>
        </p:txBody>
      </p:sp>
      <p:sp>
        <p:nvSpPr>
          <p:cNvPr id="126788877" name="Text 8"/>
          <p:cNvSpPr/>
          <p:nvPr/>
        </p:nvSpPr>
        <p:spPr bwMode="auto">
          <a:xfrm>
            <a:off x="812800" y="3959860"/>
            <a:ext cx="6867524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>
                <a:solidFill>
                  <a:srgbClr val="E9E7FF"/>
                </a:solidFill>
                <a:latin typeface="Inter"/>
                <a:ea typeface="Inter"/>
                <a:cs typeface="Inter"/>
              </a:rPr>
              <a:t>Блок 1. Архитектура backend, аутентификация, игровая логика, API контента и клиентский интерфейс</a:t>
            </a:r>
            <a:endParaRPr lang="en-US" sz="1700"/>
          </a:p>
        </p:txBody>
      </p:sp>
      <p:sp>
        <p:nvSpPr>
          <p:cNvPr id="1964283589" name="Text 9"/>
          <p:cNvSpPr/>
          <p:nvPr/>
        </p:nvSpPr>
        <p:spPr bwMode="auto">
          <a:xfrm>
            <a:off x="812800" y="4792980"/>
            <a:ext cx="10883392" cy="27432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ru-RU" sz="1400">
                <a:solidFill>
                  <a:srgbClr val="B9B6D6"/>
                </a:solidFill>
                <a:latin typeface="Inter"/>
                <a:ea typeface="Inter"/>
                <a:cs typeface="Inter"/>
              </a:rPr>
              <a:t>Бектуров Н. Е., Габдулманап Х. Т., Паршуков А. С. – </a:t>
            </a:r>
            <a:r>
              <a:rPr lang="en-US" sz="1400">
                <a:solidFill>
                  <a:srgbClr val="B9B6D6"/>
                </a:solidFill>
                <a:latin typeface="Inter"/>
                <a:ea typeface="Inter"/>
                <a:cs typeface="Inter"/>
              </a:rPr>
              <a:t>CS-204(</a:t>
            </a:r>
            <a:r>
              <a:rPr lang="ru-RU" sz="1400">
                <a:solidFill>
                  <a:srgbClr val="B9B6D6"/>
                </a:solidFill>
                <a:latin typeface="Inter"/>
                <a:ea typeface="Inter"/>
                <a:cs typeface="Inter"/>
              </a:rPr>
              <a:t>с</a:t>
            </a:r>
            <a:r>
              <a:rPr lang="en-US" sz="1400">
                <a:solidFill>
                  <a:srgbClr val="B9B6D6"/>
                </a:solidFill>
                <a:latin typeface="Inter"/>
                <a:ea typeface="Inter"/>
                <a:cs typeface="Inter"/>
              </a:rPr>
              <a:t>)</a:t>
            </a:r>
            <a:endParaRPr lang="ru-RU" sz="1400">
              <a:solidFill>
                <a:srgbClr val="B9B6D6"/>
              </a:solidFill>
              <a:latin typeface="Inter"/>
              <a:ea typeface="Inter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131740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01 · ЦЕЛЬ И ЗАДАЧИ</a:t>
            </a:r>
            <a:endParaRPr lang="en-US" sz="1200"/>
          </a:p>
        </p:txBody>
      </p:sp>
      <p:sp>
        <p:nvSpPr>
          <p:cNvPr id="1637889685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Цель, идея и задачи проекта</a:t>
            </a:r>
            <a:endParaRPr lang="en-US" sz="3800"/>
          </a:p>
        </p:txBody>
      </p:sp>
      <p:sp>
        <p:nvSpPr>
          <p:cNvPr id="1494801608" name="Shape 2"/>
          <p:cNvSpPr/>
          <p:nvPr/>
        </p:nvSpPr>
        <p:spPr bwMode="auto">
          <a:xfrm>
            <a:off x="812800" y="1448329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348458221" name="Shape 3"/>
          <p:cNvSpPr/>
          <p:nvPr/>
        </p:nvSpPr>
        <p:spPr bwMode="auto">
          <a:xfrm>
            <a:off x="812800" y="1765829"/>
            <a:ext cx="4820073" cy="3562350"/>
          </a:xfrm>
          <a:prstGeom prst="roundRect">
            <a:avLst>
              <a:gd name="adj" fmla="val 4991"/>
            </a:avLst>
          </a:prstGeom>
          <a:solidFill>
            <a:srgbClr val="7CC4FF"/>
          </a:solidFill>
          <a:ln/>
        </p:spPr>
      </p:sp>
      <p:sp>
        <p:nvSpPr>
          <p:cNvPr id="1913436100" name="Text 4"/>
          <p:cNvSpPr/>
          <p:nvPr/>
        </p:nvSpPr>
        <p:spPr bwMode="auto">
          <a:xfrm>
            <a:off x="1066800" y="2019829"/>
            <a:ext cx="44414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Цель</a:t>
            </a:r>
            <a:endParaRPr lang="en-US" sz="2000"/>
          </a:p>
        </p:txBody>
      </p:sp>
      <p:sp>
        <p:nvSpPr>
          <p:cNvPr id="1510746325" name="Text 5"/>
          <p:cNvSpPr/>
          <p:nvPr/>
        </p:nvSpPr>
        <p:spPr bwMode="auto">
          <a:xfrm>
            <a:off x="1066800" y="2362728"/>
            <a:ext cx="444143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  <a:defRPr/>
            </a:pPr>
            <a:r>
              <a:rPr lang="en-US" sz="1500">
                <a:solidFill>
                  <a:srgbClr val="130F3A"/>
                </a:solidFill>
                <a:latin typeface="Inter"/>
                <a:ea typeface="Inter"/>
                <a:cs typeface="Inter"/>
              </a:rPr>
              <a:t>Выстроить надёжную связь backend на FastAPI с базой PostgreSQL и создать клиент на Next.js для платформы изучения английского.</a:t>
            </a:r>
            <a:endParaRPr lang="en-US" sz="1500"/>
          </a:p>
        </p:txBody>
      </p:sp>
      <p:sp>
        <p:nvSpPr>
          <p:cNvPr id="2111586097" name="Text 6"/>
          <p:cNvSpPr/>
          <p:nvPr/>
        </p:nvSpPr>
        <p:spPr bwMode="auto">
          <a:xfrm>
            <a:off x="1066800" y="3531129"/>
            <a:ext cx="44414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Идея</a:t>
            </a:r>
            <a:endParaRPr lang="en-US" sz="2000"/>
          </a:p>
        </p:txBody>
      </p:sp>
      <p:sp>
        <p:nvSpPr>
          <p:cNvPr id="522326689" name="Text 7"/>
          <p:cNvSpPr/>
          <p:nvPr/>
        </p:nvSpPr>
        <p:spPr bwMode="auto">
          <a:xfrm>
            <a:off x="1066800" y="3874029"/>
            <a:ext cx="4441435" cy="122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130F3A"/>
                </a:solidFill>
                <a:latin typeface="Inter"/>
                <a:ea typeface="Inter"/>
                <a:cs typeface="Inter"/>
              </a:rPr>
              <a:t>Обучение по уровням CEFR от A1 до C2 + геймификация: аркада «слова — картинки», XP с разной наградой за первое и повторное прохождение, автокалибровка уровня и свободный выбор миссий.</a:t>
            </a:r>
            <a:endParaRPr lang="en-US" sz="1400"/>
          </a:p>
        </p:txBody>
      </p:sp>
      <p:sp>
        <p:nvSpPr>
          <p:cNvPr id="1401567534" name="Shape 8"/>
          <p:cNvSpPr/>
          <p:nvPr/>
        </p:nvSpPr>
        <p:spPr bwMode="auto">
          <a:xfrm>
            <a:off x="5836073" y="17658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1198893891" name="Text 9"/>
          <p:cNvSpPr/>
          <p:nvPr/>
        </p:nvSpPr>
        <p:spPr bwMode="auto">
          <a:xfrm>
            <a:off x="5963073" y="18420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1</a:t>
            </a:r>
            <a:endParaRPr lang="en-US" sz="1300"/>
          </a:p>
        </p:txBody>
      </p:sp>
      <p:sp>
        <p:nvSpPr>
          <p:cNvPr id="2074443136" name="Text 10"/>
          <p:cNvSpPr/>
          <p:nvPr/>
        </p:nvSpPr>
        <p:spPr bwMode="auto">
          <a:xfrm>
            <a:off x="6382173" y="18829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Спроектировать базу данных PostgreSQL</a:t>
            </a:r>
            <a:endParaRPr lang="en-US" sz="1300"/>
          </a:p>
        </p:txBody>
      </p:sp>
      <p:sp>
        <p:nvSpPr>
          <p:cNvPr id="541573681" name="Shape 11"/>
          <p:cNvSpPr/>
          <p:nvPr/>
        </p:nvSpPr>
        <p:spPr bwMode="auto">
          <a:xfrm>
            <a:off x="5836073" y="22992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13610690" name="Text 12"/>
          <p:cNvSpPr/>
          <p:nvPr/>
        </p:nvSpPr>
        <p:spPr bwMode="auto">
          <a:xfrm>
            <a:off x="5963073" y="23754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2</a:t>
            </a:r>
            <a:endParaRPr lang="en-US" sz="1300"/>
          </a:p>
        </p:txBody>
      </p:sp>
      <p:sp>
        <p:nvSpPr>
          <p:cNvPr id="1662066032" name="Text 13"/>
          <p:cNvSpPr/>
          <p:nvPr/>
        </p:nvSpPr>
        <p:spPr bwMode="auto">
          <a:xfrm>
            <a:off x="6382173" y="24163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Микросервисная архитектура backend</a:t>
            </a:r>
            <a:endParaRPr lang="en-US" sz="1300"/>
          </a:p>
        </p:txBody>
      </p:sp>
      <p:sp>
        <p:nvSpPr>
          <p:cNvPr id="485692792" name="Shape 14"/>
          <p:cNvSpPr/>
          <p:nvPr/>
        </p:nvSpPr>
        <p:spPr bwMode="auto">
          <a:xfrm>
            <a:off x="5836073" y="28326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137942461" name="Text 15"/>
          <p:cNvSpPr/>
          <p:nvPr/>
        </p:nvSpPr>
        <p:spPr bwMode="auto">
          <a:xfrm>
            <a:off x="5963073" y="29088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3</a:t>
            </a:r>
            <a:endParaRPr lang="en-US" sz="1300"/>
          </a:p>
        </p:txBody>
      </p:sp>
      <p:sp>
        <p:nvSpPr>
          <p:cNvPr id="1504210639" name="Text 16"/>
          <p:cNvSpPr/>
          <p:nvPr/>
        </p:nvSpPr>
        <p:spPr bwMode="auto">
          <a:xfrm>
            <a:off x="6382173" y="29497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JWT-аутентификация и роли student / teacher</a:t>
            </a:r>
            <a:endParaRPr lang="en-US" sz="1300"/>
          </a:p>
        </p:txBody>
      </p:sp>
      <p:sp>
        <p:nvSpPr>
          <p:cNvPr id="1139684841" name="Shape 17"/>
          <p:cNvSpPr/>
          <p:nvPr/>
        </p:nvSpPr>
        <p:spPr bwMode="auto">
          <a:xfrm>
            <a:off x="5836073" y="33660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2078886371" name="Text 18"/>
          <p:cNvSpPr/>
          <p:nvPr/>
        </p:nvSpPr>
        <p:spPr bwMode="auto">
          <a:xfrm>
            <a:off x="5963073" y="34422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4</a:t>
            </a:r>
            <a:endParaRPr lang="en-US" sz="1300"/>
          </a:p>
        </p:txBody>
      </p:sp>
      <p:sp>
        <p:nvSpPr>
          <p:cNvPr id="1500783173" name="Text 19"/>
          <p:cNvSpPr/>
          <p:nvPr/>
        </p:nvSpPr>
        <p:spPr bwMode="auto">
          <a:xfrm>
            <a:off x="6382173" y="34831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API учебного контента с серверной валидацией</a:t>
            </a:r>
            <a:endParaRPr lang="en-US" sz="1300"/>
          </a:p>
        </p:txBody>
      </p:sp>
      <p:sp>
        <p:nvSpPr>
          <p:cNvPr id="2056937354" name="Shape 20"/>
          <p:cNvSpPr/>
          <p:nvPr/>
        </p:nvSpPr>
        <p:spPr bwMode="auto">
          <a:xfrm>
            <a:off x="5836073" y="38994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971041419" name="Text 21"/>
          <p:cNvSpPr/>
          <p:nvPr/>
        </p:nvSpPr>
        <p:spPr bwMode="auto">
          <a:xfrm>
            <a:off x="5963073" y="39756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5</a:t>
            </a:r>
            <a:endParaRPr lang="en-US" sz="1300"/>
          </a:p>
        </p:txBody>
      </p:sp>
      <p:sp>
        <p:nvSpPr>
          <p:cNvPr id="923534505" name="Text 22"/>
          <p:cNvSpPr/>
          <p:nvPr/>
        </p:nvSpPr>
        <p:spPr bwMode="auto">
          <a:xfrm>
            <a:off x="6382173" y="4016586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Входная калибровка уровня: автозачёт и стартовый опыт</a:t>
            </a:r>
            <a:endParaRPr lang="en-US" sz="1300"/>
          </a:p>
        </p:txBody>
      </p:sp>
      <p:sp>
        <p:nvSpPr>
          <p:cNvPr id="693856468" name="Shape 23"/>
          <p:cNvSpPr/>
          <p:nvPr/>
        </p:nvSpPr>
        <p:spPr bwMode="auto">
          <a:xfrm>
            <a:off x="5836073" y="44328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426573328" name="Text 24"/>
          <p:cNvSpPr/>
          <p:nvPr/>
        </p:nvSpPr>
        <p:spPr bwMode="auto">
          <a:xfrm>
            <a:off x="5963073" y="45090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6</a:t>
            </a:r>
            <a:endParaRPr lang="en-US" sz="1300"/>
          </a:p>
        </p:txBody>
      </p:sp>
      <p:sp>
        <p:nvSpPr>
          <p:cNvPr id="1992554521" name="Text 25"/>
          <p:cNvSpPr/>
          <p:nvPr/>
        </p:nvSpPr>
        <p:spPr bwMode="auto">
          <a:xfrm>
            <a:off x="6382173" y="45499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Игровая логика и начисление XP</a:t>
            </a:r>
            <a:endParaRPr lang="en-US" sz="1300"/>
          </a:p>
        </p:txBody>
      </p:sp>
      <p:sp>
        <p:nvSpPr>
          <p:cNvPr id="1861492635" name="Shape 26"/>
          <p:cNvSpPr/>
          <p:nvPr/>
        </p:nvSpPr>
        <p:spPr bwMode="auto">
          <a:xfrm>
            <a:off x="5836073" y="4966229"/>
            <a:ext cx="5543127" cy="598170"/>
          </a:xfrm>
          <a:prstGeom prst="roundRect">
            <a:avLst>
              <a:gd name="adj" fmla="val 21231"/>
            </a:avLst>
          </a:prstGeom>
          <a:solidFill>
            <a:srgbClr val="FFFFFF"/>
          </a:solidFill>
          <a:ln/>
        </p:spPr>
      </p:sp>
      <p:sp>
        <p:nvSpPr>
          <p:cNvPr id="1395521465" name="Text 27"/>
          <p:cNvSpPr/>
          <p:nvPr/>
        </p:nvSpPr>
        <p:spPr bwMode="auto">
          <a:xfrm>
            <a:off x="5963073" y="511291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7</a:t>
            </a:r>
            <a:endParaRPr lang="en-US" sz="1300"/>
          </a:p>
        </p:txBody>
      </p:sp>
      <p:sp>
        <p:nvSpPr>
          <p:cNvPr id="790494571" name="Text 28"/>
          <p:cNvSpPr/>
          <p:nvPr/>
        </p:nvSpPr>
        <p:spPr bwMode="auto">
          <a:xfrm>
            <a:off x="6382173" y="5042429"/>
            <a:ext cx="501612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Интерфейс на Next.js: дашборд, калибровка, тест, произношение, аркада и панель преподавателя</a:t>
            </a:r>
            <a:endParaRPr lang="en-US" sz="1300"/>
          </a:p>
        </p:txBody>
      </p:sp>
      <p:sp>
        <p:nvSpPr>
          <p:cNvPr id="816512640" name="Shape 29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1463634547" name="Shape 30"/>
          <p:cNvSpPr/>
          <p:nvPr/>
        </p:nvSpPr>
        <p:spPr bwMode="auto">
          <a:xfrm>
            <a:off x="812800" y="6350000"/>
            <a:ext cx="84455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1620934573" name="Text 31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200 · LVL 2/1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11520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02 · СТЕК</a:t>
            </a:r>
            <a:endParaRPr lang="en-US" sz="1200"/>
          </a:p>
        </p:txBody>
      </p:sp>
      <p:sp>
        <p:nvSpPr>
          <p:cNvPr id="1842605024" name="Text 1"/>
          <p:cNvSpPr/>
          <p:nvPr>
            <p:ph type="title"/>
          </p:nvPr>
        </p:nvSpPr>
        <p:spPr bwMode="auto">
          <a:xfrm>
            <a:off x="812800" y="812800"/>
            <a:ext cx="10883392" cy="518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4"/>
              </a:lnSpc>
              <a:buNone/>
              <a:defRPr/>
            </a:pPr>
            <a:r>
              <a:rPr lang="en-US" sz="3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Стек технологий</a:t>
            </a:r>
            <a:endParaRPr lang="en-US" sz="3650"/>
          </a:p>
        </p:txBody>
      </p:sp>
      <p:sp>
        <p:nvSpPr>
          <p:cNvPr id="1662788224" name="Shape 2"/>
          <p:cNvSpPr/>
          <p:nvPr/>
        </p:nvSpPr>
        <p:spPr bwMode="auto">
          <a:xfrm>
            <a:off x="812800" y="1420389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705303207" name="Shape 3"/>
          <p:cNvSpPr/>
          <p:nvPr/>
        </p:nvSpPr>
        <p:spPr bwMode="auto">
          <a:xfrm>
            <a:off x="812800" y="1737889"/>
            <a:ext cx="10566400" cy="915564"/>
          </a:xfrm>
          <a:prstGeom prst="roundRect">
            <a:avLst>
              <a:gd name="adj" fmla="val 19420"/>
            </a:avLst>
          </a:prstGeom>
          <a:solidFill>
            <a:srgbClr val="201B57"/>
          </a:solidFill>
          <a:ln/>
        </p:spPr>
      </p:sp>
      <p:sp>
        <p:nvSpPr>
          <p:cNvPr id="574265093" name="Text 4"/>
          <p:cNvSpPr/>
          <p:nvPr/>
        </p:nvSpPr>
        <p:spPr bwMode="auto">
          <a:xfrm>
            <a:off x="914400" y="1960668"/>
            <a:ext cx="1651000" cy="469900"/>
          </a:xfrm>
          <a:prstGeom prst="roundRect">
            <a:avLst>
              <a:gd name="adj" fmla="val 27027"/>
            </a:avLst>
          </a:prstGeom>
          <a:solidFill>
            <a:srgbClr val="FFD23F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Backend</a:t>
            </a:r>
            <a:endParaRPr lang="en-US" sz="1500"/>
          </a:p>
        </p:txBody>
      </p:sp>
      <p:sp>
        <p:nvSpPr>
          <p:cNvPr id="1844725476" name="Text 5"/>
          <p:cNvSpPr/>
          <p:nvPr/>
        </p:nvSpPr>
        <p:spPr bwMode="auto">
          <a:xfrm>
            <a:off x="2692400" y="1817264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Python</a:t>
            </a:r>
            <a:endParaRPr lang="en-US" sz="1200"/>
          </a:p>
        </p:txBody>
      </p:sp>
      <p:sp>
        <p:nvSpPr>
          <p:cNvPr id="334397821" name="Text 6"/>
          <p:cNvSpPr/>
          <p:nvPr/>
        </p:nvSpPr>
        <p:spPr bwMode="auto">
          <a:xfrm>
            <a:off x="4857750" y="1817264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FastAPI</a:t>
            </a:r>
            <a:endParaRPr lang="en-US" sz="1200"/>
          </a:p>
        </p:txBody>
      </p:sp>
      <p:sp>
        <p:nvSpPr>
          <p:cNvPr id="656541470" name="Text 7"/>
          <p:cNvSpPr/>
          <p:nvPr/>
        </p:nvSpPr>
        <p:spPr bwMode="auto">
          <a:xfrm>
            <a:off x="7023100" y="1817264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Pydantic</a:t>
            </a:r>
            <a:endParaRPr lang="en-US" sz="1200"/>
          </a:p>
        </p:txBody>
      </p:sp>
      <p:sp>
        <p:nvSpPr>
          <p:cNvPr id="1593476690" name="Text 8"/>
          <p:cNvSpPr/>
          <p:nvPr/>
        </p:nvSpPr>
        <p:spPr bwMode="auto">
          <a:xfrm>
            <a:off x="9188450" y="1817264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SQLAlchemy async</a:t>
            </a:r>
            <a:endParaRPr lang="en-US" sz="1200"/>
          </a:p>
        </p:txBody>
      </p:sp>
      <p:sp>
        <p:nvSpPr>
          <p:cNvPr id="1338515853" name="Text 9"/>
          <p:cNvSpPr/>
          <p:nvPr/>
        </p:nvSpPr>
        <p:spPr bwMode="auto">
          <a:xfrm>
            <a:off x="2692400" y="2233825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asyncpg</a:t>
            </a:r>
            <a:endParaRPr lang="en-US" sz="1200"/>
          </a:p>
        </p:txBody>
      </p:sp>
      <p:sp>
        <p:nvSpPr>
          <p:cNvPr id="1328942693" name="Text 10"/>
          <p:cNvSpPr/>
          <p:nvPr/>
        </p:nvSpPr>
        <p:spPr bwMode="auto">
          <a:xfrm>
            <a:off x="4857750" y="2233825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PyJWT</a:t>
            </a:r>
            <a:endParaRPr lang="en-US" sz="1200"/>
          </a:p>
        </p:txBody>
      </p:sp>
      <p:sp>
        <p:nvSpPr>
          <p:cNvPr id="1052156654" name="Text 11"/>
          <p:cNvSpPr/>
          <p:nvPr/>
        </p:nvSpPr>
        <p:spPr bwMode="auto">
          <a:xfrm>
            <a:off x="7023100" y="2233825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passlib / bcrypt</a:t>
            </a:r>
            <a:endParaRPr lang="en-US" sz="1200"/>
          </a:p>
        </p:txBody>
      </p:sp>
      <p:sp>
        <p:nvSpPr>
          <p:cNvPr id="302189106" name="Text 12"/>
          <p:cNvSpPr/>
          <p:nvPr/>
        </p:nvSpPr>
        <p:spPr bwMode="auto">
          <a:xfrm>
            <a:off x="9188450" y="2233825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Uvicorn</a:t>
            </a:r>
            <a:endParaRPr lang="en-US" sz="1200"/>
          </a:p>
        </p:txBody>
      </p:sp>
      <p:sp>
        <p:nvSpPr>
          <p:cNvPr id="1696640739" name="Shape 13"/>
          <p:cNvSpPr/>
          <p:nvPr/>
        </p:nvSpPr>
        <p:spPr bwMode="auto">
          <a:xfrm>
            <a:off x="812800" y="2742354"/>
            <a:ext cx="10566400" cy="645477"/>
          </a:xfrm>
          <a:prstGeom prst="roundRect">
            <a:avLst>
              <a:gd name="adj" fmla="val 27546"/>
            </a:avLst>
          </a:prstGeom>
          <a:solidFill>
            <a:srgbClr val="201B57"/>
          </a:solidFill>
          <a:ln/>
        </p:spPr>
      </p:sp>
      <p:sp>
        <p:nvSpPr>
          <p:cNvPr id="387635380" name="Text 14"/>
          <p:cNvSpPr/>
          <p:nvPr/>
        </p:nvSpPr>
        <p:spPr bwMode="auto">
          <a:xfrm>
            <a:off x="914400" y="2830195"/>
            <a:ext cx="1651000" cy="469900"/>
          </a:xfrm>
          <a:prstGeom prst="roundRect">
            <a:avLst>
              <a:gd name="adj" fmla="val 27027"/>
            </a:avLst>
          </a:prstGeom>
          <a:solidFill>
            <a:srgbClr val="7CC4FF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Frontend</a:t>
            </a:r>
            <a:endParaRPr lang="en-US" sz="1500"/>
          </a:p>
        </p:txBody>
      </p:sp>
      <p:sp>
        <p:nvSpPr>
          <p:cNvPr id="1631721389" name="Text 15"/>
          <p:cNvSpPr/>
          <p:nvPr/>
        </p:nvSpPr>
        <p:spPr bwMode="auto">
          <a:xfrm>
            <a:off x="2692400" y="289485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Next.js App Router</a:t>
            </a:r>
            <a:endParaRPr lang="en-US" sz="1200"/>
          </a:p>
        </p:txBody>
      </p:sp>
      <p:sp>
        <p:nvSpPr>
          <p:cNvPr id="702613171" name="Text 16"/>
          <p:cNvSpPr/>
          <p:nvPr/>
        </p:nvSpPr>
        <p:spPr bwMode="auto">
          <a:xfrm>
            <a:off x="4857750" y="289485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TypeScript</a:t>
            </a:r>
            <a:endParaRPr lang="en-US" sz="1200"/>
          </a:p>
        </p:txBody>
      </p:sp>
      <p:sp>
        <p:nvSpPr>
          <p:cNvPr id="1505232051" name="Text 17"/>
          <p:cNvSpPr/>
          <p:nvPr/>
        </p:nvSpPr>
        <p:spPr bwMode="auto">
          <a:xfrm>
            <a:off x="7023100" y="289485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Tailwind CSS</a:t>
            </a:r>
            <a:endParaRPr lang="en-US" sz="1200"/>
          </a:p>
        </p:txBody>
      </p:sp>
      <p:sp>
        <p:nvSpPr>
          <p:cNvPr id="1859949256" name="Shape 19"/>
          <p:cNvSpPr/>
          <p:nvPr/>
        </p:nvSpPr>
        <p:spPr bwMode="auto">
          <a:xfrm>
            <a:off x="812800" y="3476730"/>
            <a:ext cx="10566400" cy="645478"/>
          </a:xfrm>
          <a:prstGeom prst="roundRect">
            <a:avLst>
              <a:gd name="adj" fmla="val 27545"/>
            </a:avLst>
          </a:prstGeom>
          <a:solidFill>
            <a:srgbClr val="201B57"/>
          </a:solidFill>
          <a:ln/>
        </p:spPr>
      </p:sp>
      <p:sp>
        <p:nvSpPr>
          <p:cNvPr id="1898801529" name="Text 20"/>
          <p:cNvSpPr/>
          <p:nvPr/>
        </p:nvSpPr>
        <p:spPr bwMode="auto">
          <a:xfrm>
            <a:off x="914400" y="3564573"/>
            <a:ext cx="1651000" cy="469900"/>
          </a:xfrm>
          <a:prstGeom prst="roundRect">
            <a:avLst>
              <a:gd name="adj" fmla="val 27027"/>
            </a:avLst>
          </a:prstGeom>
          <a:solidFill>
            <a:srgbClr val="22E1B0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База данных</a:t>
            </a:r>
            <a:endParaRPr lang="en-US" sz="1500"/>
          </a:p>
        </p:txBody>
      </p:sp>
      <p:sp>
        <p:nvSpPr>
          <p:cNvPr id="205308357" name="Text 21"/>
          <p:cNvSpPr/>
          <p:nvPr/>
        </p:nvSpPr>
        <p:spPr bwMode="auto">
          <a:xfrm>
            <a:off x="2692400" y="3629237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PostgreSQL</a:t>
            </a:r>
            <a:endParaRPr lang="en-US" sz="1200"/>
          </a:p>
        </p:txBody>
      </p:sp>
      <p:sp>
        <p:nvSpPr>
          <p:cNvPr id="1938406152" name="Shape 22"/>
          <p:cNvSpPr/>
          <p:nvPr/>
        </p:nvSpPr>
        <p:spPr bwMode="auto">
          <a:xfrm>
            <a:off x="812800" y="4211109"/>
            <a:ext cx="10566400" cy="896514"/>
          </a:xfrm>
          <a:prstGeom prst="roundRect">
            <a:avLst>
              <a:gd name="adj" fmla="val 19832"/>
            </a:avLst>
          </a:prstGeom>
          <a:solidFill>
            <a:srgbClr val="201B57"/>
          </a:solidFill>
          <a:ln/>
        </p:spPr>
      </p:sp>
      <p:sp>
        <p:nvSpPr>
          <p:cNvPr id="1750437151" name="Text 23"/>
          <p:cNvSpPr/>
          <p:nvPr/>
        </p:nvSpPr>
        <p:spPr bwMode="auto">
          <a:xfrm>
            <a:off x="914400" y="4291118"/>
            <a:ext cx="1651000" cy="736600"/>
          </a:xfrm>
          <a:prstGeom prst="roundRect">
            <a:avLst>
              <a:gd name="adj" fmla="val 17241"/>
            </a:avLst>
          </a:prstGeom>
          <a:solidFill>
            <a:srgbClr val="FF5A66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Инфраструктура</a:t>
            </a:r>
            <a:endParaRPr lang="en-US" sz="1500"/>
          </a:p>
        </p:txBody>
      </p:sp>
      <p:sp>
        <p:nvSpPr>
          <p:cNvPr id="416863086" name="Text 24"/>
          <p:cNvSpPr/>
          <p:nvPr/>
        </p:nvSpPr>
        <p:spPr bwMode="auto">
          <a:xfrm>
            <a:off x="2692400" y="4489132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Docker Compose</a:t>
            </a:r>
            <a:endParaRPr lang="en-US" sz="1200"/>
          </a:p>
        </p:txBody>
      </p:sp>
      <p:sp>
        <p:nvSpPr>
          <p:cNvPr id="582375833" name="Shape 25"/>
          <p:cNvSpPr/>
          <p:nvPr/>
        </p:nvSpPr>
        <p:spPr bwMode="auto">
          <a:xfrm>
            <a:off x="812800" y="5196523"/>
            <a:ext cx="10566400" cy="645477"/>
          </a:xfrm>
          <a:prstGeom prst="roundRect">
            <a:avLst>
              <a:gd name="adj" fmla="val 27546"/>
            </a:avLst>
          </a:prstGeom>
          <a:solidFill>
            <a:srgbClr val="201B57"/>
          </a:solidFill>
          <a:ln/>
        </p:spPr>
      </p:sp>
      <p:sp>
        <p:nvSpPr>
          <p:cNvPr id="1854376628" name="Text 26"/>
          <p:cNvSpPr/>
          <p:nvPr/>
        </p:nvSpPr>
        <p:spPr bwMode="auto">
          <a:xfrm>
            <a:off x="914400" y="5284364"/>
            <a:ext cx="1651000" cy="469900"/>
          </a:xfrm>
          <a:prstGeom prst="roundRect">
            <a:avLst>
              <a:gd name="adj" fmla="val 27027"/>
            </a:avLst>
          </a:prstGeom>
          <a:solidFill>
            <a:srgbClr val="FFD23F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Тесты и CI</a:t>
            </a:r>
            <a:endParaRPr lang="en-US" sz="1500"/>
          </a:p>
        </p:txBody>
      </p:sp>
      <p:sp>
        <p:nvSpPr>
          <p:cNvPr id="2029884209" name="Text 27"/>
          <p:cNvSpPr/>
          <p:nvPr/>
        </p:nvSpPr>
        <p:spPr bwMode="auto">
          <a:xfrm>
            <a:off x="2692400" y="534902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pytest</a:t>
            </a:r>
            <a:endParaRPr lang="en-US" sz="1200"/>
          </a:p>
        </p:txBody>
      </p:sp>
      <p:sp>
        <p:nvSpPr>
          <p:cNvPr id="1372138634" name="Text 28"/>
          <p:cNvSpPr/>
          <p:nvPr/>
        </p:nvSpPr>
        <p:spPr bwMode="auto">
          <a:xfrm>
            <a:off x="4857750" y="534902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httpx</a:t>
            </a:r>
            <a:endParaRPr lang="en-US" sz="1200"/>
          </a:p>
        </p:txBody>
      </p:sp>
      <p:sp>
        <p:nvSpPr>
          <p:cNvPr id="510219323" name="Text 29"/>
          <p:cNvSpPr/>
          <p:nvPr/>
        </p:nvSpPr>
        <p:spPr bwMode="auto">
          <a:xfrm>
            <a:off x="7023100" y="534902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GitHub Actions</a:t>
            </a:r>
            <a:endParaRPr lang="en-US" sz="1200"/>
          </a:p>
        </p:txBody>
      </p:sp>
      <p:sp>
        <p:nvSpPr>
          <p:cNvPr id="107756554" name="Shape 30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486822899" name="Shape 31"/>
          <p:cNvSpPr/>
          <p:nvPr/>
        </p:nvSpPr>
        <p:spPr bwMode="auto">
          <a:xfrm>
            <a:off x="812800" y="6350000"/>
            <a:ext cx="127000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1984547859" name="Text 32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300 · LVL 3/1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982640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03 · АРХИТЕКТУРА</a:t>
            </a:r>
            <a:endParaRPr lang="en-US" sz="1200"/>
          </a:p>
        </p:txBody>
      </p:sp>
      <p:sp>
        <p:nvSpPr>
          <p:cNvPr id="255684677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Микросервисная архитектура backend</a:t>
            </a:r>
            <a:endParaRPr lang="en-US" sz="3800"/>
          </a:p>
        </p:txBody>
      </p:sp>
      <p:sp>
        <p:nvSpPr>
          <p:cNvPr id="239807893" name="Shape 2"/>
          <p:cNvSpPr/>
          <p:nvPr/>
        </p:nvSpPr>
        <p:spPr bwMode="auto">
          <a:xfrm>
            <a:off x="812800" y="1448329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444431671" name="Text 3"/>
          <p:cNvSpPr/>
          <p:nvPr/>
        </p:nvSpPr>
        <p:spPr bwMode="auto">
          <a:xfrm>
            <a:off x="812800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FFD23F"/>
          </a:solidFill>
          <a:ln/>
        </p:spPr>
        <p:txBody>
          <a:bodyPr wrap="square" lIns="107764" tIns="107764" rIns="1077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API Gateway</a:t>
            </a:r>
            <a:endParaRPr lang="en-US" sz="1500"/>
          </a:p>
        </p:txBody>
      </p:sp>
      <p:sp>
        <p:nvSpPr>
          <p:cNvPr id="1390899303" name="Text 4"/>
          <p:cNvSpPr/>
          <p:nvPr/>
        </p:nvSpPr>
        <p:spPr bwMode="auto">
          <a:xfrm>
            <a:off x="2623820" y="196522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+</a:t>
            </a:r>
            <a:endParaRPr lang="en-US" sz="2400"/>
          </a:p>
        </p:txBody>
      </p:sp>
      <p:sp>
        <p:nvSpPr>
          <p:cNvPr id="1716725847" name="Text 5"/>
          <p:cNvSpPr/>
          <p:nvPr/>
        </p:nvSpPr>
        <p:spPr bwMode="auto">
          <a:xfrm>
            <a:off x="3017519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7CC4FF"/>
          </a:solidFill>
          <a:ln/>
        </p:spPr>
        <p:txBody>
          <a:bodyPr wrap="square" lIns="107764" tIns="107764" rIns="1077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Auth</a:t>
            </a:r>
            <a:endParaRPr lang="en-US" sz="1500"/>
          </a:p>
        </p:txBody>
      </p:sp>
      <p:sp>
        <p:nvSpPr>
          <p:cNvPr id="1597878601" name="Text 6"/>
          <p:cNvSpPr/>
          <p:nvPr/>
        </p:nvSpPr>
        <p:spPr bwMode="auto">
          <a:xfrm>
            <a:off x="4828540" y="196522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+</a:t>
            </a:r>
            <a:endParaRPr lang="en-US" sz="2400"/>
          </a:p>
        </p:txBody>
      </p:sp>
      <p:sp>
        <p:nvSpPr>
          <p:cNvPr id="1964119901" name="Text 7"/>
          <p:cNvSpPr/>
          <p:nvPr/>
        </p:nvSpPr>
        <p:spPr bwMode="auto">
          <a:xfrm>
            <a:off x="5222240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22E1B0"/>
          </a:solidFill>
          <a:ln/>
        </p:spPr>
        <p:txBody>
          <a:bodyPr wrap="square" lIns="107764" tIns="107764" rIns="1077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Content</a:t>
            </a:r>
            <a:endParaRPr lang="en-US" sz="1500"/>
          </a:p>
        </p:txBody>
      </p:sp>
      <p:sp>
        <p:nvSpPr>
          <p:cNvPr id="640277659" name="Text 8"/>
          <p:cNvSpPr/>
          <p:nvPr/>
        </p:nvSpPr>
        <p:spPr bwMode="auto">
          <a:xfrm>
            <a:off x="7033260" y="196522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+</a:t>
            </a:r>
            <a:endParaRPr lang="en-US" sz="2400"/>
          </a:p>
        </p:txBody>
      </p:sp>
      <p:sp>
        <p:nvSpPr>
          <p:cNvPr id="1519433209" name="Text 9"/>
          <p:cNvSpPr/>
          <p:nvPr/>
        </p:nvSpPr>
        <p:spPr bwMode="auto">
          <a:xfrm>
            <a:off x="7426960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FF5A66"/>
          </a:solidFill>
          <a:ln/>
        </p:spPr>
        <p:txBody>
          <a:bodyPr wrap="square" lIns="82364" tIns="107764" rIns="823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Calibration</a:t>
            </a:r>
            <a:endParaRPr lang="en-US" sz="1500"/>
          </a:p>
        </p:txBody>
      </p:sp>
      <p:sp>
        <p:nvSpPr>
          <p:cNvPr id="1138354095" name="Text 10"/>
          <p:cNvSpPr/>
          <p:nvPr/>
        </p:nvSpPr>
        <p:spPr bwMode="auto">
          <a:xfrm>
            <a:off x="9237980" y="196522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+</a:t>
            </a:r>
            <a:endParaRPr lang="en-US" sz="2400"/>
          </a:p>
        </p:txBody>
      </p:sp>
      <p:sp>
        <p:nvSpPr>
          <p:cNvPr id="611772254" name="Text 11"/>
          <p:cNvSpPr/>
          <p:nvPr/>
        </p:nvSpPr>
        <p:spPr bwMode="auto">
          <a:xfrm>
            <a:off x="9631680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FFD23F"/>
          </a:solidFill>
          <a:ln/>
        </p:spPr>
        <p:txBody>
          <a:bodyPr wrap="square" lIns="107764" tIns="107764" rIns="1077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Game / XP</a:t>
            </a:r>
            <a:endParaRPr lang="en-US" sz="1500"/>
          </a:p>
        </p:txBody>
      </p:sp>
      <p:sp>
        <p:nvSpPr>
          <p:cNvPr id="1425562758" name="Shape 12"/>
          <p:cNvSpPr/>
          <p:nvPr/>
        </p:nvSpPr>
        <p:spPr bwMode="auto">
          <a:xfrm>
            <a:off x="812800" y="2743729"/>
            <a:ext cx="10566400" cy="969010"/>
          </a:xfrm>
          <a:prstGeom prst="roundRect">
            <a:avLst>
              <a:gd name="adj" fmla="val 18349"/>
            </a:avLst>
          </a:prstGeom>
          <a:solidFill>
            <a:srgbClr val="130F3A"/>
          </a:solidFill>
          <a:ln/>
        </p:spPr>
      </p:sp>
      <p:sp>
        <p:nvSpPr>
          <p:cNvPr id="1409610115" name="Text 13"/>
          <p:cNvSpPr/>
          <p:nvPr/>
        </p:nvSpPr>
        <p:spPr bwMode="auto">
          <a:xfrm>
            <a:off x="990600" y="2921529"/>
            <a:ext cx="1051712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Общие компоненты</a:t>
            </a:r>
            <a:endParaRPr lang="en-US" sz="1500"/>
          </a:p>
        </p:txBody>
      </p:sp>
      <p:sp>
        <p:nvSpPr>
          <p:cNvPr id="282945770" name="Text 14"/>
          <p:cNvSpPr/>
          <p:nvPr/>
        </p:nvSpPr>
        <p:spPr bwMode="auto">
          <a:xfrm>
            <a:off x="990600" y="3194579"/>
            <a:ext cx="556895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JWT</a:t>
            </a:r>
            <a:endParaRPr lang="en-US" sz="1200"/>
          </a:p>
        </p:txBody>
      </p:sp>
      <p:sp>
        <p:nvSpPr>
          <p:cNvPr id="1782160620" name="Text 15"/>
          <p:cNvSpPr/>
          <p:nvPr/>
        </p:nvSpPr>
        <p:spPr bwMode="auto">
          <a:xfrm>
            <a:off x="1623695" y="3194579"/>
            <a:ext cx="645583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RBAC</a:t>
            </a:r>
            <a:endParaRPr lang="en-US" sz="1200"/>
          </a:p>
        </p:txBody>
      </p:sp>
      <p:sp>
        <p:nvSpPr>
          <p:cNvPr id="48901547" name="Text 16"/>
          <p:cNvSpPr/>
          <p:nvPr/>
        </p:nvSpPr>
        <p:spPr bwMode="auto">
          <a:xfrm>
            <a:off x="2345478" y="3194579"/>
            <a:ext cx="1659149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обработка ошибок</a:t>
            </a:r>
            <a:endParaRPr lang="en-US" sz="1200"/>
          </a:p>
        </p:txBody>
      </p:sp>
      <p:sp>
        <p:nvSpPr>
          <p:cNvPr id="341377481" name="Text 17"/>
          <p:cNvSpPr/>
          <p:nvPr/>
        </p:nvSpPr>
        <p:spPr bwMode="auto">
          <a:xfrm>
            <a:off x="4080828" y="3194579"/>
            <a:ext cx="1289685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безопасность</a:t>
            </a:r>
            <a:endParaRPr lang="en-US" sz="1200"/>
          </a:p>
        </p:txBody>
      </p:sp>
      <p:sp>
        <p:nvSpPr>
          <p:cNvPr id="1264495372" name="Text 18"/>
          <p:cNvSpPr/>
          <p:nvPr/>
        </p:nvSpPr>
        <p:spPr bwMode="auto">
          <a:xfrm>
            <a:off x="5446713" y="3194579"/>
            <a:ext cx="1326621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конфигурация</a:t>
            </a:r>
            <a:endParaRPr lang="en-US" sz="1200"/>
          </a:p>
        </p:txBody>
      </p:sp>
      <p:sp>
        <p:nvSpPr>
          <p:cNvPr id="1910322895" name="Shape 19"/>
          <p:cNvSpPr/>
          <p:nvPr/>
        </p:nvSpPr>
        <p:spPr bwMode="auto">
          <a:xfrm>
            <a:off x="812800" y="3865139"/>
            <a:ext cx="3302000" cy="1711960"/>
          </a:xfrm>
          <a:prstGeom prst="roundRect">
            <a:avLst>
              <a:gd name="adj" fmla="val 10386"/>
            </a:avLst>
          </a:prstGeom>
          <a:solidFill>
            <a:srgbClr val="FFD23F"/>
          </a:solidFill>
          <a:ln/>
        </p:spPr>
      </p:sp>
      <p:sp>
        <p:nvSpPr>
          <p:cNvPr id="526680620" name="Text 20"/>
          <p:cNvSpPr/>
          <p:nvPr/>
        </p:nvSpPr>
        <p:spPr bwMode="auto">
          <a:xfrm>
            <a:off x="1016000" y="4068339"/>
            <a:ext cx="2982468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  <a:defRPr/>
            </a:pPr>
            <a:r>
              <a:rPr lang="en-US" sz="6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≈39</a:t>
            </a:r>
            <a:endParaRPr lang="en-US" sz="6000"/>
          </a:p>
        </p:txBody>
      </p:sp>
      <p:sp>
        <p:nvSpPr>
          <p:cNvPr id="410230753" name="Text 21"/>
          <p:cNvSpPr/>
          <p:nvPr/>
        </p:nvSpPr>
        <p:spPr bwMode="auto">
          <a:xfrm>
            <a:off x="1016000" y="4893839"/>
            <a:ext cx="298246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модулей backend в независимых сервисах</a:t>
            </a:r>
            <a:endParaRPr lang="en-US" sz="1400"/>
          </a:p>
        </p:txBody>
      </p:sp>
      <p:sp>
        <p:nvSpPr>
          <p:cNvPr id="818762074" name="Shape 22"/>
          <p:cNvSpPr/>
          <p:nvPr/>
        </p:nvSpPr>
        <p:spPr bwMode="auto">
          <a:xfrm>
            <a:off x="4267200" y="3865139"/>
            <a:ext cx="7112000" cy="1711960"/>
          </a:xfrm>
          <a:prstGeom prst="roundRect">
            <a:avLst>
              <a:gd name="adj" fmla="val 10386"/>
            </a:avLst>
          </a:prstGeom>
          <a:solidFill>
            <a:srgbClr val="FFFFFF"/>
          </a:solidFill>
          <a:ln/>
        </p:spPr>
      </p:sp>
      <p:sp>
        <p:nvSpPr>
          <p:cNvPr id="1578450630" name="Text 23"/>
          <p:cNvSpPr/>
          <p:nvPr/>
        </p:nvSpPr>
        <p:spPr bwMode="auto">
          <a:xfrm>
            <a:off x="4470400" y="4313450"/>
            <a:ext cx="6906768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Зачем так</a:t>
            </a:r>
            <a:endParaRPr lang="en-US" sz="1700"/>
          </a:p>
        </p:txBody>
      </p:sp>
      <p:sp>
        <p:nvSpPr>
          <p:cNvPr id="1037531963" name="Text 24"/>
          <p:cNvSpPr/>
          <p:nvPr/>
        </p:nvSpPr>
        <p:spPr bwMode="auto">
          <a:xfrm>
            <a:off x="4470400" y="4614439"/>
            <a:ext cx="6906768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  <a:defRPr/>
            </a:pPr>
            <a:r>
              <a:rPr lang="en-US" sz="1500">
                <a:solidFill>
                  <a:srgbClr val="130F3A"/>
                </a:solidFill>
                <a:latin typeface="Inter"/>
                <a:ea typeface="Inter"/>
                <a:cs typeface="Inter"/>
              </a:rPr>
              <a:t>Каждый сервис отвечает за свою область и работает в своём контейнере. Их можно развивать и масштабировать независимо.</a:t>
            </a:r>
            <a:endParaRPr lang="en-US" sz="1500"/>
          </a:p>
        </p:txBody>
      </p:sp>
      <p:sp>
        <p:nvSpPr>
          <p:cNvPr id="657447049" name="Shape 25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1768038532" name="Shape 26"/>
          <p:cNvSpPr/>
          <p:nvPr/>
        </p:nvSpPr>
        <p:spPr bwMode="auto">
          <a:xfrm>
            <a:off x="812800" y="6350000"/>
            <a:ext cx="168910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1342327655" name="Text 27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400 · LVL 4/1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025063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04 · БАЗА ДАННЫХ</a:t>
            </a:r>
            <a:endParaRPr lang="en-US" sz="1200"/>
          </a:p>
        </p:txBody>
      </p:sp>
      <p:sp>
        <p:nvSpPr>
          <p:cNvPr id="1519979674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Схема базы данных</a:t>
            </a:r>
            <a:endParaRPr lang="en-US" sz="3800"/>
          </a:p>
        </p:txBody>
      </p:sp>
      <p:sp>
        <p:nvSpPr>
          <p:cNvPr id="1175785483" name="Shape 2"/>
          <p:cNvSpPr/>
          <p:nvPr/>
        </p:nvSpPr>
        <p:spPr bwMode="auto">
          <a:xfrm>
            <a:off x="812800" y="144833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52070812" name="Text 3"/>
          <p:cNvSpPr/>
          <p:nvPr/>
        </p:nvSpPr>
        <p:spPr bwMode="auto">
          <a:xfrm>
            <a:off x="812800" y="1765830"/>
            <a:ext cx="1206500" cy="88900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</p:spPr>
        <p:txBody>
          <a:bodyPr wrap="square" lIns="82364" tIns="82364" rIns="82364" bIns="82364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Контент</a:t>
            </a:r>
            <a:endParaRPr lang="en-US" sz="1500"/>
          </a:p>
        </p:txBody>
      </p:sp>
      <p:sp>
        <p:nvSpPr>
          <p:cNvPr id="1691794855" name="Shape 4"/>
          <p:cNvSpPr/>
          <p:nvPr/>
        </p:nvSpPr>
        <p:spPr bwMode="auto">
          <a:xfrm>
            <a:off x="214630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1388790402" name="Text 5"/>
          <p:cNvSpPr/>
          <p:nvPr/>
        </p:nvSpPr>
        <p:spPr bwMode="auto">
          <a:xfrm>
            <a:off x="2260600" y="1880130"/>
            <a:ext cx="1323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Уровни</a:t>
            </a:r>
            <a:endParaRPr lang="en-US" sz="1400"/>
          </a:p>
        </p:txBody>
      </p:sp>
      <p:sp>
        <p:nvSpPr>
          <p:cNvPr id="312273205" name="Text 6"/>
          <p:cNvSpPr/>
          <p:nvPr/>
        </p:nvSpPr>
        <p:spPr bwMode="auto">
          <a:xfrm>
            <a:off x="2260600" y="2139209"/>
            <a:ext cx="13233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levels</a:t>
            </a:r>
            <a:endParaRPr lang="en-US" sz="1200"/>
          </a:p>
        </p:txBody>
      </p:sp>
      <p:sp>
        <p:nvSpPr>
          <p:cNvPr id="1158061733" name="Text 7"/>
          <p:cNvSpPr/>
          <p:nvPr/>
        </p:nvSpPr>
        <p:spPr bwMode="auto">
          <a:xfrm>
            <a:off x="3698240" y="19969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277283502" name="Shape 8"/>
          <p:cNvSpPr/>
          <p:nvPr/>
        </p:nvSpPr>
        <p:spPr bwMode="auto">
          <a:xfrm>
            <a:off x="407924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1229116252" name="Text 9"/>
          <p:cNvSpPr/>
          <p:nvPr/>
        </p:nvSpPr>
        <p:spPr bwMode="auto">
          <a:xfrm>
            <a:off x="4193540" y="1880130"/>
            <a:ext cx="1323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Миссии</a:t>
            </a:r>
            <a:endParaRPr lang="en-US" sz="1400"/>
          </a:p>
        </p:txBody>
      </p:sp>
      <p:sp>
        <p:nvSpPr>
          <p:cNvPr id="217896034" name="Text 10"/>
          <p:cNvSpPr/>
          <p:nvPr/>
        </p:nvSpPr>
        <p:spPr bwMode="auto">
          <a:xfrm>
            <a:off x="4193540" y="2139209"/>
            <a:ext cx="13233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missions</a:t>
            </a:r>
            <a:endParaRPr lang="en-US" sz="1200"/>
          </a:p>
        </p:txBody>
      </p:sp>
      <p:sp>
        <p:nvSpPr>
          <p:cNvPr id="1212610912" name="Text 11"/>
          <p:cNvSpPr/>
          <p:nvPr/>
        </p:nvSpPr>
        <p:spPr bwMode="auto">
          <a:xfrm>
            <a:off x="5631179" y="19969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84227986" name="Shape 12"/>
          <p:cNvSpPr/>
          <p:nvPr/>
        </p:nvSpPr>
        <p:spPr bwMode="auto">
          <a:xfrm>
            <a:off x="601218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1834353608" name="Text 13"/>
          <p:cNvSpPr/>
          <p:nvPr/>
        </p:nvSpPr>
        <p:spPr bwMode="auto">
          <a:xfrm>
            <a:off x="6126480" y="1880130"/>
            <a:ext cx="1323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Задачи</a:t>
            </a:r>
            <a:endParaRPr lang="en-US" sz="1400"/>
          </a:p>
        </p:txBody>
      </p:sp>
      <p:sp>
        <p:nvSpPr>
          <p:cNvPr id="737184374" name="Text 14"/>
          <p:cNvSpPr/>
          <p:nvPr/>
        </p:nvSpPr>
        <p:spPr bwMode="auto">
          <a:xfrm>
            <a:off x="6126480" y="2139209"/>
            <a:ext cx="13233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tasks</a:t>
            </a:r>
            <a:endParaRPr lang="en-US" sz="1200"/>
          </a:p>
        </p:txBody>
      </p:sp>
      <p:sp>
        <p:nvSpPr>
          <p:cNvPr id="250340282" name="Text 15"/>
          <p:cNvSpPr/>
          <p:nvPr/>
        </p:nvSpPr>
        <p:spPr bwMode="auto">
          <a:xfrm>
            <a:off x="7564120" y="19969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784794677" name="Shape 16"/>
          <p:cNvSpPr/>
          <p:nvPr/>
        </p:nvSpPr>
        <p:spPr bwMode="auto">
          <a:xfrm>
            <a:off x="794512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972961163" name="Text 17"/>
          <p:cNvSpPr/>
          <p:nvPr/>
        </p:nvSpPr>
        <p:spPr bwMode="auto">
          <a:xfrm>
            <a:off x="8059420" y="1880130"/>
            <a:ext cx="1323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Вопросы</a:t>
            </a:r>
            <a:endParaRPr lang="en-US" sz="1400"/>
          </a:p>
        </p:txBody>
      </p:sp>
      <p:sp>
        <p:nvSpPr>
          <p:cNvPr id="667707050" name="Text 18"/>
          <p:cNvSpPr/>
          <p:nvPr/>
        </p:nvSpPr>
        <p:spPr bwMode="auto">
          <a:xfrm>
            <a:off x="8059420" y="2139209"/>
            <a:ext cx="13233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questions</a:t>
            </a:r>
            <a:endParaRPr lang="en-US" sz="1200"/>
          </a:p>
        </p:txBody>
      </p:sp>
      <p:sp>
        <p:nvSpPr>
          <p:cNvPr id="1377477557" name="Text 19"/>
          <p:cNvSpPr/>
          <p:nvPr/>
        </p:nvSpPr>
        <p:spPr bwMode="auto">
          <a:xfrm>
            <a:off x="9497060" y="19969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2015354084" name="Shape 20"/>
          <p:cNvSpPr/>
          <p:nvPr/>
        </p:nvSpPr>
        <p:spPr bwMode="auto">
          <a:xfrm>
            <a:off x="987806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1739880759" name="Text 21"/>
          <p:cNvSpPr/>
          <p:nvPr/>
        </p:nvSpPr>
        <p:spPr bwMode="auto">
          <a:xfrm>
            <a:off x="9992360" y="1880130"/>
            <a:ext cx="13233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Варианты ответов</a:t>
            </a:r>
            <a:endParaRPr lang="en-US" sz="1400"/>
          </a:p>
        </p:txBody>
      </p:sp>
      <p:sp>
        <p:nvSpPr>
          <p:cNvPr id="1898739210" name="Text 22"/>
          <p:cNvSpPr/>
          <p:nvPr/>
        </p:nvSpPr>
        <p:spPr bwMode="auto">
          <a:xfrm>
            <a:off x="9992360" y="2334788"/>
            <a:ext cx="13868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question_options</a:t>
            </a:r>
            <a:endParaRPr lang="en-US" sz="1200"/>
          </a:p>
        </p:txBody>
      </p:sp>
      <p:sp>
        <p:nvSpPr>
          <p:cNvPr id="1204321341" name="Text 23"/>
          <p:cNvSpPr/>
          <p:nvPr/>
        </p:nvSpPr>
        <p:spPr bwMode="auto">
          <a:xfrm>
            <a:off x="812800" y="2781830"/>
            <a:ext cx="1206500" cy="899160"/>
          </a:xfrm>
          <a:prstGeom prst="roundRect">
            <a:avLst>
              <a:gd name="adj" fmla="val 16949"/>
            </a:avLst>
          </a:prstGeom>
          <a:solidFill>
            <a:srgbClr val="7CC4FF"/>
          </a:solidFill>
          <a:ln/>
        </p:spPr>
        <p:txBody>
          <a:bodyPr wrap="square" lIns="82364" tIns="82364" rIns="31564" bIns="82364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Люди и прогресс</a:t>
            </a:r>
            <a:endParaRPr lang="en-US" sz="1500"/>
          </a:p>
        </p:txBody>
      </p:sp>
      <p:sp>
        <p:nvSpPr>
          <p:cNvPr id="2026007563" name="Shape 24"/>
          <p:cNvSpPr/>
          <p:nvPr/>
        </p:nvSpPr>
        <p:spPr bwMode="auto">
          <a:xfrm>
            <a:off x="2146300" y="2781830"/>
            <a:ext cx="2789767" cy="899160"/>
          </a:xfrm>
          <a:prstGeom prst="roundRect">
            <a:avLst>
              <a:gd name="adj" fmla="val 15537"/>
            </a:avLst>
          </a:prstGeom>
          <a:solidFill>
            <a:srgbClr val="FFFFFF"/>
          </a:solidFill>
          <a:ln/>
        </p:spPr>
      </p:sp>
      <p:sp>
        <p:nvSpPr>
          <p:cNvPr id="51121578" name="Text 25"/>
          <p:cNvSpPr/>
          <p:nvPr/>
        </p:nvSpPr>
        <p:spPr bwMode="auto">
          <a:xfrm>
            <a:off x="2260600" y="2896130"/>
            <a:ext cx="263800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Роли и группы</a:t>
            </a:r>
            <a:endParaRPr lang="en-US" sz="1400"/>
          </a:p>
        </p:txBody>
      </p:sp>
      <p:sp>
        <p:nvSpPr>
          <p:cNvPr id="463197649" name="Text 26"/>
          <p:cNvSpPr/>
          <p:nvPr/>
        </p:nvSpPr>
        <p:spPr bwMode="auto">
          <a:xfrm>
            <a:off x="2260600" y="3155209"/>
            <a:ext cx="263800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roles, groups</a:t>
            </a:r>
            <a:endParaRPr lang="en-US" sz="1200"/>
          </a:p>
        </p:txBody>
      </p:sp>
      <p:sp>
        <p:nvSpPr>
          <p:cNvPr id="235493538" name="Text 27"/>
          <p:cNvSpPr/>
          <p:nvPr/>
        </p:nvSpPr>
        <p:spPr bwMode="auto">
          <a:xfrm>
            <a:off x="4986867" y="3018048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849082136" name="Shape 28"/>
          <p:cNvSpPr/>
          <p:nvPr/>
        </p:nvSpPr>
        <p:spPr bwMode="auto">
          <a:xfrm>
            <a:off x="5367867" y="2781830"/>
            <a:ext cx="2789767" cy="899160"/>
          </a:xfrm>
          <a:prstGeom prst="roundRect">
            <a:avLst>
              <a:gd name="adj" fmla="val 15537"/>
            </a:avLst>
          </a:prstGeom>
          <a:solidFill>
            <a:srgbClr val="FFFFFF"/>
          </a:solidFill>
          <a:ln/>
        </p:spPr>
      </p:sp>
      <p:sp>
        <p:nvSpPr>
          <p:cNvPr id="240209647" name="Text 29"/>
          <p:cNvSpPr/>
          <p:nvPr/>
        </p:nvSpPr>
        <p:spPr bwMode="auto">
          <a:xfrm>
            <a:off x="5482167" y="2896130"/>
            <a:ext cx="263800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Пользователи</a:t>
            </a:r>
            <a:endParaRPr lang="en-US" sz="1400"/>
          </a:p>
        </p:txBody>
      </p:sp>
      <p:sp>
        <p:nvSpPr>
          <p:cNvPr id="645287257" name="Text 30"/>
          <p:cNvSpPr/>
          <p:nvPr/>
        </p:nvSpPr>
        <p:spPr bwMode="auto">
          <a:xfrm>
            <a:off x="5482167" y="3155209"/>
            <a:ext cx="263800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users</a:t>
            </a:r>
            <a:endParaRPr lang="en-US" sz="1200"/>
          </a:p>
        </p:txBody>
      </p:sp>
      <p:sp>
        <p:nvSpPr>
          <p:cNvPr id="869851885" name="Text 31"/>
          <p:cNvSpPr/>
          <p:nvPr/>
        </p:nvSpPr>
        <p:spPr bwMode="auto">
          <a:xfrm>
            <a:off x="8208433" y="3018048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563484029" name="Shape 32"/>
          <p:cNvSpPr/>
          <p:nvPr/>
        </p:nvSpPr>
        <p:spPr bwMode="auto">
          <a:xfrm>
            <a:off x="8589433" y="2781830"/>
            <a:ext cx="2789767" cy="899160"/>
          </a:xfrm>
          <a:prstGeom prst="roundRect">
            <a:avLst>
              <a:gd name="adj" fmla="val 15537"/>
            </a:avLst>
          </a:prstGeom>
          <a:solidFill>
            <a:srgbClr val="FFFFFF"/>
          </a:solidFill>
          <a:ln/>
        </p:spPr>
      </p:sp>
      <p:sp>
        <p:nvSpPr>
          <p:cNvPr id="1700431883" name="Text 33"/>
          <p:cNvSpPr/>
          <p:nvPr/>
        </p:nvSpPr>
        <p:spPr bwMode="auto">
          <a:xfrm>
            <a:off x="8703733" y="2896130"/>
            <a:ext cx="263800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Прогресс и попытки</a:t>
            </a:r>
            <a:endParaRPr lang="en-US" sz="1400"/>
          </a:p>
        </p:txBody>
      </p:sp>
      <p:sp>
        <p:nvSpPr>
          <p:cNvPr id="1177961030" name="Text 34"/>
          <p:cNvSpPr/>
          <p:nvPr/>
        </p:nvSpPr>
        <p:spPr bwMode="auto">
          <a:xfrm>
            <a:off x="8703733" y="3155209"/>
            <a:ext cx="2638002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user_mission_progress, mission_attempts</a:t>
            </a:r>
            <a:endParaRPr lang="en-US" sz="1200"/>
          </a:p>
        </p:txBody>
      </p:sp>
      <p:sp>
        <p:nvSpPr>
          <p:cNvPr id="96766621" name="Text 35"/>
          <p:cNvSpPr/>
          <p:nvPr/>
        </p:nvSpPr>
        <p:spPr bwMode="auto">
          <a:xfrm>
            <a:off x="812800" y="3807988"/>
            <a:ext cx="1206500" cy="787400"/>
          </a:xfrm>
          <a:prstGeom prst="roundRect">
            <a:avLst>
              <a:gd name="adj" fmla="val 19355"/>
            </a:avLst>
          </a:prstGeom>
          <a:solidFill>
            <a:srgbClr val="22E1B0"/>
          </a:solidFill>
          <a:ln/>
        </p:spPr>
        <p:txBody>
          <a:bodyPr wrap="square" lIns="82364" tIns="69664" rIns="31564" bIns="69664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Вспомогательные</a:t>
            </a:r>
            <a:endParaRPr lang="en-US" sz="1500"/>
          </a:p>
        </p:txBody>
      </p:sp>
      <p:sp>
        <p:nvSpPr>
          <p:cNvPr id="1592385889" name="Shape 36"/>
          <p:cNvSpPr/>
          <p:nvPr/>
        </p:nvSpPr>
        <p:spPr bwMode="auto">
          <a:xfrm>
            <a:off x="2146300" y="3807988"/>
            <a:ext cx="4400550" cy="78740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/>
        </p:spPr>
      </p:sp>
      <p:sp>
        <p:nvSpPr>
          <p:cNvPr id="871642956" name="Text 37"/>
          <p:cNvSpPr/>
          <p:nvPr/>
        </p:nvSpPr>
        <p:spPr bwMode="auto">
          <a:xfrm>
            <a:off x="2260600" y="3922288"/>
            <a:ext cx="429710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Калибровка</a:t>
            </a:r>
            <a:endParaRPr lang="en-US" sz="1400"/>
          </a:p>
        </p:txBody>
      </p:sp>
      <p:sp>
        <p:nvSpPr>
          <p:cNvPr id="1834675186" name="Text 38"/>
          <p:cNvSpPr/>
          <p:nvPr/>
        </p:nvSpPr>
        <p:spPr bwMode="auto">
          <a:xfrm>
            <a:off x="2260600" y="4181370"/>
            <a:ext cx="429710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calibration_questions</a:t>
            </a:r>
            <a:endParaRPr lang="en-US" sz="1200"/>
          </a:p>
        </p:txBody>
      </p:sp>
      <p:sp>
        <p:nvSpPr>
          <p:cNvPr id="1187120724" name="Text 39"/>
          <p:cNvSpPr/>
          <p:nvPr/>
        </p:nvSpPr>
        <p:spPr bwMode="auto">
          <a:xfrm>
            <a:off x="6597650" y="398833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633536452" name="Shape 40"/>
          <p:cNvSpPr/>
          <p:nvPr/>
        </p:nvSpPr>
        <p:spPr bwMode="auto">
          <a:xfrm>
            <a:off x="6978650" y="3807988"/>
            <a:ext cx="4400550" cy="78740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/>
        </p:spPr>
      </p:sp>
      <p:sp>
        <p:nvSpPr>
          <p:cNvPr id="15419148" name="Text 41"/>
          <p:cNvSpPr/>
          <p:nvPr/>
        </p:nvSpPr>
        <p:spPr bwMode="auto">
          <a:xfrm>
            <a:off x="7092950" y="3922288"/>
            <a:ext cx="429710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Словарь</a:t>
            </a:r>
            <a:endParaRPr lang="en-US" sz="1400"/>
          </a:p>
        </p:txBody>
      </p:sp>
      <p:sp>
        <p:nvSpPr>
          <p:cNvPr id="1783340025" name="Text 42"/>
          <p:cNvSpPr/>
          <p:nvPr/>
        </p:nvSpPr>
        <p:spPr bwMode="auto">
          <a:xfrm>
            <a:off x="7092950" y="4181370"/>
            <a:ext cx="429710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vocabulary_items</a:t>
            </a:r>
            <a:endParaRPr lang="en-US" sz="1200"/>
          </a:p>
        </p:txBody>
      </p:sp>
      <p:sp>
        <p:nvSpPr>
          <p:cNvPr id="853828127" name="Text 43"/>
          <p:cNvSpPr/>
          <p:nvPr/>
        </p:nvSpPr>
        <p:spPr bwMode="auto">
          <a:xfrm>
            <a:off x="812800" y="4722388"/>
            <a:ext cx="108833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E9E7FF"/>
                </a:solidFill>
                <a:latin typeface="Inter"/>
                <a:ea typeface="Inter"/>
                <a:cs typeface="Inter"/>
              </a:rPr>
              <a:t>Уровень содержит миссии, миссия — задачи, задача — вопросы, вопрос — варианты. Прогресс и попытки связывают пользователя с миссией.</a:t>
            </a:r>
            <a:endParaRPr lang="en-US" sz="1300"/>
          </a:p>
        </p:txBody>
      </p:sp>
      <p:sp>
        <p:nvSpPr>
          <p:cNvPr id="1091095057" name="Shape 44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695869150" name="Shape 45"/>
          <p:cNvSpPr/>
          <p:nvPr/>
        </p:nvSpPr>
        <p:spPr bwMode="auto">
          <a:xfrm>
            <a:off x="812800" y="6350000"/>
            <a:ext cx="211455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1469382339" name="Text 46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500 · LVL 5/1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36953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05 · ЦЕЛОСТНОСТЬ</a:t>
            </a:r>
            <a:endParaRPr lang="en-US" sz="1200"/>
          </a:p>
        </p:txBody>
      </p:sp>
      <p:sp>
        <p:nvSpPr>
          <p:cNvPr id="1129969624" name="Text 1"/>
          <p:cNvSpPr/>
          <p:nvPr>
            <p:ph type="title"/>
          </p:nvPr>
        </p:nvSpPr>
        <p:spPr bwMode="auto">
          <a:xfrm>
            <a:off x="812800" y="812800"/>
            <a:ext cx="10883392" cy="503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71"/>
              </a:lnSpc>
              <a:buNone/>
              <a:defRPr/>
            </a:pPr>
            <a:r>
              <a:rPr lang="en-US" sz="35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Целостность данных и индексы</a:t>
            </a:r>
            <a:endParaRPr lang="en-US" sz="3500"/>
          </a:p>
        </p:txBody>
      </p:sp>
      <p:sp>
        <p:nvSpPr>
          <p:cNvPr id="1158151119" name="Shape 2"/>
          <p:cNvSpPr/>
          <p:nvPr/>
        </p:nvSpPr>
        <p:spPr bwMode="auto">
          <a:xfrm>
            <a:off x="812800" y="1405468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751463047" name="Shape 3"/>
          <p:cNvSpPr/>
          <p:nvPr/>
        </p:nvSpPr>
        <p:spPr bwMode="auto">
          <a:xfrm>
            <a:off x="812800" y="1722968"/>
            <a:ext cx="3206750" cy="2551430"/>
          </a:xfrm>
          <a:prstGeom prst="roundRect">
            <a:avLst>
              <a:gd name="adj" fmla="val 6969"/>
            </a:avLst>
          </a:prstGeom>
          <a:solidFill>
            <a:srgbClr val="FFD23F"/>
          </a:solidFill>
          <a:ln/>
        </p:spPr>
      </p:sp>
      <p:sp>
        <p:nvSpPr>
          <p:cNvPr id="1325811074" name="Text 4"/>
          <p:cNvSpPr/>
          <p:nvPr/>
        </p:nvSpPr>
        <p:spPr bwMode="auto">
          <a:xfrm>
            <a:off x="1003300" y="1913468"/>
            <a:ext cx="291052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3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CHECK</a:t>
            </a:r>
            <a:endParaRPr lang="en-US" sz="3000"/>
          </a:p>
        </p:txBody>
      </p:sp>
      <p:sp>
        <p:nvSpPr>
          <p:cNvPr id="1517239407" name="Text 5"/>
          <p:cNvSpPr/>
          <p:nvPr/>
        </p:nvSpPr>
        <p:spPr bwMode="auto">
          <a:xfrm>
            <a:off x="1073658" y="2357968"/>
            <a:ext cx="2832545" cy="1751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уровень CEFR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order_index от 1 до 5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допустимые типы задач и вопросов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XP строго положительный</a:t>
            </a:r>
            <a:endParaRPr lang="en-US" sz="1600"/>
          </a:p>
        </p:txBody>
      </p:sp>
      <p:sp>
        <p:nvSpPr>
          <p:cNvPr id="445820082" name="Shape 6"/>
          <p:cNvSpPr/>
          <p:nvPr/>
        </p:nvSpPr>
        <p:spPr bwMode="auto">
          <a:xfrm>
            <a:off x="4171950" y="1722968"/>
            <a:ext cx="3206750" cy="2551430"/>
          </a:xfrm>
          <a:prstGeom prst="roundRect">
            <a:avLst>
              <a:gd name="adj" fmla="val 6969"/>
            </a:avLst>
          </a:prstGeom>
          <a:solidFill>
            <a:srgbClr val="7CC4FF"/>
          </a:solidFill>
          <a:ln/>
        </p:spPr>
      </p:sp>
      <p:sp>
        <p:nvSpPr>
          <p:cNvPr id="1602426344" name="Text 7"/>
          <p:cNvSpPr/>
          <p:nvPr/>
        </p:nvSpPr>
        <p:spPr bwMode="auto">
          <a:xfrm>
            <a:off x="4362450" y="1913468"/>
            <a:ext cx="291052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3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UNIQUE</a:t>
            </a:r>
            <a:endParaRPr lang="en-US" sz="3000"/>
          </a:p>
        </p:txBody>
      </p:sp>
      <p:sp>
        <p:nvSpPr>
          <p:cNvPr id="1401786283" name="Text 8"/>
          <p:cNvSpPr/>
          <p:nvPr/>
        </p:nvSpPr>
        <p:spPr bwMode="auto">
          <a:xfrm>
            <a:off x="4432808" y="2357968"/>
            <a:ext cx="2832545" cy="1751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email пользователя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имя роли и код уровня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«уровень + порядок» у миссий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«пользователь + миссия» у прогресса</a:t>
            </a:r>
            <a:endParaRPr lang="en-US" sz="1600"/>
          </a:p>
        </p:txBody>
      </p:sp>
      <p:sp>
        <p:nvSpPr>
          <p:cNvPr id="2710953" name="Shape 9"/>
          <p:cNvSpPr/>
          <p:nvPr/>
        </p:nvSpPr>
        <p:spPr bwMode="auto">
          <a:xfrm flipH="0" flipV="0">
            <a:off x="7531099" y="1722967"/>
            <a:ext cx="3848099" cy="3124407"/>
          </a:xfrm>
          <a:prstGeom prst="roundRect">
            <a:avLst>
              <a:gd name="adj" fmla="val 5229"/>
            </a:avLst>
          </a:prstGeom>
          <a:solidFill>
            <a:srgbClr val="22E1B0"/>
          </a:solidFill>
          <a:ln/>
        </p:spPr>
      </p:sp>
      <p:sp>
        <p:nvSpPr>
          <p:cNvPr id="1598197583" name="Text 10"/>
          <p:cNvSpPr/>
          <p:nvPr/>
        </p:nvSpPr>
        <p:spPr bwMode="auto">
          <a:xfrm>
            <a:off x="7721600" y="1913468"/>
            <a:ext cx="357111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3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FK + индексы</a:t>
            </a:r>
            <a:endParaRPr lang="en-US" sz="3000"/>
          </a:p>
        </p:txBody>
      </p:sp>
      <p:sp>
        <p:nvSpPr>
          <p:cNvPr id="1828864024" name="Text 11"/>
          <p:cNvSpPr/>
          <p:nvPr/>
        </p:nvSpPr>
        <p:spPr bwMode="auto">
          <a:xfrm>
            <a:off x="7791958" y="2357968"/>
            <a:ext cx="3493135" cy="260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CASCADE для задач, вопросов и вариантов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индексы на внешние ключи: tasks.mission_id, questions.task_id, question_options.question_id, vocabulary_items.level_id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прогресс и попытки — по user_id и mission_id</a:t>
            </a:r>
            <a:endParaRPr lang="en-US" sz="1600"/>
          </a:p>
        </p:txBody>
      </p:sp>
      <p:sp>
        <p:nvSpPr>
          <p:cNvPr id="509480295" name="Text 12"/>
          <p:cNvSpPr/>
          <p:nvPr/>
        </p:nvSpPr>
        <p:spPr bwMode="auto">
          <a:xfrm>
            <a:off x="812799" y="5124553"/>
            <a:ext cx="10566400" cy="802323"/>
          </a:xfrm>
          <a:prstGeom prst="roundRect">
            <a:avLst>
              <a:gd name="adj" fmla="val 22161"/>
            </a:avLst>
          </a:prstGeom>
          <a:solidFill>
            <a:srgbClr val="130F3A"/>
          </a:solidFill>
          <a:ln/>
        </p:spPr>
        <p:txBody>
          <a:bodyPr wrap="square" lIns="125724" tIns="125724" rIns="0" bIns="100324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Индексы ускоряют загрузку дочерних записей, выборку прогресса и каскадные удаления. Часть запросов покрыта уникальными индексами.</a:t>
            </a:r>
            <a:endParaRPr lang="en-US" sz="1300"/>
          </a:p>
        </p:txBody>
      </p:sp>
      <p:sp>
        <p:nvSpPr>
          <p:cNvPr id="430519384" name="Shape 13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1164006013" name="Shape 14"/>
          <p:cNvSpPr/>
          <p:nvPr/>
        </p:nvSpPr>
        <p:spPr bwMode="auto">
          <a:xfrm>
            <a:off x="812800" y="6350000"/>
            <a:ext cx="254000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2039337450" name="Text 15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600 · LVL 6/1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586747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06 · ДОСТУП</a:t>
            </a:r>
            <a:endParaRPr lang="en-US" sz="1200"/>
          </a:p>
        </p:txBody>
      </p:sp>
      <p:sp>
        <p:nvSpPr>
          <p:cNvPr id="1500101024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Аутентификация, роли и безопасность</a:t>
            </a:r>
            <a:endParaRPr lang="en-US" sz="3800"/>
          </a:p>
        </p:txBody>
      </p:sp>
      <p:sp>
        <p:nvSpPr>
          <p:cNvPr id="1624360437" name="Shape 2"/>
          <p:cNvSpPr/>
          <p:nvPr/>
        </p:nvSpPr>
        <p:spPr bwMode="auto">
          <a:xfrm>
            <a:off x="812800" y="144833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71164207" name="Shape 3"/>
          <p:cNvSpPr/>
          <p:nvPr/>
        </p:nvSpPr>
        <p:spPr bwMode="auto">
          <a:xfrm>
            <a:off x="812800" y="1765830"/>
            <a:ext cx="3420533" cy="1938655"/>
          </a:xfrm>
          <a:prstGeom prst="roundRect">
            <a:avLst>
              <a:gd name="adj" fmla="val 9171"/>
            </a:avLst>
          </a:prstGeom>
          <a:solidFill>
            <a:srgbClr val="FFD23F"/>
          </a:solidFill>
          <a:ln/>
        </p:spPr>
      </p:sp>
      <p:sp>
        <p:nvSpPr>
          <p:cNvPr id="1860737392" name="Text 4"/>
          <p:cNvSpPr/>
          <p:nvPr/>
        </p:nvSpPr>
        <p:spPr bwMode="auto">
          <a:xfrm>
            <a:off x="1003300" y="1956330"/>
            <a:ext cx="3130719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  <a:defRPr/>
            </a:pPr>
            <a:r>
              <a:rPr lang="en-US" sz="6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12</a:t>
            </a:r>
            <a:endParaRPr lang="en-US" sz="6500"/>
          </a:p>
        </p:txBody>
      </p:sp>
      <p:sp>
        <p:nvSpPr>
          <p:cNvPr id="1624183778" name="Text 5"/>
          <p:cNvSpPr/>
          <p:nvPr/>
        </p:nvSpPr>
        <p:spPr bwMode="auto">
          <a:xfrm>
            <a:off x="1003300" y="2845330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раундов bcrypt; защита от усечения паролей длиннее 72 байт</a:t>
            </a:r>
            <a:endParaRPr lang="en-US" sz="1300"/>
          </a:p>
        </p:txBody>
      </p:sp>
      <p:sp>
        <p:nvSpPr>
          <p:cNvPr id="1929076957" name="Shape 6"/>
          <p:cNvSpPr/>
          <p:nvPr/>
        </p:nvSpPr>
        <p:spPr bwMode="auto">
          <a:xfrm>
            <a:off x="4385733" y="1765830"/>
            <a:ext cx="3420533" cy="1938655"/>
          </a:xfrm>
          <a:prstGeom prst="roundRect">
            <a:avLst>
              <a:gd name="adj" fmla="val 9171"/>
            </a:avLst>
          </a:prstGeom>
          <a:solidFill>
            <a:srgbClr val="7CC4FF"/>
          </a:solidFill>
          <a:ln/>
        </p:spPr>
      </p:sp>
      <p:sp>
        <p:nvSpPr>
          <p:cNvPr id="74382099" name="Text 7"/>
          <p:cNvSpPr/>
          <p:nvPr/>
        </p:nvSpPr>
        <p:spPr bwMode="auto">
          <a:xfrm>
            <a:off x="4576233" y="1956330"/>
            <a:ext cx="3130719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  <a:defRPr/>
            </a:pPr>
            <a:r>
              <a:rPr lang="en-US" sz="6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JWT</a:t>
            </a:r>
            <a:endParaRPr lang="en-US" sz="6500"/>
          </a:p>
        </p:txBody>
      </p:sp>
      <p:sp>
        <p:nvSpPr>
          <p:cNvPr id="590662418" name="Text 8"/>
          <p:cNvSpPr/>
          <p:nvPr/>
        </p:nvSpPr>
        <p:spPr bwMode="auto">
          <a:xfrm>
            <a:off x="4576233" y="2845330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подпись, срок действия и поиск пользователя в базе</a:t>
            </a:r>
            <a:endParaRPr lang="en-US" sz="1300"/>
          </a:p>
        </p:txBody>
      </p:sp>
      <p:sp>
        <p:nvSpPr>
          <p:cNvPr id="2082697999" name="Shape 9"/>
          <p:cNvSpPr/>
          <p:nvPr/>
        </p:nvSpPr>
        <p:spPr bwMode="auto">
          <a:xfrm>
            <a:off x="7958667" y="1765830"/>
            <a:ext cx="3420533" cy="1938655"/>
          </a:xfrm>
          <a:prstGeom prst="roundRect">
            <a:avLst>
              <a:gd name="adj" fmla="val 9171"/>
            </a:avLst>
          </a:prstGeom>
          <a:solidFill>
            <a:srgbClr val="FF5A66"/>
          </a:solidFill>
          <a:ln/>
        </p:spPr>
      </p:sp>
      <p:sp>
        <p:nvSpPr>
          <p:cNvPr id="310185644" name="Text 10"/>
          <p:cNvSpPr/>
          <p:nvPr/>
        </p:nvSpPr>
        <p:spPr bwMode="auto">
          <a:xfrm>
            <a:off x="8149167" y="1956330"/>
            <a:ext cx="3130719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  <a:defRPr/>
            </a:pPr>
            <a:r>
              <a:rPr lang="en-US" sz="6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403</a:t>
            </a:r>
            <a:endParaRPr lang="en-US" sz="6500"/>
          </a:p>
        </p:txBody>
      </p:sp>
      <p:sp>
        <p:nvSpPr>
          <p:cNvPr id="1112099613" name="Text 11"/>
          <p:cNvSpPr/>
          <p:nvPr/>
        </p:nvSpPr>
        <p:spPr bwMode="auto">
          <a:xfrm>
            <a:off x="8149167" y="2845330"/>
            <a:ext cx="3130719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изменение контента доступно только преподавателю; роль берётся из базы</a:t>
            </a:r>
            <a:endParaRPr lang="en-US" sz="1300"/>
          </a:p>
        </p:txBody>
      </p:sp>
      <p:sp>
        <p:nvSpPr>
          <p:cNvPr id="34509545" name="Shape 12"/>
          <p:cNvSpPr/>
          <p:nvPr/>
        </p:nvSpPr>
        <p:spPr bwMode="auto">
          <a:xfrm>
            <a:off x="812800" y="3856884"/>
            <a:ext cx="3556000" cy="1573530"/>
          </a:xfrm>
          <a:prstGeom prst="roundRect">
            <a:avLst>
              <a:gd name="adj" fmla="val 11299"/>
            </a:avLst>
          </a:prstGeom>
          <a:solidFill>
            <a:srgbClr val="201B57"/>
          </a:solidFill>
          <a:ln/>
        </p:spPr>
      </p:sp>
      <p:sp>
        <p:nvSpPr>
          <p:cNvPr id="995540243" name="Text 13"/>
          <p:cNvSpPr/>
          <p:nvPr/>
        </p:nvSpPr>
        <p:spPr bwMode="auto">
          <a:xfrm>
            <a:off x="1003300" y="4047384"/>
            <a:ext cx="327025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Безопасность</a:t>
            </a:r>
            <a:endParaRPr lang="en-US" sz="1700"/>
          </a:p>
        </p:txBody>
      </p:sp>
      <p:sp>
        <p:nvSpPr>
          <p:cNvPr id="1073092667" name="Text 14"/>
          <p:cNvSpPr/>
          <p:nvPr/>
        </p:nvSpPr>
        <p:spPr bwMode="auto">
          <a:xfrm>
            <a:off x="1003300" y="4348373"/>
            <a:ext cx="3270250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Inter"/>
                <a:ea typeface="Inter"/>
                <a:cs typeface="Inter"/>
              </a:rPr>
              <a:t>В production запрещён запуск с небезопасными значениями по умолчанию. Ответы не раскрывают ученику правильные варианты.</a:t>
            </a:r>
            <a:endParaRPr lang="en-US" sz="1300"/>
          </a:p>
        </p:txBody>
      </p:sp>
      <p:sp>
        <p:nvSpPr>
          <p:cNvPr id="1985070652" name="Text 15"/>
          <p:cNvSpPr/>
          <p:nvPr/>
        </p:nvSpPr>
        <p:spPr bwMode="auto">
          <a:xfrm>
            <a:off x="4521200" y="3856884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Валидация через Pydantic</a:t>
            </a:r>
            <a:endParaRPr lang="en-US" sz="1200"/>
          </a:p>
        </p:txBody>
      </p:sp>
      <p:sp>
        <p:nvSpPr>
          <p:cNvPr id="669481608" name="Text 16"/>
          <p:cNvSpPr/>
          <p:nvPr/>
        </p:nvSpPr>
        <p:spPr bwMode="auto">
          <a:xfrm>
            <a:off x="7994650" y="3856884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Единый формат ошибок</a:t>
            </a:r>
            <a:endParaRPr lang="en-US" sz="1200"/>
          </a:p>
        </p:txBody>
      </p:sp>
      <p:sp>
        <p:nvSpPr>
          <p:cNvPr id="277877723" name="Text 17"/>
          <p:cNvSpPr/>
          <p:nvPr/>
        </p:nvSpPr>
        <p:spPr bwMode="auto">
          <a:xfrm>
            <a:off x="4521200" y="4411027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Лимит частоты запросов</a:t>
            </a:r>
            <a:endParaRPr lang="en-US" sz="1200"/>
          </a:p>
        </p:txBody>
      </p:sp>
      <p:sp>
        <p:nvSpPr>
          <p:cNvPr id="906778643" name="Text 18"/>
          <p:cNvSpPr/>
          <p:nvPr/>
        </p:nvSpPr>
        <p:spPr bwMode="auto">
          <a:xfrm>
            <a:off x="7994650" y="4411027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Защитные HTTP-заголовки</a:t>
            </a:r>
            <a:endParaRPr lang="en-US" sz="1200"/>
          </a:p>
        </p:txBody>
      </p:sp>
      <p:sp>
        <p:nvSpPr>
          <p:cNvPr id="30101124" name="Text 19"/>
          <p:cNvSpPr/>
          <p:nvPr/>
        </p:nvSpPr>
        <p:spPr bwMode="auto">
          <a:xfrm>
            <a:off x="4521200" y="4965170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Корректный CORS</a:t>
            </a:r>
            <a:endParaRPr lang="en-US" sz="1200"/>
          </a:p>
        </p:txBody>
      </p:sp>
      <p:sp>
        <p:nvSpPr>
          <p:cNvPr id="195187742" name="Text 20"/>
          <p:cNvSpPr/>
          <p:nvPr/>
        </p:nvSpPr>
        <p:spPr bwMode="auto">
          <a:xfrm>
            <a:off x="7994650" y="4965170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Секреты в переменных окружения</a:t>
            </a:r>
            <a:endParaRPr lang="en-US" sz="1200"/>
          </a:p>
        </p:txBody>
      </p:sp>
      <p:sp>
        <p:nvSpPr>
          <p:cNvPr id="442672631" name="Shape 21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2095813737" name="Shape 22"/>
          <p:cNvSpPr/>
          <p:nvPr/>
        </p:nvSpPr>
        <p:spPr bwMode="auto">
          <a:xfrm>
            <a:off x="812800" y="6350000"/>
            <a:ext cx="295910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56144830" name="Text 23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700 · LVL 7/1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201089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07 · ОБУЧЕНИЕ</a:t>
            </a:r>
            <a:endParaRPr lang="en-US" sz="1200"/>
          </a:p>
        </p:txBody>
      </p:sp>
      <p:sp>
        <p:nvSpPr>
          <p:cNvPr id="1646145403" name="Shape 1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2091092673" name="Shape 2"/>
          <p:cNvSpPr/>
          <p:nvPr/>
        </p:nvSpPr>
        <p:spPr bwMode="auto">
          <a:xfrm>
            <a:off x="812800" y="6350000"/>
            <a:ext cx="338455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1376621611" name="Text 3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800 · LVL 8/1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  <p:sp>
        <p:nvSpPr>
          <p:cNvPr id="1643011275" name="Text 4"/>
          <p:cNvSpPr/>
          <p:nvPr>
            <p:ph type="title"/>
          </p:nvPr>
        </p:nvSpPr>
        <p:spPr bwMode="auto">
          <a:xfrm>
            <a:off x="812800" y="812800"/>
            <a:ext cx="108833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4"/>
              </a:lnSpc>
              <a:buNone/>
              <a:defRPr/>
            </a:pPr>
            <a:r>
              <a:rPr lang="en-US" sz="365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Калибровка и структура обучения</a:t>
            </a:r>
            <a:endParaRPr lang="en-US" sz="3650"/>
          </a:p>
        </p:txBody>
      </p:sp>
      <p:sp>
        <p:nvSpPr>
          <p:cNvPr id="1935828993" name="Shape 5"/>
          <p:cNvSpPr/>
          <p:nvPr/>
        </p:nvSpPr>
        <p:spPr bwMode="auto">
          <a:xfrm>
            <a:off x="812800" y="14224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105896209" name="Shape 6"/>
          <p:cNvSpPr/>
          <p:nvPr/>
        </p:nvSpPr>
        <p:spPr bwMode="auto">
          <a:xfrm>
            <a:off x="812800" y="1739900"/>
            <a:ext cx="4640580" cy="1892617"/>
          </a:xfrm>
          <a:prstGeom prst="roundRect">
            <a:avLst>
              <a:gd name="adj" fmla="val 9394"/>
            </a:avLst>
          </a:prstGeom>
          <a:solidFill>
            <a:srgbClr val="FFD23F"/>
          </a:solidFill>
          <a:ln/>
        </p:spPr>
      </p:sp>
      <p:sp>
        <p:nvSpPr>
          <p:cNvPr id="1057832167" name="Text 7"/>
          <p:cNvSpPr/>
          <p:nvPr/>
        </p:nvSpPr>
        <p:spPr bwMode="auto">
          <a:xfrm>
            <a:off x="1016000" y="1943100"/>
            <a:ext cx="4361205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  <a:defRPr/>
            </a:pPr>
            <a:r>
              <a:rPr lang="en-US" sz="19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Калибровка</a:t>
            </a:r>
            <a:endParaRPr lang="en-US" sz="1900"/>
          </a:p>
        </p:txBody>
      </p:sp>
      <p:sp>
        <p:nvSpPr>
          <p:cNvPr id="593379228" name="Text 8"/>
          <p:cNvSpPr/>
          <p:nvPr/>
        </p:nvSpPr>
        <p:spPr bwMode="auto">
          <a:xfrm>
            <a:off x="1016000" y="2272029"/>
            <a:ext cx="4361205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  <a:defRPr/>
            </a:pPr>
            <a:r>
              <a:rPr lang="en-US" sz="1350">
                <a:solidFill>
                  <a:srgbClr val="130F3A"/>
                </a:solidFill>
                <a:latin typeface="Inter"/>
                <a:ea typeface="Inter"/>
                <a:cs typeface="Inter"/>
              </a:rPr>
              <a:t>Входной тест: backend сверяет ответы с эталоном и определяет уровень CEFR по порогам. Предыдущие уровни и их миссии засчитываются автоматически, начисляется стартовый XP.</a:t>
            </a:r>
            <a:endParaRPr lang="en-US" sz="1350"/>
          </a:p>
        </p:txBody>
      </p:sp>
      <p:sp>
        <p:nvSpPr>
          <p:cNvPr id="2118594987" name="Shape 9"/>
          <p:cNvSpPr/>
          <p:nvPr/>
        </p:nvSpPr>
        <p:spPr bwMode="auto">
          <a:xfrm>
            <a:off x="812800" y="3759516"/>
            <a:ext cx="4640580" cy="1401763"/>
          </a:xfrm>
          <a:prstGeom prst="roundRect">
            <a:avLst>
              <a:gd name="adj" fmla="val 12684"/>
            </a:avLst>
          </a:prstGeom>
          <a:solidFill>
            <a:srgbClr val="FFFFFF"/>
          </a:solidFill>
          <a:ln/>
        </p:spPr>
      </p:sp>
      <p:sp>
        <p:nvSpPr>
          <p:cNvPr id="714145836" name="Text 10"/>
          <p:cNvSpPr/>
          <p:nvPr/>
        </p:nvSpPr>
        <p:spPr bwMode="auto">
          <a:xfrm>
            <a:off x="1016000" y="3962716"/>
            <a:ext cx="4361205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Защита калибровки</a:t>
            </a:r>
            <a:endParaRPr lang="en-US" sz="1700"/>
          </a:p>
        </p:txBody>
      </p:sp>
      <p:sp>
        <p:nvSpPr>
          <p:cNvPr id="1652488247" name="Text 11"/>
          <p:cNvSpPr/>
          <p:nvPr/>
        </p:nvSpPr>
        <p:spPr bwMode="auto">
          <a:xfrm>
            <a:off x="1016000" y="4263709"/>
            <a:ext cx="4361205" cy="719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  <a:defRPr/>
            </a:pPr>
            <a:r>
              <a:rPr lang="en-US" sz="1350">
                <a:solidFill>
                  <a:srgbClr val="130F3A"/>
                </a:solidFill>
                <a:latin typeface="Inter"/>
                <a:ea typeface="Inter"/>
                <a:cs typeface="Inter"/>
              </a:rPr>
              <a:t>Один ответ не даёт высокий уровень, дубликаты вопросов запрещены, повторная калибровка отклоняется.</a:t>
            </a:r>
            <a:endParaRPr lang="en-US" sz="1350"/>
          </a:p>
        </p:txBody>
      </p:sp>
      <p:sp>
        <p:nvSpPr>
          <p:cNvPr id="891738488" name="Shape 12"/>
          <p:cNvSpPr/>
          <p:nvPr/>
        </p:nvSpPr>
        <p:spPr bwMode="auto">
          <a:xfrm>
            <a:off x="5707380" y="3390900"/>
            <a:ext cx="881802" cy="889000"/>
          </a:xfrm>
          <a:prstGeom prst="roundRect">
            <a:avLst>
              <a:gd name="adj" fmla="val 14402"/>
            </a:avLst>
          </a:prstGeom>
          <a:solidFill>
            <a:srgbClr val="22E1B0"/>
          </a:solidFill>
          <a:ln/>
        </p:spPr>
      </p:sp>
      <p:sp>
        <p:nvSpPr>
          <p:cNvPr id="828529472" name="Text 13"/>
          <p:cNvSpPr/>
          <p:nvPr/>
        </p:nvSpPr>
        <p:spPr bwMode="auto">
          <a:xfrm>
            <a:off x="5783580" y="34671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A1</a:t>
            </a:r>
            <a:endParaRPr lang="en-US" sz="2000"/>
          </a:p>
        </p:txBody>
      </p:sp>
      <p:sp>
        <p:nvSpPr>
          <p:cNvPr id="1543526053" name="Text 14"/>
          <p:cNvSpPr/>
          <p:nvPr/>
        </p:nvSpPr>
        <p:spPr bwMode="auto">
          <a:xfrm>
            <a:off x="5783580" y="38481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зачтён</a:t>
            </a:r>
            <a:endParaRPr lang="en-US" sz="1200"/>
          </a:p>
        </p:txBody>
      </p:sp>
      <p:sp>
        <p:nvSpPr>
          <p:cNvPr id="26790101" name="Shape 15"/>
          <p:cNvSpPr/>
          <p:nvPr/>
        </p:nvSpPr>
        <p:spPr bwMode="auto">
          <a:xfrm>
            <a:off x="6665383" y="3073400"/>
            <a:ext cx="881802" cy="1206500"/>
          </a:xfrm>
          <a:prstGeom prst="roundRect">
            <a:avLst>
              <a:gd name="adj" fmla="val 14402"/>
            </a:avLst>
          </a:prstGeom>
          <a:solidFill>
            <a:srgbClr val="22E1B0"/>
          </a:solidFill>
          <a:ln/>
        </p:spPr>
      </p:sp>
      <p:sp>
        <p:nvSpPr>
          <p:cNvPr id="1487874597" name="Text 16"/>
          <p:cNvSpPr/>
          <p:nvPr/>
        </p:nvSpPr>
        <p:spPr bwMode="auto">
          <a:xfrm>
            <a:off x="6741583" y="31496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A2</a:t>
            </a:r>
            <a:endParaRPr lang="en-US" sz="2000"/>
          </a:p>
        </p:txBody>
      </p:sp>
      <p:sp>
        <p:nvSpPr>
          <p:cNvPr id="915923717" name="Text 17"/>
          <p:cNvSpPr/>
          <p:nvPr/>
        </p:nvSpPr>
        <p:spPr bwMode="auto">
          <a:xfrm>
            <a:off x="6741583" y="35306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зачтён</a:t>
            </a:r>
            <a:endParaRPr lang="en-US" sz="1200"/>
          </a:p>
        </p:txBody>
      </p:sp>
      <p:sp>
        <p:nvSpPr>
          <p:cNvPr id="951613425" name="Shape 18"/>
          <p:cNvSpPr/>
          <p:nvPr/>
        </p:nvSpPr>
        <p:spPr bwMode="auto">
          <a:xfrm>
            <a:off x="7623387" y="2755900"/>
            <a:ext cx="881802" cy="1524000"/>
          </a:xfrm>
          <a:prstGeom prst="roundRect">
            <a:avLst>
              <a:gd name="adj" fmla="val 14402"/>
            </a:avLst>
          </a:prstGeom>
          <a:solidFill>
            <a:srgbClr val="FFD23F"/>
          </a:solidFill>
          <a:ln/>
        </p:spPr>
      </p:sp>
      <p:sp>
        <p:nvSpPr>
          <p:cNvPr id="1367419595" name="Text 19"/>
          <p:cNvSpPr/>
          <p:nvPr/>
        </p:nvSpPr>
        <p:spPr bwMode="auto">
          <a:xfrm>
            <a:off x="7699587" y="28321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B1</a:t>
            </a:r>
            <a:endParaRPr lang="en-US" sz="2000"/>
          </a:p>
        </p:txBody>
      </p:sp>
      <p:sp>
        <p:nvSpPr>
          <p:cNvPr id="1306188881" name="Text 20"/>
          <p:cNvSpPr/>
          <p:nvPr/>
        </p:nvSpPr>
        <p:spPr bwMode="auto">
          <a:xfrm>
            <a:off x="7699587" y="32131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текущий</a:t>
            </a:r>
            <a:endParaRPr lang="en-US" sz="1200"/>
          </a:p>
        </p:txBody>
      </p:sp>
      <p:sp>
        <p:nvSpPr>
          <p:cNvPr id="1601995721" name="Shape 21"/>
          <p:cNvSpPr/>
          <p:nvPr/>
        </p:nvSpPr>
        <p:spPr bwMode="auto">
          <a:xfrm>
            <a:off x="8581390" y="2438400"/>
            <a:ext cx="881802" cy="1841500"/>
          </a:xfrm>
          <a:prstGeom prst="roundRect">
            <a:avLst>
              <a:gd name="adj" fmla="val 14402"/>
            </a:avLst>
          </a:prstGeom>
          <a:solidFill>
            <a:srgbClr val="D9D4FF"/>
          </a:solidFill>
          <a:ln/>
        </p:spPr>
      </p:sp>
      <p:sp>
        <p:nvSpPr>
          <p:cNvPr id="341392153" name="Text 22"/>
          <p:cNvSpPr/>
          <p:nvPr/>
        </p:nvSpPr>
        <p:spPr bwMode="auto">
          <a:xfrm>
            <a:off x="8657590" y="25146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B2</a:t>
            </a:r>
            <a:endParaRPr lang="en-US" sz="2000"/>
          </a:p>
        </p:txBody>
      </p:sp>
      <p:sp>
        <p:nvSpPr>
          <p:cNvPr id="176482100" name="Text 23"/>
          <p:cNvSpPr/>
          <p:nvPr/>
        </p:nvSpPr>
        <p:spPr bwMode="auto">
          <a:xfrm>
            <a:off x="8657590" y="28956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закрыт</a:t>
            </a:r>
            <a:endParaRPr lang="en-US" sz="1200"/>
          </a:p>
        </p:txBody>
      </p:sp>
      <p:sp>
        <p:nvSpPr>
          <p:cNvPr id="1300317489" name="Shape 24"/>
          <p:cNvSpPr/>
          <p:nvPr/>
        </p:nvSpPr>
        <p:spPr bwMode="auto">
          <a:xfrm>
            <a:off x="9539393" y="2120900"/>
            <a:ext cx="881802" cy="2159000"/>
          </a:xfrm>
          <a:prstGeom prst="roundRect">
            <a:avLst>
              <a:gd name="adj" fmla="val 14402"/>
            </a:avLst>
          </a:prstGeom>
          <a:solidFill>
            <a:srgbClr val="D9D4FF"/>
          </a:solidFill>
          <a:ln/>
        </p:spPr>
      </p:sp>
      <p:sp>
        <p:nvSpPr>
          <p:cNvPr id="234896582" name="Text 25"/>
          <p:cNvSpPr/>
          <p:nvPr/>
        </p:nvSpPr>
        <p:spPr bwMode="auto">
          <a:xfrm>
            <a:off x="9615593" y="21971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C1</a:t>
            </a:r>
            <a:endParaRPr lang="en-US" sz="2000"/>
          </a:p>
        </p:txBody>
      </p:sp>
      <p:sp>
        <p:nvSpPr>
          <p:cNvPr id="1597967509" name="Text 26"/>
          <p:cNvSpPr/>
          <p:nvPr/>
        </p:nvSpPr>
        <p:spPr bwMode="auto">
          <a:xfrm>
            <a:off x="9615593" y="25781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закрыт</a:t>
            </a:r>
            <a:endParaRPr lang="en-US" sz="1200"/>
          </a:p>
        </p:txBody>
      </p:sp>
      <p:sp>
        <p:nvSpPr>
          <p:cNvPr id="1462456230" name="Shape 27"/>
          <p:cNvSpPr/>
          <p:nvPr/>
        </p:nvSpPr>
        <p:spPr bwMode="auto">
          <a:xfrm>
            <a:off x="10497396" y="1803400"/>
            <a:ext cx="881802" cy="2476500"/>
          </a:xfrm>
          <a:prstGeom prst="roundRect">
            <a:avLst>
              <a:gd name="adj" fmla="val 14402"/>
            </a:avLst>
          </a:prstGeom>
          <a:solidFill>
            <a:srgbClr val="D9D4FF"/>
          </a:solidFill>
          <a:ln/>
        </p:spPr>
      </p:sp>
      <p:sp>
        <p:nvSpPr>
          <p:cNvPr id="2009211869" name="Text 28"/>
          <p:cNvSpPr/>
          <p:nvPr/>
        </p:nvSpPr>
        <p:spPr bwMode="auto">
          <a:xfrm>
            <a:off x="10573596" y="18796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C2</a:t>
            </a:r>
            <a:endParaRPr lang="en-US" sz="2000"/>
          </a:p>
        </p:txBody>
      </p:sp>
      <p:sp>
        <p:nvSpPr>
          <p:cNvPr id="500469573" name="Text 29"/>
          <p:cNvSpPr/>
          <p:nvPr/>
        </p:nvSpPr>
        <p:spPr bwMode="auto">
          <a:xfrm>
            <a:off x="10573596" y="22606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закрыт</a:t>
            </a:r>
            <a:endParaRPr lang="en-US" sz="1200"/>
          </a:p>
        </p:txBody>
      </p:sp>
      <p:sp>
        <p:nvSpPr>
          <p:cNvPr id="1448947874" name="Text 30"/>
          <p:cNvSpPr/>
          <p:nvPr/>
        </p:nvSpPr>
        <p:spPr bwMode="auto">
          <a:xfrm>
            <a:off x="5707380" y="4368800"/>
            <a:ext cx="5841975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Пример: калибровка определила уровень B1. Уровни выше текущего заблокированы.</a:t>
            </a:r>
            <a:endParaRPr lang="en-US" sz="1200"/>
          </a:p>
        </p:txBody>
      </p:sp>
      <p:sp>
        <p:nvSpPr>
          <p:cNvPr id="1929669921" name="Text 31"/>
          <p:cNvSpPr/>
          <p:nvPr/>
        </p:nvSpPr>
        <p:spPr bwMode="auto">
          <a:xfrm>
            <a:off x="5707380" y="4869179"/>
            <a:ext cx="1636607" cy="619760"/>
          </a:xfrm>
          <a:prstGeom prst="roundRect">
            <a:avLst>
              <a:gd name="adj" fmla="val 22541"/>
            </a:avLst>
          </a:prstGeom>
          <a:solidFill>
            <a:srgbClr val="7CC4FF"/>
          </a:solidFill>
          <a:ln/>
        </p:spPr>
        <p:txBody>
          <a:bodyPr wrap="square" lIns="561063" tIns="60683" rIns="561063" bIns="60683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1</a:t>
            </a:r>
            <a:endParaRPr lang="en-US" sz="1400"/>
          </a:p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Тест</a:t>
            </a:r>
            <a:endParaRPr lang="en-US" sz="1400"/>
          </a:p>
        </p:txBody>
      </p:sp>
      <p:sp>
        <p:nvSpPr>
          <p:cNvPr id="256712196" name="Text 32"/>
          <p:cNvSpPr/>
          <p:nvPr/>
        </p:nvSpPr>
        <p:spPr bwMode="auto">
          <a:xfrm>
            <a:off x="7369386" y="496570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640360299" name="Text 33"/>
          <p:cNvSpPr/>
          <p:nvPr/>
        </p:nvSpPr>
        <p:spPr bwMode="auto">
          <a:xfrm>
            <a:off x="7724987" y="4869179"/>
            <a:ext cx="1636607" cy="619760"/>
          </a:xfrm>
          <a:prstGeom prst="roundRect">
            <a:avLst>
              <a:gd name="adj" fmla="val 22541"/>
            </a:avLst>
          </a:prstGeom>
          <a:solidFill>
            <a:srgbClr val="FF5A66"/>
          </a:solidFill>
          <a:ln/>
        </p:spPr>
        <p:txBody>
          <a:bodyPr wrap="square" lIns="47983" tIns="60683" rIns="47983" bIns="60683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2 Произношение</a:t>
            </a:r>
            <a:endParaRPr lang="en-US" sz="1400"/>
          </a:p>
        </p:txBody>
      </p:sp>
      <p:sp>
        <p:nvSpPr>
          <p:cNvPr id="1874940446" name="Text 34"/>
          <p:cNvSpPr/>
          <p:nvPr/>
        </p:nvSpPr>
        <p:spPr bwMode="auto">
          <a:xfrm>
            <a:off x="9386993" y="496570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75720069" name="Text 35"/>
          <p:cNvSpPr/>
          <p:nvPr/>
        </p:nvSpPr>
        <p:spPr bwMode="auto">
          <a:xfrm>
            <a:off x="9742593" y="4869179"/>
            <a:ext cx="1636607" cy="619760"/>
          </a:xfrm>
          <a:prstGeom prst="roundRect">
            <a:avLst>
              <a:gd name="adj" fmla="val 22541"/>
            </a:avLst>
          </a:prstGeom>
          <a:solidFill>
            <a:srgbClr val="FFD23F"/>
          </a:solidFill>
          <a:ln/>
        </p:spPr>
        <p:txBody>
          <a:bodyPr wrap="square" lIns="47983" tIns="73383" rIns="47983" bIns="47983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3</a:t>
            </a:r>
            <a:endParaRPr lang="en-US" sz="1400"/>
          </a:p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Игра-Словарь</a:t>
            </a:r>
            <a:endParaRPr lang="en-US" sz="1400"/>
          </a:p>
        </p:txBody>
      </p:sp>
      <p:sp>
        <p:nvSpPr>
          <p:cNvPr id="1020029769" name="Text 36"/>
          <p:cNvSpPr/>
          <p:nvPr/>
        </p:nvSpPr>
        <p:spPr bwMode="auto">
          <a:xfrm>
            <a:off x="5707380" y="5577842"/>
            <a:ext cx="584197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В каждом уровне 5 миссий; модули открываются строго по очереди.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89612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08 · ИГРОВАЯ ЛОГИКА</a:t>
            </a:r>
            <a:endParaRPr lang="en-US" sz="1200"/>
          </a:p>
        </p:txBody>
      </p:sp>
      <p:sp>
        <p:nvSpPr>
          <p:cNvPr id="1593357235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Игровая логика и начисление XP</a:t>
            </a:r>
            <a:endParaRPr lang="en-US" sz="3800"/>
          </a:p>
        </p:txBody>
      </p:sp>
      <p:sp>
        <p:nvSpPr>
          <p:cNvPr id="1410519008" name="Shape 2"/>
          <p:cNvSpPr/>
          <p:nvPr/>
        </p:nvSpPr>
        <p:spPr bwMode="auto">
          <a:xfrm>
            <a:off x="812800" y="1448327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087682800" name="Text 3"/>
          <p:cNvSpPr/>
          <p:nvPr/>
        </p:nvSpPr>
        <p:spPr bwMode="auto">
          <a:xfrm>
            <a:off x="812800" y="1850603"/>
            <a:ext cx="5284724" cy="161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500"/>
              </a:lnSpc>
              <a:buNone/>
              <a:defRPr/>
            </a:pPr>
            <a:r>
              <a:rPr lang="en-US" sz="125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70%</a:t>
            </a:r>
            <a:endParaRPr lang="en-US" sz="12500"/>
          </a:p>
        </p:txBody>
      </p:sp>
      <p:sp>
        <p:nvSpPr>
          <p:cNvPr id="1055834971" name="Text 4"/>
          <p:cNvSpPr/>
          <p:nvPr/>
        </p:nvSpPr>
        <p:spPr bwMode="auto">
          <a:xfrm>
            <a:off x="812800" y="3565103"/>
            <a:ext cx="5284724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порог успешности миссии</a:t>
            </a:r>
            <a:endParaRPr lang="en-US" sz="1700"/>
          </a:p>
        </p:txBody>
      </p:sp>
      <p:sp>
        <p:nvSpPr>
          <p:cNvPr id="1409983326" name="Text 5"/>
          <p:cNvSpPr/>
          <p:nvPr/>
        </p:nvSpPr>
        <p:spPr bwMode="auto">
          <a:xfrm>
            <a:off x="812800" y="3983565"/>
            <a:ext cx="5130800" cy="835660"/>
          </a:xfrm>
          <a:prstGeom prst="roundRect">
            <a:avLst>
              <a:gd name="adj" fmla="val 18237"/>
            </a:avLst>
          </a:prstGeom>
          <a:solidFill>
            <a:srgbClr val="FFFFFF"/>
          </a:solidFill>
          <a:ln/>
        </p:spPr>
        <p:txBody>
          <a:bodyPr wrap="square" lIns="133164" tIns="133164" rIns="0" bIns="107764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Процент считает сервер по фактическим ответам, а не по числу, присланному клиентом.</a:t>
            </a:r>
            <a:endParaRPr lang="en-US" sz="1400"/>
          </a:p>
        </p:txBody>
      </p:sp>
      <p:sp>
        <p:nvSpPr>
          <p:cNvPr id="1211356278" name="Shape 6"/>
          <p:cNvSpPr/>
          <p:nvPr/>
        </p:nvSpPr>
        <p:spPr bwMode="auto">
          <a:xfrm>
            <a:off x="6248400" y="1765827"/>
            <a:ext cx="5130800" cy="961390"/>
          </a:xfrm>
          <a:prstGeom prst="roundRect">
            <a:avLst>
              <a:gd name="adj" fmla="val 18494"/>
            </a:avLst>
          </a:prstGeom>
          <a:solidFill>
            <a:srgbClr val="22E1B0"/>
          </a:solidFill>
          <a:ln/>
        </p:spPr>
      </p:sp>
      <p:sp>
        <p:nvSpPr>
          <p:cNvPr id="1097327090" name="Text 7"/>
          <p:cNvSpPr/>
          <p:nvPr/>
        </p:nvSpPr>
        <p:spPr bwMode="auto">
          <a:xfrm>
            <a:off x="6451600" y="1969027"/>
            <a:ext cx="486613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  <a:defRPr/>
            </a:pPr>
            <a:r>
              <a:rPr lang="en-US" sz="18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Первое прохождение</a:t>
            </a:r>
            <a:endParaRPr lang="en-US" sz="1800"/>
          </a:p>
        </p:txBody>
      </p:sp>
      <p:sp>
        <p:nvSpPr>
          <p:cNvPr id="1451317353" name="Text 8"/>
          <p:cNvSpPr/>
          <p:nvPr/>
        </p:nvSpPr>
        <p:spPr bwMode="auto">
          <a:xfrm>
            <a:off x="6451600" y="2283991"/>
            <a:ext cx="486613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Повышенная награда XP — только на сервере.</a:t>
            </a:r>
            <a:endParaRPr lang="en-US" sz="1400"/>
          </a:p>
        </p:txBody>
      </p:sp>
      <p:sp>
        <p:nvSpPr>
          <p:cNvPr id="744903817" name="Shape 9"/>
          <p:cNvSpPr/>
          <p:nvPr/>
        </p:nvSpPr>
        <p:spPr bwMode="auto">
          <a:xfrm>
            <a:off x="6248400" y="2854220"/>
            <a:ext cx="5130800" cy="961390"/>
          </a:xfrm>
          <a:prstGeom prst="roundRect">
            <a:avLst>
              <a:gd name="adj" fmla="val 18494"/>
            </a:avLst>
          </a:prstGeom>
          <a:solidFill>
            <a:srgbClr val="7CC4FF"/>
          </a:solidFill>
          <a:ln/>
        </p:spPr>
      </p:sp>
      <p:sp>
        <p:nvSpPr>
          <p:cNvPr id="1607595553" name="Text 10"/>
          <p:cNvSpPr/>
          <p:nvPr/>
        </p:nvSpPr>
        <p:spPr bwMode="auto">
          <a:xfrm>
            <a:off x="6451600" y="3057420"/>
            <a:ext cx="486613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  <a:defRPr/>
            </a:pPr>
            <a:r>
              <a:rPr lang="en-US" sz="18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Повторное прохождение</a:t>
            </a:r>
            <a:endParaRPr lang="en-US" sz="1800"/>
          </a:p>
        </p:txBody>
      </p:sp>
      <p:sp>
        <p:nvSpPr>
          <p:cNvPr id="1274132548" name="Text 11"/>
          <p:cNvSpPr/>
          <p:nvPr/>
        </p:nvSpPr>
        <p:spPr bwMode="auto">
          <a:xfrm>
            <a:off x="6451600" y="3372377"/>
            <a:ext cx="486613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130F3A"/>
                </a:solidFill>
                <a:latin typeface="Inter"/>
                <a:ea typeface="Inter"/>
                <a:cs typeface="Inter"/>
              </a:rPr>
              <a:t>Сниженная награда XP.</a:t>
            </a:r>
            <a:endParaRPr lang="en-US" sz="1400"/>
          </a:p>
        </p:txBody>
      </p:sp>
      <p:sp>
        <p:nvSpPr>
          <p:cNvPr id="578924249" name="Shape 12"/>
          <p:cNvSpPr/>
          <p:nvPr/>
        </p:nvSpPr>
        <p:spPr bwMode="auto">
          <a:xfrm>
            <a:off x="6248400" y="3942612"/>
            <a:ext cx="5130800" cy="961390"/>
          </a:xfrm>
          <a:prstGeom prst="roundRect">
            <a:avLst>
              <a:gd name="adj" fmla="val 18494"/>
            </a:avLst>
          </a:prstGeom>
          <a:solidFill>
            <a:srgbClr val="FF5A66"/>
          </a:solidFill>
          <a:ln/>
        </p:spPr>
      </p:sp>
      <p:sp>
        <p:nvSpPr>
          <p:cNvPr id="113784288" name="Text 13"/>
          <p:cNvSpPr/>
          <p:nvPr/>
        </p:nvSpPr>
        <p:spPr bwMode="auto">
          <a:xfrm>
            <a:off x="6451600" y="4145812"/>
            <a:ext cx="486613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  <a:defRPr/>
            </a:pPr>
            <a:r>
              <a:rPr lang="en-US" sz="18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Результат ниже порога</a:t>
            </a:r>
            <a:endParaRPr lang="en-US" sz="1800"/>
          </a:p>
        </p:txBody>
      </p:sp>
      <p:sp>
        <p:nvSpPr>
          <p:cNvPr id="1504376859" name="Text 14"/>
          <p:cNvSpPr/>
          <p:nvPr/>
        </p:nvSpPr>
        <p:spPr bwMode="auto">
          <a:xfrm>
            <a:off x="6451600" y="4460770"/>
            <a:ext cx="486613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130F3A"/>
                </a:solidFill>
                <a:latin typeface="Inter"/>
                <a:ea typeface="Inter"/>
                <a:cs typeface="Inter"/>
              </a:rPr>
              <a:t>Опыт не начисляется.</a:t>
            </a:r>
            <a:endParaRPr lang="en-US" sz="1400"/>
          </a:p>
        </p:txBody>
      </p:sp>
      <p:sp>
        <p:nvSpPr>
          <p:cNvPr id="1279548993" name="Shape 15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897613500" name="Shape 16"/>
          <p:cNvSpPr/>
          <p:nvPr/>
        </p:nvSpPr>
        <p:spPr bwMode="auto">
          <a:xfrm>
            <a:off x="812800" y="6350000"/>
            <a:ext cx="381000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1191220356" name="Text 17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900 · LVL 9/1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52759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09 · ЗАЩИТА</a:t>
            </a:r>
            <a:endParaRPr lang="en-US" sz="1200"/>
          </a:p>
        </p:txBody>
      </p:sp>
      <p:sp>
        <p:nvSpPr>
          <p:cNvPr id="105490366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Защита игровой логики и транзакции</a:t>
            </a:r>
            <a:endParaRPr lang="en-US" sz="3800"/>
          </a:p>
        </p:txBody>
      </p:sp>
      <p:sp>
        <p:nvSpPr>
          <p:cNvPr id="1783147680" name="Shape 2"/>
          <p:cNvSpPr/>
          <p:nvPr/>
        </p:nvSpPr>
        <p:spPr bwMode="auto">
          <a:xfrm>
            <a:off x="812800" y="1448327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386567996" name="Shape 3"/>
          <p:cNvSpPr/>
          <p:nvPr/>
        </p:nvSpPr>
        <p:spPr bwMode="auto">
          <a:xfrm>
            <a:off x="812800" y="1765827"/>
            <a:ext cx="2317750" cy="1371600"/>
          </a:xfrm>
          <a:prstGeom prst="roundRect">
            <a:avLst>
              <a:gd name="adj" fmla="val 11111"/>
            </a:avLst>
          </a:prstGeom>
          <a:solidFill>
            <a:srgbClr val="FFD23F"/>
          </a:solidFill>
          <a:ln/>
        </p:spPr>
      </p:sp>
      <p:sp>
        <p:nvSpPr>
          <p:cNvPr id="237987220" name="Text 4"/>
          <p:cNvSpPr/>
          <p:nvPr/>
        </p:nvSpPr>
        <p:spPr bwMode="auto">
          <a:xfrm>
            <a:off x="965200" y="1918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1</a:t>
            </a:r>
            <a:endParaRPr lang="en-US" sz="1300"/>
          </a:p>
        </p:txBody>
      </p:sp>
      <p:sp>
        <p:nvSpPr>
          <p:cNvPr id="1525853031" name="Text 5"/>
          <p:cNvSpPr/>
          <p:nvPr/>
        </p:nvSpPr>
        <p:spPr bwMode="auto">
          <a:xfrm>
            <a:off x="965200" y="2286527"/>
            <a:ext cx="207333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Старт</a:t>
            </a:r>
            <a:endParaRPr lang="en-US" sz="1600"/>
          </a:p>
        </p:txBody>
      </p:sp>
      <p:sp>
        <p:nvSpPr>
          <p:cNvPr id="1109965526" name="Text 6"/>
          <p:cNvSpPr/>
          <p:nvPr/>
        </p:nvSpPr>
        <p:spPr bwMode="auto">
          <a:xfrm>
            <a:off x="965200" y="2573548"/>
            <a:ext cx="207333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30F3A"/>
                </a:solidFill>
                <a:latin typeface="Inter"/>
                <a:ea typeface="Inter"/>
                <a:cs typeface="Inter"/>
              </a:rPr>
              <a:t>Клиент начинает попытку на сервере</a:t>
            </a:r>
            <a:endParaRPr lang="en-US" sz="1200"/>
          </a:p>
        </p:txBody>
      </p:sp>
      <p:sp>
        <p:nvSpPr>
          <p:cNvPr id="29038024" name="Text 7"/>
          <p:cNvSpPr/>
          <p:nvPr/>
        </p:nvSpPr>
        <p:spPr bwMode="auto">
          <a:xfrm>
            <a:off x="3181350" y="22382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754848279" name="Shape 8"/>
          <p:cNvSpPr/>
          <p:nvPr/>
        </p:nvSpPr>
        <p:spPr bwMode="auto">
          <a:xfrm>
            <a:off x="3562350" y="1765827"/>
            <a:ext cx="2317750" cy="1371600"/>
          </a:xfrm>
          <a:prstGeom prst="roundRect">
            <a:avLst>
              <a:gd name="adj" fmla="val 11111"/>
            </a:avLst>
          </a:prstGeom>
          <a:solidFill>
            <a:srgbClr val="7CC4FF"/>
          </a:solidFill>
          <a:ln/>
        </p:spPr>
      </p:sp>
      <p:sp>
        <p:nvSpPr>
          <p:cNvPr id="929856717" name="Text 9"/>
          <p:cNvSpPr/>
          <p:nvPr/>
        </p:nvSpPr>
        <p:spPr bwMode="auto">
          <a:xfrm>
            <a:off x="3714750" y="1918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2</a:t>
            </a:r>
            <a:endParaRPr lang="en-US" sz="1300"/>
          </a:p>
        </p:txBody>
      </p:sp>
      <p:sp>
        <p:nvSpPr>
          <p:cNvPr id="2075210163" name="Text 10"/>
          <p:cNvSpPr/>
          <p:nvPr/>
        </p:nvSpPr>
        <p:spPr bwMode="auto">
          <a:xfrm>
            <a:off x="3714750" y="2286527"/>
            <a:ext cx="207333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Выдача</a:t>
            </a:r>
            <a:endParaRPr lang="en-US" sz="1600"/>
          </a:p>
        </p:txBody>
      </p:sp>
      <p:sp>
        <p:nvSpPr>
          <p:cNvPr id="766664136" name="Text 11"/>
          <p:cNvSpPr/>
          <p:nvPr/>
        </p:nvSpPr>
        <p:spPr bwMode="auto">
          <a:xfrm>
            <a:off x="3714750" y="2573548"/>
            <a:ext cx="207333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Получает id попытки и набор заданий</a:t>
            </a:r>
            <a:endParaRPr lang="en-US" sz="1200"/>
          </a:p>
        </p:txBody>
      </p:sp>
      <p:sp>
        <p:nvSpPr>
          <p:cNvPr id="1556710835" name="Text 12"/>
          <p:cNvSpPr/>
          <p:nvPr/>
        </p:nvSpPr>
        <p:spPr bwMode="auto">
          <a:xfrm>
            <a:off x="5930900" y="22382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581795993" name="Shape 13"/>
          <p:cNvSpPr/>
          <p:nvPr/>
        </p:nvSpPr>
        <p:spPr bwMode="auto">
          <a:xfrm>
            <a:off x="6311900" y="1765827"/>
            <a:ext cx="2317750" cy="1371600"/>
          </a:xfrm>
          <a:prstGeom prst="roundRect">
            <a:avLst>
              <a:gd name="adj" fmla="val 11111"/>
            </a:avLst>
          </a:prstGeom>
          <a:solidFill>
            <a:srgbClr val="22E1B0"/>
          </a:solidFill>
          <a:ln/>
        </p:spPr>
      </p:sp>
      <p:sp>
        <p:nvSpPr>
          <p:cNvPr id="1804792188" name="Text 14"/>
          <p:cNvSpPr/>
          <p:nvPr/>
        </p:nvSpPr>
        <p:spPr bwMode="auto">
          <a:xfrm>
            <a:off x="6464300" y="1918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3</a:t>
            </a:r>
            <a:endParaRPr lang="en-US" sz="1300"/>
          </a:p>
        </p:txBody>
      </p:sp>
      <p:sp>
        <p:nvSpPr>
          <p:cNvPr id="1886913570" name="Text 15"/>
          <p:cNvSpPr/>
          <p:nvPr/>
        </p:nvSpPr>
        <p:spPr bwMode="auto">
          <a:xfrm>
            <a:off x="6464300" y="2286527"/>
            <a:ext cx="207333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Результат</a:t>
            </a:r>
            <a:endParaRPr lang="en-US" sz="1600"/>
          </a:p>
        </p:txBody>
      </p:sp>
      <p:sp>
        <p:nvSpPr>
          <p:cNvPr id="1904631622" name="Text 16"/>
          <p:cNvSpPr/>
          <p:nvPr/>
        </p:nvSpPr>
        <p:spPr bwMode="auto">
          <a:xfrm>
            <a:off x="6464300" y="2573548"/>
            <a:ext cx="207333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Принимается только по этой попытке</a:t>
            </a:r>
            <a:endParaRPr lang="en-US" sz="1200"/>
          </a:p>
        </p:txBody>
      </p:sp>
      <p:sp>
        <p:nvSpPr>
          <p:cNvPr id="469174764" name="Text 17"/>
          <p:cNvSpPr/>
          <p:nvPr/>
        </p:nvSpPr>
        <p:spPr bwMode="auto">
          <a:xfrm>
            <a:off x="8680450" y="22382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764555817" name="Shape 18"/>
          <p:cNvSpPr/>
          <p:nvPr/>
        </p:nvSpPr>
        <p:spPr bwMode="auto">
          <a:xfrm>
            <a:off x="9061450" y="1765827"/>
            <a:ext cx="2317750" cy="1371600"/>
          </a:xfrm>
          <a:prstGeom prst="roundRect">
            <a:avLst>
              <a:gd name="adj" fmla="val 11111"/>
            </a:avLst>
          </a:prstGeom>
          <a:solidFill>
            <a:srgbClr val="FF5A66"/>
          </a:solidFill>
          <a:ln/>
        </p:spPr>
      </p:sp>
      <p:sp>
        <p:nvSpPr>
          <p:cNvPr id="1939249484" name="Text 19"/>
          <p:cNvSpPr/>
          <p:nvPr/>
        </p:nvSpPr>
        <p:spPr bwMode="auto">
          <a:xfrm>
            <a:off x="9213850" y="1918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4</a:t>
            </a:r>
            <a:endParaRPr lang="en-US" sz="1300"/>
          </a:p>
        </p:txBody>
      </p:sp>
      <p:sp>
        <p:nvSpPr>
          <p:cNvPr id="1996984345" name="Text 20"/>
          <p:cNvSpPr/>
          <p:nvPr/>
        </p:nvSpPr>
        <p:spPr bwMode="auto">
          <a:xfrm>
            <a:off x="9213850" y="2286527"/>
            <a:ext cx="207333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Закрытие</a:t>
            </a:r>
            <a:endParaRPr lang="en-US" sz="1600"/>
          </a:p>
        </p:txBody>
      </p:sp>
      <p:sp>
        <p:nvSpPr>
          <p:cNvPr id="994837606" name="Text 21"/>
          <p:cNvSpPr/>
          <p:nvPr/>
        </p:nvSpPr>
        <p:spPr bwMode="auto">
          <a:xfrm>
            <a:off x="9213850" y="2573548"/>
            <a:ext cx="207333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Попытка закрывается один раз</a:t>
            </a:r>
            <a:endParaRPr lang="en-US" sz="1200"/>
          </a:p>
        </p:txBody>
      </p:sp>
      <p:sp>
        <p:nvSpPr>
          <p:cNvPr id="1016534245" name="Text 22"/>
          <p:cNvSpPr/>
          <p:nvPr/>
        </p:nvSpPr>
        <p:spPr bwMode="auto">
          <a:xfrm>
            <a:off x="812800" y="3277127"/>
            <a:ext cx="10566400" cy="810260"/>
          </a:xfrm>
          <a:prstGeom prst="roundRect">
            <a:avLst>
              <a:gd name="adj" fmla="val 18809"/>
            </a:avLst>
          </a:prstGeom>
          <a:solidFill>
            <a:srgbClr val="FF5A66"/>
          </a:solidFill>
          <a:ln/>
        </p:spPr>
        <p:txBody>
          <a:bodyPr wrap="square" lIns="120464" tIns="120464" rIns="0" bIns="95064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Повторная отправка того же запроса → конфликт, XP не начисляется. Так закрыты подделка результата и двойное начисление.</a:t>
            </a:r>
            <a:endParaRPr lang="en-US" sz="1400"/>
          </a:p>
        </p:txBody>
      </p:sp>
      <p:sp>
        <p:nvSpPr>
          <p:cNvPr id="1317941111" name="Shape 23"/>
          <p:cNvSpPr/>
          <p:nvPr/>
        </p:nvSpPr>
        <p:spPr bwMode="auto">
          <a:xfrm>
            <a:off x="812800" y="4227091"/>
            <a:ext cx="10566400" cy="1283335"/>
          </a:xfrm>
          <a:prstGeom prst="roundRect">
            <a:avLst>
              <a:gd name="adj" fmla="val 13855"/>
            </a:avLst>
          </a:prstGeom>
          <a:solidFill>
            <a:srgbClr val="201B57"/>
          </a:solidFill>
          <a:ln/>
        </p:spPr>
      </p:sp>
      <p:sp>
        <p:nvSpPr>
          <p:cNvPr id="2042265594" name="Text 24"/>
          <p:cNvSpPr/>
          <p:nvPr/>
        </p:nvSpPr>
        <p:spPr bwMode="auto">
          <a:xfrm>
            <a:off x="990600" y="4404891"/>
            <a:ext cx="10517124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Атомарность</a:t>
            </a:r>
            <a:endParaRPr lang="en-US" sz="1700"/>
          </a:p>
        </p:txBody>
      </p:sp>
      <p:sp>
        <p:nvSpPr>
          <p:cNvPr id="1325350831" name="Text 25"/>
          <p:cNvSpPr/>
          <p:nvPr/>
        </p:nvSpPr>
        <p:spPr bwMode="auto">
          <a:xfrm>
            <a:off x="990600" y="4705877"/>
            <a:ext cx="1385147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начисление XP</a:t>
            </a:r>
            <a:endParaRPr lang="en-US" sz="1200"/>
          </a:p>
        </p:txBody>
      </p:sp>
      <p:sp>
        <p:nvSpPr>
          <p:cNvPr id="384546037" name="Text 26"/>
          <p:cNvSpPr/>
          <p:nvPr/>
        </p:nvSpPr>
        <p:spPr bwMode="auto">
          <a:xfrm>
            <a:off x="2439247" y="4705877"/>
            <a:ext cx="941176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прогресс</a:t>
            </a:r>
            <a:endParaRPr lang="en-US" sz="1200"/>
          </a:p>
        </p:txBody>
      </p:sp>
      <p:sp>
        <p:nvSpPr>
          <p:cNvPr id="1304043602" name="Text 27"/>
          <p:cNvSpPr/>
          <p:nvPr/>
        </p:nvSpPr>
        <p:spPr bwMode="auto">
          <a:xfrm>
            <a:off x="3443922" y="4705877"/>
            <a:ext cx="2068830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калибровка + автозачёт</a:t>
            </a:r>
            <a:endParaRPr lang="en-US" sz="1200"/>
          </a:p>
        </p:txBody>
      </p:sp>
      <p:sp>
        <p:nvSpPr>
          <p:cNvPr id="1743731382" name="Text 28"/>
          <p:cNvSpPr/>
          <p:nvPr/>
        </p:nvSpPr>
        <p:spPr bwMode="auto">
          <a:xfrm>
            <a:off x="5576253" y="4705877"/>
            <a:ext cx="1567921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создание миссий</a:t>
            </a:r>
            <a:endParaRPr lang="en-US" sz="1200"/>
          </a:p>
        </p:txBody>
      </p:sp>
      <p:sp>
        <p:nvSpPr>
          <p:cNvPr id="183046275" name="Text 29"/>
          <p:cNvSpPr/>
          <p:nvPr/>
        </p:nvSpPr>
        <p:spPr bwMode="auto">
          <a:xfrm>
            <a:off x="7207673" y="4705877"/>
            <a:ext cx="1241637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сидирование</a:t>
            </a:r>
            <a:endParaRPr lang="en-US" sz="1200"/>
          </a:p>
        </p:txBody>
      </p:sp>
      <p:sp>
        <p:nvSpPr>
          <p:cNvPr id="1962516437" name="Text 30"/>
          <p:cNvSpPr/>
          <p:nvPr/>
        </p:nvSpPr>
        <p:spPr bwMode="auto">
          <a:xfrm>
            <a:off x="990600" y="5109741"/>
            <a:ext cx="10517124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Inter"/>
                <a:ea typeface="Inter"/>
                <a:cs typeface="Inter"/>
              </a:rPr>
              <a:t>XP растёт атомарно на стороне БД, при любой ошибке — откат.</a:t>
            </a:r>
            <a:endParaRPr lang="en-US" sz="1300"/>
          </a:p>
        </p:txBody>
      </p:sp>
      <p:sp>
        <p:nvSpPr>
          <p:cNvPr id="1279897043" name="Shape 31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1635718309" name="Shape 32"/>
          <p:cNvSpPr/>
          <p:nvPr/>
        </p:nvSpPr>
        <p:spPr bwMode="auto">
          <a:xfrm>
            <a:off x="812800" y="6350000"/>
            <a:ext cx="422910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1250241756" name="Text 33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1000 · LVL 10/1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811584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10 · КЛИЕНТ</a:t>
            </a:r>
            <a:endParaRPr lang="en-US" sz="1200"/>
          </a:p>
        </p:txBody>
      </p:sp>
      <p:sp>
        <p:nvSpPr>
          <p:cNvPr id="705960289" name="Text 1"/>
          <p:cNvSpPr/>
          <p:nvPr>
            <p:ph type="title"/>
          </p:nvPr>
        </p:nvSpPr>
        <p:spPr bwMode="auto">
          <a:xfrm>
            <a:off x="812800" y="812800"/>
            <a:ext cx="10883392" cy="1067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Клиентская часть и панель преподавателя</a:t>
            </a:r>
            <a:endParaRPr lang="en-US" sz="3800"/>
          </a:p>
        </p:txBody>
      </p:sp>
      <p:sp>
        <p:nvSpPr>
          <p:cNvPr id="753936892" name="Shape 2"/>
          <p:cNvSpPr/>
          <p:nvPr/>
        </p:nvSpPr>
        <p:spPr bwMode="auto">
          <a:xfrm>
            <a:off x="812800" y="196956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142714135" name="Shape 3"/>
          <p:cNvSpPr/>
          <p:nvPr/>
        </p:nvSpPr>
        <p:spPr bwMode="auto">
          <a:xfrm>
            <a:off x="812800" y="2287060"/>
            <a:ext cx="6217920" cy="3114040"/>
          </a:xfrm>
          <a:prstGeom prst="roundRect">
            <a:avLst>
              <a:gd name="adj" fmla="val 4894"/>
            </a:avLst>
          </a:prstGeom>
          <a:solidFill>
            <a:srgbClr val="FFFFFF"/>
          </a:solidFill>
          <a:ln/>
        </p:spPr>
      </p:sp>
      <p:sp>
        <p:nvSpPr>
          <p:cNvPr id="121506896" name="Shape 4"/>
          <p:cNvSpPr/>
          <p:nvPr/>
        </p:nvSpPr>
        <p:spPr bwMode="auto">
          <a:xfrm>
            <a:off x="812800" y="2287060"/>
            <a:ext cx="6217920" cy="416560"/>
          </a:xfrm>
          <a:custGeom>
            <a:avLst/>
            <a:gdLst/>
            <a:ahLst/>
            <a:cxnLst/>
            <a:rect l="l" t="t" r="r" b="b"/>
            <a:pathLst>
              <a:path w="6217920" h="416560" fill="norm" stroke="1" extrusionOk="0">
                <a:moveTo>
                  <a:pt x="0" y="152400"/>
                </a:moveTo>
                <a:arcTo wR="152400" hR="152400" stAng="10800000" swAng="5400000"/>
                <a:lnTo>
                  <a:pt x="6065520" y="0"/>
                </a:lnTo>
                <a:arcTo wR="152400" hR="152400" stAng="16200000" swAng="5400000"/>
                <a:lnTo>
                  <a:pt x="621792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201B57"/>
          </a:solidFill>
          <a:ln/>
        </p:spPr>
      </p:sp>
      <p:sp>
        <p:nvSpPr>
          <p:cNvPr id="1086382179" name="Shape 5"/>
          <p:cNvSpPr/>
          <p:nvPr/>
        </p:nvSpPr>
        <p:spPr bwMode="auto">
          <a:xfrm>
            <a:off x="952500" y="2431839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FF5A66"/>
          </a:solidFill>
          <a:ln/>
        </p:spPr>
      </p:sp>
      <p:sp>
        <p:nvSpPr>
          <p:cNvPr id="1423999806" name="Shape 6"/>
          <p:cNvSpPr/>
          <p:nvPr/>
        </p:nvSpPr>
        <p:spPr bwMode="auto">
          <a:xfrm>
            <a:off x="1143000" y="2431839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355132512" name="Shape 7"/>
          <p:cNvSpPr/>
          <p:nvPr/>
        </p:nvSpPr>
        <p:spPr bwMode="auto">
          <a:xfrm>
            <a:off x="1333500" y="2431839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438551076" name="Text 8"/>
          <p:cNvSpPr/>
          <p:nvPr/>
        </p:nvSpPr>
        <p:spPr bwMode="auto">
          <a:xfrm>
            <a:off x="1600200" y="2388660"/>
            <a:ext cx="20142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English Quest · Next.js</a:t>
            </a:r>
            <a:endParaRPr lang="en-US" sz="1200"/>
          </a:p>
        </p:txBody>
      </p:sp>
      <p:sp>
        <p:nvSpPr>
          <p:cNvPr id="1383625690" name="Text 9"/>
          <p:cNvSpPr/>
          <p:nvPr/>
        </p:nvSpPr>
        <p:spPr bwMode="auto">
          <a:xfrm>
            <a:off x="990600" y="2881418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Главная</a:t>
            </a:r>
            <a:endParaRPr lang="en-US" sz="1200"/>
          </a:p>
        </p:txBody>
      </p:sp>
      <p:sp>
        <p:nvSpPr>
          <p:cNvPr id="1929534698" name="Text 10"/>
          <p:cNvSpPr/>
          <p:nvPr/>
        </p:nvSpPr>
        <p:spPr bwMode="auto">
          <a:xfrm>
            <a:off x="2970107" y="2881418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Вход и регистрация</a:t>
            </a:r>
            <a:endParaRPr lang="en-US" sz="1200"/>
          </a:p>
        </p:txBody>
      </p:sp>
      <p:sp>
        <p:nvSpPr>
          <p:cNvPr id="2048895100" name="Text 11"/>
          <p:cNvSpPr/>
          <p:nvPr/>
        </p:nvSpPr>
        <p:spPr bwMode="auto">
          <a:xfrm>
            <a:off x="4949613" y="2881418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Калибровка</a:t>
            </a:r>
            <a:endParaRPr lang="en-US" sz="1200"/>
          </a:p>
        </p:txBody>
      </p:sp>
      <p:sp>
        <p:nvSpPr>
          <p:cNvPr id="1335220981" name="Text 12"/>
          <p:cNvSpPr/>
          <p:nvPr/>
        </p:nvSpPr>
        <p:spPr bwMode="auto">
          <a:xfrm>
            <a:off x="990600" y="3297975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Дашборд</a:t>
            </a:r>
            <a:endParaRPr lang="en-US" sz="1200"/>
          </a:p>
        </p:txBody>
      </p:sp>
      <p:sp>
        <p:nvSpPr>
          <p:cNvPr id="664875770" name="Text 13"/>
          <p:cNvSpPr/>
          <p:nvPr/>
        </p:nvSpPr>
        <p:spPr bwMode="auto">
          <a:xfrm>
            <a:off x="2970107" y="3297975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Уровни</a:t>
            </a:r>
            <a:endParaRPr lang="en-US" sz="1200"/>
          </a:p>
        </p:txBody>
      </p:sp>
      <p:sp>
        <p:nvSpPr>
          <p:cNvPr id="1895076712" name="Text 14"/>
          <p:cNvSpPr/>
          <p:nvPr/>
        </p:nvSpPr>
        <p:spPr bwMode="auto">
          <a:xfrm>
            <a:off x="4949613" y="3297975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Миссия</a:t>
            </a:r>
            <a:endParaRPr lang="en-US" sz="1200"/>
          </a:p>
        </p:txBody>
      </p:sp>
      <p:sp>
        <p:nvSpPr>
          <p:cNvPr id="945234804" name="Text 15"/>
          <p:cNvSpPr/>
          <p:nvPr/>
        </p:nvSpPr>
        <p:spPr bwMode="auto">
          <a:xfrm>
            <a:off x="990600" y="3714539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Тест</a:t>
            </a:r>
            <a:endParaRPr lang="en-US" sz="1200"/>
          </a:p>
        </p:txBody>
      </p:sp>
      <p:sp>
        <p:nvSpPr>
          <p:cNvPr id="1615780674" name="Text 16"/>
          <p:cNvSpPr/>
          <p:nvPr/>
        </p:nvSpPr>
        <p:spPr bwMode="auto">
          <a:xfrm>
            <a:off x="2970107" y="3714539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Произношение</a:t>
            </a:r>
            <a:endParaRPr lang="en-US" sz="1200"/>
          </a:p>
        </p:txBody>
      </p:sp>
      <p:sp>
        <p:nvSpPr>
          <p:cNvPr id="1468906479" name="Text 17"/>
          <p:cNvSpPr/>
          <p:nvPr/>
        </p:nvSpPr>
        <p:spPr bwMode="auto">
          <a:xfrm>
            <a:off x="4949613" y="3714539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Аркада</a:t>
            </a:r>
            <a:endParaRPr lang="en-US" sz="1200"/>
          </a:p>
        </p:txBody>
      </p:sp>
      <p:sp>
        <p:nvSpPr>
          <p:cNvPr id="251376668" name="Text 18"/>
          <p:cNvSpPr/>
          <p:nvPr/>
        </p:nvSpPr>
        <p:spPr bwMode="auto">
          <a:xfrm>
            <a:off x="990600" y="4131097"/>
            <a:ext cx="1903307" cy="553720"/>
          </a:xfrm>
          <a:custGeom>
            <a:avLst/>
            <a:gdLst/>
            <a:ahLst/>
            <a:cxnLst/>
            <a:rect l="l" t="t" r="r" b="b"/>
            <a:pathLst>
              <a:path w="1903307" h="553720" fill="norm" stroke="1" extrusionOk="0">
                <a:moveTo>
                  <a:pt x="254000" y="0"/>
                </a:moveTo>
                <a:lnTo>
                  <a:pt x="1649307" y="0"/>
                </a:lnTo>
                <a:arcTo wR="254000" hR="254000" stAng="16200000" swAng="5400000"/>
                <a:lnTo>
                  <a:pt x="1903307" y="299720"/>
                </a:lnTo>
                <a:arcTo wR="254000" hR="254000" stAng="0" swAng="5400000"/>
                <a:lnTo>
                  <a:pt x="254000" y="55372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2F0FF"/>
          </a:solidFill>
          <a:ln/>
        </p:spPr>
        <p:txBody>
          <a:bodyPr wrap="square" lIns="88900" tIns="63500" rIns="88900" bIns="381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Панель преподавателя</a:t>
            </a:r>
            <a:endParaRPr lang="en-US" sz="1200"/>
          </a:p>
        </p:txBody>
      </p:sp>
      <p:sp>
        <p:nvSpPr>
          <p:cNvPr id="1008217932" name="Text 19"/>
          <p:cNvSpPr/>
          <p:nvPr/>
        </p:nvSpPr>
        <p:spPr bwMode="auto">
          <a:xfrm>
            <a:off x="990600" y="4811818"/>
            <a:ext cx="603819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Адаптивный интерфейс · светлая и тёмная темы · распознавание речи через браузер</a:t>
            </a:r>
            <a:endParaRPr lang="en-US" sz="1200"/>
          </a:p>
        </p:txBody>
      </p:sp>
      <p:sp>
        <p:nvSpPr>
          <p:cNvPr id="1712101054" name="Shape 20"/>
          <p:cNvSpPr/>
          <p:nvPr/>
        </p:nvSpPr>
        <p:spPr bwMode="auto">
          <a:xfrm>
            <a:off x="7233920" y="2287060"/>
            <a:ext cx="4145280" cy="2501900"/>
          </a:xfrm>
          <a:prstGeom prst="roundRect">
            <a:avLst>
              <a:gd name="adj" fmla="val 7107"/>
            </a:avLst>
          </a:prstGeom>
          <a:solidFill>
            <a:srgbClr val="22E1B0"/>
          </a:solidFill>
          <a:ln/>
        </p:spPr>
      </p:sp>
      <p:sp>
        <p:nvSpPr>
          <p:cNvPr id="88614269" name="Text 21"/>
          <p:cNvSpPr/>
          <p:nvPr/>
        </p:nvSpPr>
        <p:spPr bwMode="auto">
          <a:xfrm>
            <a:off x="7449820" y="2502960"/>
            <a:ext cx="38248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ТОЛЬКО РОЛЬ TEACHER</a:t>
            </a:r>
            <a:endParaRPr lang="en-US" sz="1200"/>
          </a:p>
        </p:txBody>
      </p:sp>
      <p:sp>
        <p:nvSpPr>
          <p:cNvPr id="2111965231" name="Text 22"/>
          <p:cNvSpPr/>
          <p:nvPr/>
        </p:nvSpPr>
        <p:spPr bwMode="auto">
          <a:xfrm>
            <a:off x="7449820" y="2779818"/>
            <a:ext cx="382488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  <a:defRPr/>
            </a:pPr>
            <a:r>
              <a:rPr lang="en-US" sz="19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Панель преподавателя</a:t>
            </a:r>
            <a:endParaRPr lang="en-US" sz="1900"/>
          </a:p>
        </p:txBody>
      </p:sp>
      <p:sp>
        <p:nvSpPr>
          <p:cNvPr id="787257356" name="Text 23"/>
          <p:cNvSpPr/>
          <p:nvPr/>
        </p:nvSpPr>
        <p:spPr bwMode="auto">
          <a:xfrm>
            <a:off x="7449820" y="3108747"/>
            <a:ext cx="3824884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Управление миссиями, задачами, вопросами, вариантами ответов и словарём.</a:t>
            </a:r>
            <a:endParaRPr lang="en-US" sz="1300"/>
          </a:p>
        </p:txBody>
      </p:sp>
      <p:sp>
        <p:nvSpPr>
          <p:cNvPr id="1762781152" name="Text 24"/>
          <p:cNvSpPr/>
          <p:nvPr/>
        </p:nvSpPr>
        <p:spPr bwMode="auto">
          <a:xfrm>
            <a:off x="7449820" y="3618018"/>
            <a:ext cx="3824884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Редактирование миссии: заголовок, описание, уровень, порядок, публикация.</a:t>
            </a:r>
            <a:endParaRPr lang="en-US" sz="1300"/>
          </a:p>
        </p:txBody>
      </p:sp>
      <p:sp>
        <p:nvSpPr>
          <p:cNvPr id="1925986335" name="Text 25"/>
          <p:cNvSpPr/>
          <p:nvPr/>
        </p:nvSpPr>
        <p:spPr bwMode="auto">
          <a:xfrm>
            <a:off x="7449820" y="4127289"/>
            <a:ext cx="3824884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Перед публикацией: у вопроса не меньше двух вариантов и ровно один правильный.</a:t>
            </a:r>
            <a:endParaRPr lang="en-US" sz="1300"/>
          </a:p>
        </p:txBody>
      </p:sp>
      <p:sp>
        <p:nvSpPr>
          <p:cNvPr id="651542405" name="Shape 26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1039817167" name="Shape 27"/>
          <p:cNvSpPr/>
          <p:nvPr/>
        </p:nvSpPr>
        <p:spPr bwMode="auto">
          <a:xfrm>
            <a:off x="812800" y="6350000"/>
            <a:ext cx="465455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234723703" name="Text 28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1100 · LVL 11/1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102944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МИССИЯ 1</a:t>
            </a:r>
            <a:r>
              <a:rPr lang="ru-RU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1</a:t>
            </a: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 · ИТОГИ</a:t>
            </a:r>
            <a:endParaRPr lang="en-US" sz="1200"/>
          </a:p>
        </p:txBody>
      </p:sp>
      <p:sp>
        <p:nvSpPr>
          <p:cNvPr id="1811720618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Итоги</a:t>
            </a:r>
            <a:endParaRPr lang="en-US" sz="3800"/>
          </a:p>
        </p:txBody>
      </p:sp>
      <p:sp>
        <p:nvSpPr>
          <p:cNvPr id="848493419" name="Shape 2"/>
          <p:cNvSpPr/>
          <p:nvPr/>
        </p:nvSpPr>
        <p:spPr bwMode="auto">
          <a:xfrm>
            <a:off x="812800" y="1448327"/>
            <a:ext cx="762000" cy="635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907328300" name="Text 3"/>
          <p:cNvSpPr/>
          <p:nvPr/>
        </p:nvSpPr>
        <p:spPr bwMode="auto">
          <a:xfrm>
            <a:off x="824780" y="2087771"/>
            <a:ext cx="108833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Работающий backend на FastAPI и клиент на Next.js с полным циклом:</a:t>
            </a:r>
            <a:endParaRPr lang="en-US" sz="1600"/>
          </a:p>
        </p:txBody>
      </p:sp>
      <p:sp>
        <p:nvSpPr>
          <p:cNvPr id="1517230916" name="Text 4"/>
          <p:cNvSpPr/>
          <p:nvPr/>
        </p:nvSpPr>
        <p:spPr bwMode="auto">
          <a:xfrm>
            <a:off x="824780" y="2514492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95064" tIns="95064" rIns="950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Регистрация</a:t>
            </a:r>
            <a:endParaRPr lang="en-US" sz="1400"/>
          </a:p>
        </p:txBody>
      </p:sp>
      <p:sp>
        <p:nvSpPr>
          <p:cNvPr id="1434848961" name="Text 5"/>
          <p:cNvSpPr/>
          <p:nvPr/>
        </p:nvSpPr>
        <p:spPr bwMode="auto">
          <a:xfrm>
            <a:off x="2643420" y="2650385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948894047" name="Text 6"/>
          <p:cNvSpPr/>
          <p:nvPr/>
        </p:nvSpPr>
        <p:spPr bwMode="auto">
          <a:xfrm>
            <a:off x="3024420" y="2514492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95064" tIns="95064" rIns="950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Калибровка</a:t>
            </a:r>
            <a:endParaRPr lang="en-US" sz="1400"/>
          </a:p>
        </p:txBody>
      </p:sp>
      <p:sp>
        <p:nvSpPr>
          <p:cNvPr id="1922827720" name="Text 7"/>
          <p:cNvSpPr/>
          <p:nvPr/>
        </p:nvSpPr>
        <p:spPr bwMode="auto">
          <a:xfrm>
            <a:off x="4843060" y="2650385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66788346" name="Text 8"/>
          <p:cNvSpPr/>
          <p:nvPr/>
        </p:nvSpPr>
        <p:spPr bwMode="auto">
          <a:xfrm>
            <a:off x="5224060" y="2514492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95064" tIns="95064" rIns="950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Миссии</a:t>
            </a:r>
            <a:endParaRPr lang="en-US" sz="1400"/>
          </a:p>
        </p:txBody>
      </p:sp>
      <p:sp>
        <p:nvSpPr>
          <p:cNvPr id="736627264" name="Text 9"/>
          <p:cNvSpPr/>
          <p:nvPr/>
        </p:nvSpPr>
        <p:spPr bwMode="auto">
          <a:xfrm>
            <a:off x="7042700" y="2650385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730468645" name="Text 10"/>
          <p:cNvSpPr/>
          <p:nvPr/>
        </p:nvSpPr>
        <p:spPr bwMode="auto">
          <a:xfrm>
            <a:off x="7423700" y="2514492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95064" tIns="95064" rIns="950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Игра и XP</a:t>
            </a:r>
            <a:endParaRPr lang="en-US" sz="1400"/>
          </a:p>
        </p:txBody>
      </p:sp>
      <p:sp>
        <p:nvSpPr>
          <p:cNvPr id="202844964" name="Text 11"/>
          <p:cNvSpPr/>
          <p:nvPr/>
        </p:nvSpPr>
        <p:spPr bwMode="auto">
          <a:xfrm>
            <a:off x="9242340" y="2650385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944021227" name="Text 12"/>
          <p:cNvSpPr/>
          <p:nvPr/>
        </p:nvSpPr>
        <p:spPr bwMode="auto">
          <a:xfrm>
            <a:off x="9623340" y="2514492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69664" tIns="95064" rIns="696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Панель преподавателя</a:t>
            </a:r>
            <a:endParaRPr lang="en-US" sz="1400"/>
          </a:p>
        </p:txBody>
      </p:sp>
      <p:sp>
        <p:nvSpPr>
          <p:cNvPr id="1983522184" name="Shape 13"/>
          <p:cNvSpPr/>
          <p:nvPr/>
        </p:nvSpPr>
        <p:spPr bwMode="auto">
          <a:xfrm>
            <a:off x="824780" y="3365392"/>
            <a:ext cx="3420533" cy="1127760"/>
          </a:xfrm>
          <a:prstGeom prst="roundRect">
            <a:avLst>
              <a:gd name="adj" fmla="val 15766"/>
            </a:avLst>
          </a:prstGeom>
          <a:solidFill>
            <a:srgbClr val="7CC4FF"/>
          </a:solidFill>
          <a:ln/>
        </p:spPr>
      </p:sp>
      <p:sp>
        <p:nvSpPr>
          <p:cNvPr id="984119" name="Text 14"/>
          <p:cNvSpPr/>
          <p:nvPr/>
        </p:nvSpPr>
        <p:spPr bwMode="auto">
          <a:xfrm>
            <a:off x="1015280" y="3555892"/>
            <a:ext cx="3130719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Достоверность</a:t>
            </a:r>
            <a:endParaRPr lang="en-US" sz="1700"/>
          </a:p>
        </p:txBody>
      </p:sp>
      <p:sp>
        <p:nvSpPr>
          <p:cNvPr id="532013931" name="Text 15"/>
          <p:cNvSpPr/>
          <p:nvPr/>
        </p:nvSpPr>
        <p:spPr bwMode="auto">
          <a:xfrm>
            <a:off x="1015280" y="3856885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Результаты считает и проверяет сервер</a:t>
            </a:r>
            <a:endParaRPr lang="en-US" sz="1300"/>
          </a:p>
        </p:txBody>
      </p:sp>
      <p:sp>
        <p:nvSpPr>
          <p:cNvPr id="1564047187" name="Shape 16"/>
          <p:cNvSpPr/>
          <p:nvPr/>
        </p:nvSpPr>
        <p:spPr bwMode="auto">
          <a:xfrm>
            <a:off x="4397713" y="3365392"/>
            <a:ext cx="3420533" cy="1127760"/>
          </a:xfrm>
          <a:prstGeom prst="roundRect">
            <a:avLst>
              <a:gd name="adj" fmla="val 15766"/>
            </a:avLst>
          </a:prstGeom>
          <a:solidFill>
            <a:srgbClr val="7CC4FF"/>
          </a:solidFill>
          <a:ln/>
        </p:spPr>
      </p:sp>
      <p:sp>
        <p:nvSpPr>
          <p:cNvPr id="2052426515" name="Text 17"/>
          <p:cNvSpPr/>
          <p:nvPr/>
        </p:nvSpPr>
        <p:spPr bwMode="auto">
          <a:xfrm>
            <a:off x="4588213" y="3555892"/>
            <a:ext cx="3130719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Атомарность</a:t>
            </a:r>
            <a:endParaRPr lang="en-US" sz="1700"/>
          </a:p>
        </p:txBody>
      </p:sp>
      <p:sp>
        <p:nvSpPr>
          <p:cNvPr id="2023790607" name="Text 18"/>
          <p:cNvSpPr/>
          <p:nvPr/>
        </p:nvSpPr>
        <p:spPr bwMode="auto">
          <a:xfrm>
            <a:off x="4588213" y="3856885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XP начисляется в транзакции, без потерь</a:t>
            </a:r>
            <a:endParaRPr lang="en-US" sz="1300"/>
          </a:p>
        </p:txBody>
      </p:sp>
      <p:sp>
        <p:nvSpPr>
          <p:cNvPr id="2004350821" name="Shape 19"/>
          <p:cNvSpPr/>
          <p:nvPr/>
        </p:nvSpPr>
        <p:spPr bwMode="auto">
          <a:xfrm>
            <a:off x="7970647" y="3365392"/>
            <a:ext cx="3420533" cy="1127760"/>
          </a:xfrm>
          <a:prstGeom prst="roundRect">
            <a:avLst>
              <a:gd name="adj" fmla="val 15766"/>
            </a:avLst>
          </a:prstGeom>
          <a:solidFill>
            <a:srgbClr val="7CC4FF"/>
          </a:solidFill>
          <a:ln/>
        </p:spPr>
      </p:sp>
      <p:sp>
        <p:nvSpPr>
          <p:cNvPr id="672560731" name="Text 20"/>
          <p:cNvSpPr/>
          <p:nvPr/>
        </p:nvSpPr>
        <p:spPr bwMode="auto">
          <a:xfrm>
            <a:off x="8161147" y="3555892"/>
            <a:ext cx="3130719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Доступ</a:t>
            </a:r>
            <a:endParaRPr lang="en-US" sz="1700"/>
          </a:p>
        </p:txBody>
      </p:sp>
      <p:sp>
        <p:nvSpPr>
          <p:cNvPr id="301478759" name="Text 21"/>
          <p:cNvSpPr/>
          <p:nvPr/>
        </p:nvSpPr>
        <p:spPr bwMode="auto">
          <a:xfrm>
            <a:off x="8161147" y="3856885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Роли student и teacher разграничены на сервере</a:t>
            </a:r>
            <a:endParaRPr lang="en-US" sz="1300"/>
          </a:p>
        </p:txBody>
      </p:sp>
      <p:sp>
        <p:nvSpPr>
          <p:cNvPr id="1188457545" name="Shape 23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6A6692"/>
          </a:solidFill>
          <a:ln/>
        </p:spPr>
      </p:sp>
      <p:sp>
        <p:nvSpPr>
          <p:cNvPr id="1934319470" name="Shape 24"/>
          <p:cNvSpPr/>
          <p:nvPr/>
        </p:nvSpPr>
        <p:spPr bwMode="auto">
          <a:xfrm flipH="0" flipV="0">
            <a:off x="812799" y="6349998"/>
            <a:ext cx="5441697" cy="101598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9327189" name="Text 25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XP 1</a:t>
            </a:r>
            <a:r>
              <a:rPr lang="ru-RU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2</a:t>
            </a: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00 · LVL 1</a:t>
            </a:r>
            <a:r>
              <a:rPr lang="ru-RU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2</a:t>
            </a: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/1</a:t>
            </a:r>
            <a:r>
              <a:rPr lang="ru-RU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834119" name="Text 0"/>
          <p:cNvSpPr/>
          <p:nvPr/>
        </p:nvSpPr>
        <p:spPr bwMode="auto">
          <a:xfrm>
            <a:off x="8128000" y="1016000"/>
            <a:ext cx="753110" cy="822960"/>
          </a:xfrm>
          <a:custGeom>
            <a:avLst/>
            <a:gdLst/>
            <a:ahLst/>
            <a:cxnLst/>
            <a:rect l="l" t="t" r="r" b="b"/>
            <a:pathLst>
              <a:path w="753110" h="822960" fill="norm" stroke="1" extrusionOk="0">
                <a:moveTo>
                  <a:pt x="279400" y="0"/>
                </a:moveTo>
                <a:lnTo>
                  <a:pt x="473710" y="0"/>
                </a:lnTo>
                <a:arcTo wR="279400" hR="279400" stAng="16200000" swAng="5400000"/>
                <a:lnTo>
                  <a:pt x="753110" y="543560"/>
                </a:lnTo>
                <a:arcTo wR="279400" hR="279400" stAng="0" swAng="5400000"/>
                <a:lnTo>
                  <a:pt x="50800" y="822960"/>
                </a:lnTo>
                <a:arcTo wR="50800" hR="50800" stAng="5400000" swAng="5400000"/>
                <a:lnTo>
                  <a:pt x="0" y="279400"/>
                </a:lnTo>
                <a:arcTo wR="279400" hR="279400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4480"/>
              </a:lnSpc>
              <a:buNone/>
              <a:defRPr/>
            </a:pPr>
            <a:r>
              <a:rPr lang="en-US" sz="32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?</a:t>
            </a:r>
            <a:endParaRPr lang="en-US" sz="3200"/>
          </a:p>
        </p:txBody>
      </p:sp>
      <p:sp>
        <p:nvSpPr>
          <p:cNvPr id="1662188738" name="Text 1"/>
          <p:cNvSpPr/>
          <p:nvPr/>
        </p:nvSpPr>
        <p:spPr bwMode="auto">
          <a:xfrm>
            <a:off x="9525000" y="2667000"/>
            <a:ext cx="2307378" cy="594360"/>
          </a:xfrm>
          <a:custGeom>
            <a:avLst/>
            <a:gdLst/>
            <a:ahLst/>
            <a:cxnLst/>
            <a:rect l="l" t="t" r="r" b="b"/>
            <a:pathLst>
              <a:path w="2307378" h="594360" fill="norm" stroke="1" extrusionOk="0">
                <a:moveTo>
                  <a:pt x="254000" y="0"/>
                </a:moveTo>
                <a:lnTo>
                  <a:pt x="2053378" y="0"/>
                </a:lnTo>
                <a:arcTo wR="254000" hR="254000" stAng="16200000" swAng="5400000"/>
                <a:lnTo>
                  <a:pt x="2307378" y="543560"/>
                </a:lnTo>
                <a:arcTo wR="50800" hR="50800" stAng="0" swAng="5400000"/>
                <a:lnTo>
                  <a:pt x="254000" y="59436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GAME OVER?</a:t>
            </a:r>
            <a:endParaRPr lang="en-US" sz="2200"/>
          </a:p>
        </p:txBody>
      </p:sp>
      <p:sp>
        <p:nvSpPr>
          <p:cNvPr id="1773271478" name="Text 2"/>
          <p:cNvSpPr/>
          <p:nvPr>
            <p:ph type="title"/>
          </p:nvPr>
        </p:nvSpPr>
        <p:spPr bwMode="auto">
          <a:xfrm>
            <a:off x="812800" y="2084071"/>
            <a:ext cx="7848600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  <a:defRPr/>
            </a:pPr>
            <a:r>
              <a:rPr lang="en-US" sz="7000" b="1" i="0">
                <a:solidFill>
                  <a:srgbClr val="FFD23F"/>
                </a:solidFill>
                <a:latin typeface="Nunito"/>
                <a:ea typeface="Nunito"/>
                <a:cs typeface="Nunito"/>
              </a:rPr>
              <a:t>Спасибо за внимание!</a:t>
            </a:r>
            <a:endParaRPr lang="en-US" sz="7000"/>
          </a:p>
        </p:txBody>
      </p:sp>
      <p:sp>
        <p:nvSpPr>
          <p:cNvPr id="1480216938" name="Text 3"/>
          <p:cNvSpPr/>
          <p:nvPr/>
        </p:nvSpPr>
        <p:spPr bwMode="auto">
          <a:xfrm>
            <a:off x="812800" y="4179571"/>
            <a:ext cx="719454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  <a:defRPr/>
            </a:pPr>
            <a:r>
              <a:rPr lang="en-US" sz="2200">
                <a:solidFill>
                  <a:srgbClr val="E9E7FF"/>
                </a:solidFill>
                <a:latin typeface="Inter"/>
                <a:ea typeface="Inter"/>
                <a:cs typeface="Inter"/>
              </a:rPr>
              <a:t>Готовы ответить на ваши вопросы.</a:t>
            </a:r>
            <a:endParaRPr lang="en-US" sz="2200"/>
          </a:p>
        </p:txBody>
      </p:sp>
      <p:sp>
        <p:nvSpPr>
          <p:cNvPr id="792190957" name="Shape 4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English Quest — защита проекта">
  <a:themeElements>
    <a:clrScheme name="English Quest — защита проекта">
      <a:dk1>
        <a:srgbClr val="130F3A"/>
      </a:dk1>
      <a:lt1>
        <a:srgbClr val="FFFFFF"/>
      </a:lt1>
      <a:dk2>
        <a:srgbClr val="2B274E"/>
      </a:dk2>
      <a:lt2>
        <a:srgbClr val="C4C3CE"/>
      </a:lt2>
      <a:accent1>
        <a:srgbClr val="FFD23F"/>
      </a:accent1>
      <a:accent2>
        <a:srgbClr val="22E1B0"/>
      </a:accent2>
      <a:accent3>
        <a:srgbClr val="7CC4FF"/>
      </a:accent3>
      <a:accent4>
        <a:srgbClr val="FF5A66"/>
      </a:accent4>
      <a:accent5>
        <a:srgbClr val="D9D4FF"/>
      </a:accent5>
      <a:accent6>
        <a:srgbClr val="6A6692"/>
      </a:accent6>
      <a:hlink>
        <a:srgbClr val="0563C1"/>
      </a:hlink>
      <a:folHlink>
        <a:srgbClr val="954F72"/>
      </a:folHlink>
    </a:clrScheme>
    <a:fontScheme name="English Quest — защита проекта">
      <a:majorFont>
        <a:latin typeface="Nunito"/>
        <a:ea typeface="Arial"/>
        <a:cs typeface="Arial"/>
      </a:majorFont>
      <a:minorFont>
        <a:latin typeface="Inter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Quest — защита проекта</dc:title>
  <dc:subject/>
  <dc:creator/>
  <cp:lastModifiedBy/>
  <cp:revision>4</cp:revision>
  <dcterms:created xsi:type="dcterms:W3CDTF">2026-10-13T16:07:00Z</dcterms:created>
  <dcterms:modified xsi:type="dcterms:W3CDTF">2026-10-20T15:52:47Z</dcterms:modified>
</cp:coreProperties>
</file>