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0263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488619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7321283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427783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274191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32190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669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666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75884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91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724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Цель проекта и семь задач: от базы данных до интерфейса на Next.js.</a:t>
            </a:r>
            <a:endParaRPr lang="en-US"/>
          </a:p>
        </p:txBody>
      </p:sp>
      <p:sp>
        <p:nvSpPr>
          <p:cNvPr id="1304923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337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816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594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940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9335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5998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963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3073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8618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531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4495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9173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230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431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91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41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7469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834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160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270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844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39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352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2848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798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054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2385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277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7002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9498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447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480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6082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56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873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4800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body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054094" name="Title Placeholder 1"/>
          <p:cNvSpPr/>
          <p:nvPr>
            <p:ph type="title"/>
          </p:nvPr>
        </p:nvSpPr>
        <p:spPr bwMode="auto">
          <a:xfrm>
            <a:off x="812800" y="812800"/>
            <a:ext cx="10566400" cy="521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80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800"/>
          </a:p>
        </p:txBody>
      </p:sp>
      <p:sp>
        <p:nvSpPr>
          <p:cNvPr id="2030055439" name="Text Placeholder 2"/>
          <p:cNvSpPr/>
          <p:nvPr>
            <p:ph type="body" idx="101"/>
          </p:nvPr>
        </p:nvSpPr>
        <p:spPr bwMode="auto">
          <a:xfrm>
            <a:off x="812800" y="1638829"/>
            <a:ext cx="10566400" cy="4406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627663" name="Title Placeholder 1"/>
          <p:cNvSpPr/>
          <p:nvPr>
            <p:ph type="title"/>
          </p:nvPr>
        </p:nvSpPr>
        <p:spPr bwMode="auto">
          <a:xfrm>
            <a:off x="812800" y="812800"/>
            <a:ext cx="10566400" cy="521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4999"/>
              </a:lnSpc>
              <a:buNone/>
              <a:defRPr lang="en-US" sz="380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lvl1pPr>
          </a:lstStyle>
          <a:p>
            <a:pPr marL="0" indent="0" algn="l">
              <a:lnSpc>
                <a:spcPct val="114999"/>
              </a:lnSpc>
              <a:buNone/>
              <a:defRPr/>
            </a:pPr>
            <a:endParaRPr lang="en-US" sz="3800"/>
          </a:p>
        </p:txBody>
      </p:sp>
      <p:sp>
        <p:nvSpPr>
          <p:cNvPr id="1517109523" name="Text Placeholder 2"/>
          <p:cNvSpPr/>
          <p:nvPr>
            <p:ph type="body" idx="101"/>
          </p:nvPr>
        </p:nvSpPr>
        <p:spPr bwMode="auto">
          <a:xfrm>
            <a:off x="812800" y="1638829"/>
            <a:ext cx="10566400" cy="4406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 algn="l">
              <a:lnSpc>
                <a:spcPct val="140000"/>
              </a:lnSpc>
              <a:buNone/>
              <a:defRPr/>
            </a:pPr>
            <a:endParaRPr lang="en-US" sz="16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940534" name="Text 0"/>
          <p:cNvSpPr/>
          <p:nvPr/>
        </p:nvSpPr>
        <p:spPr bwMode="auto">
          <a:xfrm>
            <a:off x="8763000" y="952500"/>
            <a:ext cx="872596" cy="655320"/>
          </a:xfrm>
          <a:custGeom>
            <a:avLst/>
            <a:gdLst/>
            <a:ahLst/>
            <a:cxnLst/>
            <a:rect l="l" t="t" r="r" b="b"/>
            <a:pathLst>
              <a:path w="872596" h="655320" fill="norm" stroke="1" extrusionOk="0">
                <a:moveTo>
                  <a:pt x="254000" y="0"/>
                </a:moveTo>
                <a:lnTo>
                  <a:pt x="618596" y="0"/>
                </a:lnTo>
                <a:arcTo wR="254000" hR="254000" stAng="16200000" swAng="5400000"/>
                <a:lnTo>
                  <a:pt x="872596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A1</a:t>
            </a:r>
            <a:endParaRPr lang="en-US" sz="2400"/>
          </a:p>
        </p:txBody>
      </p:sp>
      <p:sp>
        <p:nvSpPr>
          <p:cNvPr id="285147948" name="Text 1"/>
          <p:cNvSpPr/>
          <p:nvPr/>
        </p:nvSpPr>
        <p:spPr bwMode="auto">
          <a:xfrm>
            <a:off x="9906000" y="2095500"/>
            <a:ext cx="854075" cy="655320"/>
          </a:xfrm>
          <a:custGeom>
            <a:avLst/>
            <a:gdLst/>
            <a:ahLst/>
            <a:cxnLst/>
            <a:rect l="l" t="t" r="r" b="b"/>
            <a:pathLst>
              <a:path w="854075" h="655320" fill="norm" stroke="1" extrusionOk="0">
                <a:moveTo>
                  <a:pt x="254000" y="0"/>
                </a:moveTo>
                <a:lnTo>
                  <a:pt x="600075" y="0"/>
                </a:lnTo>
                <a:arcTo wR="254000" hR="254000" stAng="16200000" swAng="5400000"/>
                <a:lnTo>
                  <a:pt x="854075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B2</a:t>
            </a:r>
            <a:endParaRPr lang="en-US" sz="2400"/>
          </a:p>
        </p:txBody>
      </p:sp>
      <p:sp>
        <p:nvSpPr>
          <p:cNvPr id="228890595" name="Text 2"/>
          <p:cNvSpPr/>
          <p:nvPr/>
        </p:nvSpPr>
        <p:spPr bwMode="auto">
          <a:xfrm>
            <a:off x="8445500" y="3302000"/>
            <a:ext cx="875982" cy="655320"/>
          </a:xfrm>
          <a:custGeom>
            <a:avLst/>
            <a:gdLst/>
            <a:ahLst/>
            <a:cxnLst/>
            <a:rect l="l" t="t" r="r" b="b"/>
            <a:pathLst>
              <a:path w="875982" h="655320" fill="norm" stroke="1" extrusionOk="0">
                <a:moveTo>
                  <a:pt x="254000" y="0"/>
                </a:moveTo>
                <a:lnTo>
                  <a:pt x="621982" y="0"/>
                </a:lnTo>
                <a:arcTo wR="254000" hR="254000" stAng="16200000" swAng="5400000"/>
                <a:lnTo>
                  <a:pt x="875982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5A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XP</a:t>
            </a:r>
            <a:endParaRPr lang="en-US" sz="2400"/>
          </a:p>
        </p:txBody>
      </p:sp>
      <p:sp>
        <p:nvSpPr>
          <p:cNvPr id="882145824" name="Text 3"/>
          <p:cNvSpPr/>
          <p:nvPr/>
        </p:nvSpPr>
        <p:spPr bwMode="auto">
          <a:xfrm>
            <a:off x="10160000" y="4445000"/>
            <a:ext cx="849736" cy="655320"/>
          </a:xfrm>
          <a:custGeom>
            <a:avLst/>
            <a:gdLst/>
            <a:ahLst/>
            <a:cxnLst/>
            <a:rect l="l" t="t" r="r" b="b"/>
            <a:pathLst>
              <a:path w="849736" h="655320" fill="norm" stroke="1" extrusionOk="0">
                <a:moveTo>
                  <a:pt x="254000" y="0"/>
                </a:moveTo>
                <a:lnTo>
                  <a:pt x="595736" y="0"/>
                </a:lnTo>
                <a:arcTo wR="254000" hR="254000" stAng="16200000" swAng="5400000"/>
                <a:lnTo>
                  <a:pt x="849736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7CC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C1</a:t>
            </a:r>
            <a:endParaRPr lang="en-US" sz="2400"/>
          </a:p>
        </p:txBody>
      </p:sp>
      <p:sp>
        <p:nvSpPr>
          <p:cNvPr id="555285377" name="Text 4"/>
          <p:cNvSpPr/>
          <p:nvPr/>
        </p:nvSpPr>
        <p:spPr bwMode="auto">
          <a:xfrm>
            <a:off x="7937500" y="5207000"/>
            <a:ext cx="1334982" cy="655320"/>
          </a:xfrm>
          <a:custGeom>
            <a:avLst/>
            <a:gdLst/>
            <a:ahLst/>
            <a:cxnLst/>
            <a:rect l="l" t="t" r="r" b="b"/>
            <a:pathLst>
              <a:path w="1334982" h="655320" fill="norm" stroke="1" extrusionOk="0">
                <a:moveTo>
                  <a:pt x="254000" y="0"/>
                </a:moveTo>
                <a:lnTo>
                  <a:pt x="1080982" y="0"/>
                </a:lnTo>
                <a:arcTo wR="254000" hR="254000" stAng="16200000" swAng="5400000"/>
                <a:lnTo>
                  <a:pt x="1334982" y="401320"/>
                </a:lnTo>
                <a:arcTo wR="254000" hR="254000" stAng="0" swAng="5400000"/>
                <a:lnTo>
                  <a:pt x="50800" y="655320"/>
                </a:lnTo>
                <a:arcTo wR="50800" hR="508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Quest</a:t>
            </a:r>
            <a:endParaRPr lang="en-US" sz="2400"/>
          </a:p>
        </p:txBody>
      </p:sp>
      <p:sp>
        <p:nvSpPr>
          <p:cNvPr id="1031935822" name="Text 5"/>
          <p:cNvSpPr/>
          <p:nvPr/>
        </p:nvSpPr>
        <p:spPr bwMode="auto">
          <a:xfrm>
            <a:off x="812800" y="16129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ЗАЩИТА ПРОЕКТА · ИГРА НАЧИНАЕТСЯ ▶</a:t>
            </a:r>
            <a:endParaRPr lang="en-US" sz="1500"/>
          </a:p>
        </p:txBody>
      </p:sp>
      <p:sp>
        <p:nvSpPr>
          <p:cNvPr id="1666685089" name="Text 6"/>
          <p:cNvSpPr/>
          <p:nvPr>
            <p:ph type="title"/>
          </p:nvPr>
        </p:nvSpPr>
        <p:spPr bwMode="auto">
          <a:xfrm>
            <a:off x="812800" y="2108200"/>
            <a:ext cx="719454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  <a:defRPr/>
            </a:pPr>
            <a:r>
              <a:rPr lang="en-US" sz="52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English Quest</a:t>
            </a:r>
            <a:endParaRPr lang="en-US" sz="5200"/>
          </a:p>
        </p:txBody>
      </p:sp>
      <p:sp>
        <p:nvSpPr>
          <p:cNvPr id="1629446287" name="Text 7"/>
          <p:cNvSpPr/>
          <p:nvPr/>
        </p:nvSpPr>
        <p:spPr bwMode="auto">
          <a:xfrm>
            <a:off x="812800" y="3030220"/>
            <a:ext cx="686752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  <a:defRPr/>
            </a:pPr>
            <a:r>
              <a:rPr lang="en-US" sz="24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Геймифицированная платформа для изучения английского языка</a:t>
            </a:r>
            <a:endParaRPr lang="en-US" sz="2400"/>
          </a:p>
        </p:txBody>
      </p:sp>
      <p:sp>
        <p:nvSpPr>
          <p:cNvPr id="644962001" name="Text 8"/>
          <p:cNvSpPr/>
          <p:nvPr/>
        </p:nvSpPr>
        <p:spPr bwMode="auto">
          <a:xfrm>
            <a:off x="812800" y="3959860"/>
            <a:ext cx="6867524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>
                <a:solidFill>
                  <a:srgbClr val="E9E7FF"/>
                </a:solidFill>
                <a:latin typeface="Inter"/>
                <a:ea typeface="Inter"/>
                <a:cs typeface="Inter"/>
              </a:rPr>
              <a:t>Блок 1. Архитектура backend, аутентификация, игровая логика, API контента и клиентский интерфейс</a:t>
            </a:r>
            <a:endParaRPr lang="en-US" sz="1700"/>
          </a:p>
        </p:txBody>
      </p:sp>
      <p:sp>
        <p:nvSpPr>
          <p:cNvPr id="391381530" name="Text 9"/>
          <p:cNvSpPr/>
          <p:nvPr/>
        </p:nvSpPr>
        <p:spPr bwMode="auto">
          <a:xfrm>
            <a:off x="812800" y="47929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B9B6D6"/>
                </a:solidFill>
                <a:latin typeface="Inter"/>
                <a:ea typeface="Inter"/>
                <a:cs typeface="Inter"/>
              </a:rPr>
              <a:t>[Состав команды] · [группа] · [руководитель] · [год]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7404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01 · ЦЕЛЬ И ЗАДАЧИ</a:t>
            </a:r>
            <a:endParaRPr lang="en-US" sz="1200"/>
          </a:p>
        </p:txBody>
      </p:sp>
      <p:sp>
        <p:nvSpPr>
          <p:cNvPr id="561779377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Цель, идея и задачи проекта</a:t>
            </a:r>
            <a:endParaRPr lang="en-US" sz="3800"/>
          </a:p>
        </p:txBody>
      </p:sp>
      <p:sp>
        <p:nvSpPr>
          <p:cNvPr id="282265161" name="Shape 2"/>
          <p:cNvSpPr/>
          <p:nvPr/>
        </p:nvSpPr>
        <p:spPr bwMode="auto">
          <a:xfrm>
            <a:off x="812800" y="1448329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931539139" name="Shape 3"/>
          <p:cNvSpPr/>
          <p:nvPr/>
        </p:nvSpPr>
        <p:spPr bwMode="auto">
          <a:xfrm>
            <a:off x="812800" y="1765829"/>
            <a:ext cx="4820073" cy="3562350"/>
          </a:xfrm>
          <a:prstGeom prst="roundRect">
            <a:avLst>
              <a:gd name="adj" fmla="val 4991"/>
            </a:avLst>
          </a:prstGeom>
          <a:solidFill>
            <a:srgbClr val="7CC4FF"/>
          </a:solidFill>
          <a:ln/>
        </p:spPr>
      </p:sp>
      <p:sp>
        <p:nvSpPr>
          <p:cNvPr id="1014515912" name="Text 4"/>
          <p:cNvSpPr/>
          <p:nvPr/>
        </p:nvSpPr>
        <p:spPr bwMode="auto">
          <a:xfrm>
            <a:off x="1066800" y="2019829"/>
            <a:ext cx="44414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Цель</a:t>
            </a:r>
            <a:endParaRPr lang="en-US" sz="2000"/>
          </a:p>
        </p:txBody>
      </p:sp>
      <p:sp>
        <p:nvSpPr>
          <p:cNvPr id="722564506" name="Text 5"/>
          <p:cNvSpPr/>
          <p:nvPr/>
        </p:nvSpPr>
        <p:spPr bwMode="auto">
          <a:xfrm>
            <a:off x="1066800" y="2362728"/>
            <a:ext cx="444143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  <a:defRPr/>
            </a:pPr>
            <a:r>
              <a:rPr lang="en-US" sz="1500">
                <a:solidFill>
                  <a:srgbClr val="130F3A"/>
                </a:solidFill>
                <a:latin typeface="Inter"/>
                <a:ea typeface="Inter"/>
                <a:cs typeface="Inter"/>
              </a:rPr>
              <a:t>Создать отказоустойчивый и защищённый backend на FastAPI и клиентскую часть на Next.js для платформы изучения английского языка.</a:t>
            </a:r>
            <a:endParaRPr lang="en-US" sz="1500"/>
          </a:p>
        </p:txBody>
      </p:sp>
      <p:sp>
        <p:nvSpPr>
          <p:cNvPr id="922290536" name="Text 6"/>
          <p:cNvSpPr/>
          <p:nvPr/>
        </p:nvSpPr>
        <p:spPr bwMode="auto">
          <a:xfrm>
            <a:off x="1066800" y="3531129"/>
            <a:ext cx="44414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Идея</a:t>
            </a:r>
            <a:endParaRPr lang="en-US" sz="2000"/>
          </a:p>
        </p:txBody>
      </p:sp>
      <p:sp>
        <p:nvSpPr>
          <p:cNvPr id="723980534" name="Text 7"/>
          <p:cNvSpPr/>
          <p:nvPr/>
        </p:nvSpPr>
        <p:spPr bwMode="auto">
          <a:xfrm>
            <a:off x="1066800" y="3874029"/>
            <a:ext cx="4441435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Обучение по уровням CEFR от A1 до C2 + геймификация: аркада «слова — картинки», XP с разной наградой за первое и повторное прохождение, автокалибровка уровня и свободный выбор миссий.</a:t>
            </a:r>
            <a:endParaRPr lang="en-US" sz="1400"/>
          </a:p>
        </p:txBody>
      </p:sp>
      <p:sp>
        <p:nvSpPr>
          <p:cNvPr id="1356476033" name="Shape 8"/>
          <p:cNvSpPr/>
          <p:nvPr/>
        </p:nvSpPr>
        <p:spPr bwMode="auto">
          <a:xfrm>
            <a:off x="5836073" y="17658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142743479" name="Text 9"/>
          <p:cNvSpPr/>
          <p:nvPr/>
        </p:nvSpPr>
        <p:spPr bwMode="auto">
          <a:xfrm>
            <a:off x="5963073" y="18420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1</a:t>
            </a:r>
            <a:endParaRPr lang="en-US" sz="1300"/>
          </a:p>
        </p:txBody>
      </p:sp>
      <p:sp>
        <p:nvSpPr>
          <p:cNvPr id="1877324683" name="Text 10"/>
          <p:cNvSpPr/>
          <p:nvPr/>
        </p:nvSpPr>
        <p:spPr bwMode="auto">
          <a:xfrm>
            <a:off x="6382173" y="18829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Спроектировать базу данных PostgreSQL</a:t>
            </a:r>
            <a:endParaRPr lang="en-US" sz="1300"/>
          </a:p>
        </p:txBody>
      </p:sp>
      <p:sp>
        <p:nvSpPr>
          <p:cNvPr id="414061896" name="Shape 11"/>
          <p:cNvSpPr/>
          <p:nvPr/>
        </p:nvSpPr>
        <p:spPr bwMode="auto">
          <a:xfrm>
            <a:off x="5836073" y="22992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526393525" name="Text 12"/>
          <p:cNvSpPr/>
          <p:nvPr/>
        </p:nvSpPr>
        <p:spPr bwMode="auto">
          <a:xfrm>
            <a:off x="5963073" y="23754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2</a:t>
            </a:r>
            <a:endParaRPr lang="en-US" sz="1300"/>
          </a:p>
        </p:txBody>
      </p:sp>
      <p:sp>
        <p:nvSpPr>
          <p:cNvPr id="1968557965" name="Text 13"/>
          <p:cNvSpPr/>
          <p:nvPr/>
        </p:nvSpPr>
        <p:spPr bwMode="auto">
          <a:xfrm>
            <a:off x="6382173" y="24163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Слоистая архитектура backend без монолитов</a:t>
            </a:r>
            <a:endParaRPr lang="en-US" sz="1300"/>
          </a:p>
        </p:txBody>
      </p:sp>
      <p:sp>
        <p:nvSpPr>
          <p:cNvPr id="63836956" name="Shape 14"/>
          <p:cNvSpPr/>
          <p:nvPr/>
        </p:nvSpPr>
        <p:spPr bwMode="auto">
          <a:xfrm>
            <a:off x="5836073" y="28326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1266878393" name="Text 15"/>
          <p:cNvSpPr/>
          <p:nvPr/>
        </p:nvSpPr>
        <p:spPr bwMode="auto">
          <a:xfrm>
            <a:off x="5963073" y="29088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3</a:t>
            </a:r>
            <a:endParaRPr lang="en-US" sz="1300"/>
          </a:p>
        </p:txBody>
      </p:sp>
      <p:sp>
        <p:nvSpPr>
          <p:cNvPr id="2047859152" name="Text 16"/>
          <p:cNvSpPr/>
          <p:nvPr/>
        </p:nvSpPr>
        <p:spPr bwMode="auto">
          <a:xfrm>
            <a:off x="6382173" y="29497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JWT-аутентификация и роли student / teacher</a:t>
            </a:r>
            <a:endParaRPr lang="en-US" sz="1300"/>
          </a:p>
        </p:txBody>
      </p:sp>
      <p:sp>
        <p:nvSpPr>
          <p:cNvPr id="575532112" name="Shape 17"/>
          <p:cNvSpPr/>
          <p:nvPr/>
        </p:nvSpPr>
        <p:spPr bwMode="auto">
          <a:xfrm>
            <a:off x="5836073" y="33660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934057434" name="Text 18"/>
          <p:cNvSpPr/>
          <p:nvPr/>
        </p:nvSpPr>
        <p:spPr bwMode="auto">
          <a:xfrm>
            <a:off x="5963073" y="34422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4</a:t>
            </a:r>
            <a:endParaRPr lang="en-US" sz="1300"/>
          </a:p>
        </p:txBody>
      </p:sp>
      <p:sp>
        <p:nvSpPr>
          <p:cNvPr id="966143409" name="Text 19"/>
          <p:cNvSpPr/>
          <p:nvPr/>
        </p:nvSpPr>
        <p:spPr bwMode="auto">
          <a:xfrm>
            <a:off x="6382173" y="34831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API учебного контента с серверной валидацией</a:t>
            </a:r>
            <a:endParaRPr lang="en-US" sz="1300"/>
          </a:p>
        </p:txBody>
      </p:sp>
      <p:sp>
        <p:nvSpPr>
          <p:cNvPr id="880368253" name="Shape 20"/>
          <p:cNvSpPr/>
          <p:nvPr/>
        </p:nvSpPr>
        <p:spPr bwMode="auto">
          <a:xfrm>
            <a:off x="5836073" y="38994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1795669256" name="Text 21"/>
          <p:cNvSpPr/>
          <p:nvPr/>
        </p:nvSpPr>
        <p:spPr bwMode="auto">
          <a:xfrm>
            <a:off x="5963073" y="39756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5</a:t>
            </a:r>
            <a:endParaRPr lang="en-US" sz="1300"/>
          </a:p>
        </p:txBody>
      </p:sp>
      <p:sp>
        <p:nvSpPr>
          <p:cNvPr id="107617977" name="Text 22"/>
          <p:cNvSpPr/>
          <p:nvPr/>
        </p:nvSpPr>
        <p:spPr bwMode="auto">
          <a:xfrm>
            <a:off x="6382173" y="4016586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Входная калибровка уровня: автозачёт и стартовый опыт</a:t>
            </a:r>
            <a:endParaRPr lang="en-US" sz="1300"/>
          </a:p>
        </p:txBody>
      </p:sp>
      <p:sp>
        <p:nvSpPr>
          <p:cNvPr id="497406081" name="Shape 23"/>
          <p:cNvSpPr/>
          <p:nvPr/>
        </p:nvSpPr>
        <p:spPr bwMode="auto">
          <a:xfrm>
            <a:off x="5836073" y="4432829"/>
            <a:ext cx="5543127" cy="4572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sp>
        <p:nvSpPr>
          <p:cNvPr id="1068734777" name="Text 24"/>
          <p:cNvSpPr/>
          <p:nvPr/>
        </p:nvSpPr>
        <p:spPr bwMode="auto">
          <a:xfrm>
            <a:off x="5963073" y="45090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6</a:t>
            </a:r>
            <a:endParaRPr lang="en-US" sz="1300"/>
          </a:p>
        </p:txBody>
      </p:sp>
      <p:sp>
        <p:nvSpPr>
          <p:cNvPr id="1083672487" name="Text 25"/>
          <p:cNvSpPr/>
          <p:nvPr/>
        </p:nvSpPr>
        <p:spPr bwMode="auto">
          <a:xfrm>
            <a:off x="6382173" y="4549987"/>
            <a:ext cx="501612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Игровая логика и начисление XP</a:t>
            </a:r>
            <a:endParaRPr lang="en-US" sz="1300"/>
          </a:p>
        </p:txBody>
      </p:sp>
      <p:sp>
        <p:nvSpPr>
          <p:cNvPr id="460935529" name="Shape 26"/>
          <p:cNvSpPr/>
          <p:nvPr/>
        </p:nvSpPr>
        <p:spPr bwMode="auto">
          <a:xfrm>
            <a:off x="5836073" y="4966229"/>
            <a:ext cx="5543127" cy="598170"/>
          </a:xfrm>
          <a:prstGeom prst="roundRect">
            <a:avLst>
              <a:gd name="adj" fmla="val 21231"/>
            </a:avLst>
          </a:prstGeom>
          <a:solidFill>
            <a:srgbClr val="FFFFFF"/>
          </a:solidFill>
          <a:ln/>
        </p:spPr>
      </p:sp>
      <p:sp>
        <p:nvSpPr>
          <p:cNvPr id="1821971491" name="Text 27"/>
          <p:cNvSpPr/>
          <p:nvPr/>
        </p:nvSpPr>
        <p:spPr bwMode="auto">
          <a:xfrm>
            <a:off x="5963073" y="511291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7</a:t>
            </a:r>
            <a:endParaRPr lang="en-US" sz="1300"/>
          </a:p>
        </p:txBody>
      </p:sp>
      <p:sp>
        <p:nvSpPr>
          <p:cNvPr id="1468121061" name="Text 28"/>
          <p:cNvSpPr/>
          <p:nvPr/>
        </p:nvSpPr>
        <p:spPr bwMode="auto">
          <a:xfrm>
            <a:off x="6382173" y="5042429"/>
            <a:ext cx="501612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Интерфейс на Next.js: дашборд, калибровка, тест, произношение, аркада и панель преподавателя</a:t>
            </a:r>
            <a:endParaRPr lang="en-US" sz="1300"/>
          </a:p>
        </p:txBody>
      </p:sp>
      <p:sp>
        <p:nvSpPr>
          <p:cNvPr id="1616006643" name="Shape 29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909079682" name="Shape 30"/>
          <p:cNvSpPr/>
          <p:nvPr/>
        </p:nvSpPr>
        <p:spPr bwMode="auto">
          <a:xfrm>
            <a:off x="812800" y="6350000"/>
            <a:ext cx="84455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713370572" name="Text 31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200 · LVL 2/1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06284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02 · СТЕК</a:t>
            </a:r>
            <a:endParaRPr lang="en-US" sz="1200"/>
          </a:p>
        </p:txBody>
      </p:sp>
      <p:sp>
        <p:nvSpPr>
          <p:cNvPr id="624041003" name="Text 1"/>
          <p:cNvSpPr/>
          <p:nvPr>
            <p:ph type="title"/>
          </p:nvPr>
        </p:nvSpPr>
        <p:spPr bwMode="auto">
          <a:xfrm>
            <a:off x="812800" y="812800"/>
            <a:ext cx="10883392" cy="518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4"/>
              </a:lnSpc>
              <a:buNone/>
              <a:defRPr/>
            </a:pPr>
            <a:r>
              <a:rPr lang="en-US" sz="3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Стек технологий</a:t>
            </a:r>
            <a:endParaRPr lang="en-US" sz="3650"/>
          </a:p>
        </p:txBody>
      </p:sp>
      <p:sp>
        <p:nvSpPr>
          <p:cNvPr id="361844214" name="Shape 2"/>
          <p:cNvSpPr/>
          <p:nvPr/>
        </p:nvSpPr>
        <p:spPr bwMode="auto">
          <a:xfrm>
            <a:off x="812800" y="1420389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899309503" name="Shape 3"/>
          <p:cNvSpPr/>
          <p:nvPr/>
        </p:nvSpPr>
        <p:spPr bwMode="auto">
          <a:xfrm>
            <a:off x="812800" y="1737889"/>
            <a:ext cx="10566400" cy="915564"/>
          </a:xfrm>
          <a:prstGeom prst="roundRect">
            <a:avLst>
              <a:gd name="adj" fmla="val 19420"/>
            </a:avLst>
          </a:prstGeom>
          <a:solidFill>
            <a:srgbClr val="201B57"/>
          </a:solidFill>
          <a:ln/>
        </p:spPr>
      </p:sp>
      <p:sp>
        <p:nvSpPr>
          <p:cNvPr id="1798455186" name="Text 4"/>
          <p:cNvSpPr/>
          <p:nvPr/>
        </p:nvSpPr>
        <p:spPr bwMode="auto">
          <a:xfrm>
            <a:off x="914400" y="1960668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FFD23F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Backend</a:t>
            </a:r>
            <a:endParaRPr lang="en-US" sz="1500"/>
          </a:p>
        </p:txBody>
      </p:sp>
      <p:sp>
        <p:nvSpPr>
          <p:cNvPr id="2061706387" name="Text 5"/>
          <p:cNvSpPr/>
          <p:nvPr/>
        </p:nvSpPr>
        <p:spPr bwMode="auto">
          <a:xfrm>
            <a:off x="269240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Python</a:t>
            </a:r>
            <a:endParaRPr lang="en-US" sz="1200"/>
          </a:p>
        </p:txBody>
      </p:sp>
      <p:sp>
        <p:nvSpPr>
          <p:cNvPr id="492883504" name="Text 6"/>
          <p:cNvSpPr/>
          <p:nvPr/>
        </p:nvSpPr>
        <p:spPr bwMode="auto">
          <a:xfrm>
            <a:off x="485775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FastAPI</a:t>
            </a:r>
            <a:endParaRPr lang="en-US" sz="1200"/>
          </a:p>
        </p:txBody>
      </p:sp>
      <p:sp>
        <p:nvSpPr>
          <p:cNvPr id="1523964367" name="Text 7"/>
          <p:cNvSpPr/>
          <p:nvPr/>
        </p:nvSpPr>
        <p:spPr bwMode="auto">
          <a:xfrm>
            <a:off x="702310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Pydantic</a:t>
            </a:r>
            <a:endParaRPr lang="en-US" sz="1200"/>
          </a:p>
        </p:txBody>
      </p:sp>
      <p:sp>
        <p:nvSpPr>
          <p:cNvPr id="355955226" name="Text 8"/>
          <p:cNvSpPr/>
          <p:nvPr/>
        </p:nvSpPr>
        <p:spPr bwMode="auto">
          <a:xfrm>
            <a:off x="9188450" y="1817264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SQLAlchemy async</a:t>
            </a:r>
            <a:endParaRPr lang="en-US" sz="1200"/>
          </a:p>
        </p:txBody>
      </p:sp>
      <p:sp>
        <p:nvSpPr>
          <p:cNvPr id="374206062" name="Text 9"/>
          <p:cNvSpPr/>
          <p:nvPr/>
        </p:nvSpPr>
        <p:spPr bwMode="auto">
          <a:xfrm>
            <a:off x="269240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asyncpg</a:t>
            </a:r>
            <a:endParaRPr lang="en-US" sz="1200"/>
          </a:p>
        </p:txBody>
      </p:sp>
      <p:sp>
        <p:nvSpPr>
          <p:cNvPr id="272079066" name="Text 10"/>
          <p:cNvSpPr/>
          <p:nvPr/>
        </p:nvSpPr>
        <p:spPr bwMode="auto">
          <a:xfrm>
            <a:off x="485775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PyJWT</a:t>
            </a:r>
            <a:endParaRPr lang="en-US" sz="1200"/>
          </a:p>
        </p:txBody>
      </p:sp>
      <p:sp>
        <p:nvSpPr>
          <p:cNvPr id="1568406671" name="Text 11"/>
          <p:cNvSpPr/>
          <p:nvPr/>
        </p:nvSpPr>
        <p:spPr bwMode="auto">
          <a:xfrm>
            <a:off x="702310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passlib / bcrypt</a:t>
            </a:r>
            <a:endParaRPr lang="en-US" sz="1200"/>
          </a:p>
        </p:txBody>
      </p:sp>
      <p:sp>
        <p:nvSpPr>
          <p:cNvPr id="233747796" name="Text 12"/>
          <p:cNvSpPr/>
          <p:nvPr/>
        </p:nvSpPr>
        <p:spPr bwMode="auto">
          <a:xfrm>
            <a:off x="9188450" y="2233825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Uvicorn</a:t>
            </a:r>
            <a:endParaRPr lang="en-US" sz="1200"/>
          </a:p>
        </p:txBody>
      </p:sp>
      <p:sp>
        <p:nvSpPr>
          <p:cNvPr id="1788442351" name="Shape 13"/>
          <p:cNvSpPr/>
          <p:nvPr/>
        </p:nvSpPr>
        <p:spPr bwMode="auto">
          <a:xfrm>
            <a:off x="812800" y="2742354"/>
            <a:ext cx="10566400" cy="645477"/>
          </a:xfrm>
          <a:prstGeom prst="roundRect">
            <a:avLst>
              <a:gd name="adj" fmla="val 27546"/>
            </a:avLst>
          </a:prstGeom>
          <a:solidFill>
            <a:srgbClr val="201B57"/>
          </a:solidFill>
          <a:ln/>
        </p:spPr>
      </p:sp>
      <p:sp>
        <p:nvSpPr>
          <p:cNvPr id="758279530" name="Text 14"/>
          <p:cNvSpPr/>
          <p:nvPr/>
        </p:nvSpPr>
        <p:spPr bwMode="auto">
          <a:xfrm>
            <a:off x="914400" y="2830195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7CC4FF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Frontend</a:t>
            </a:r>
            <a:endParaRPr lang="en-US" sz="1500"/>
          </a:p>
        </p:txBody>
      </p:sp>
      <p:sp>
        <p:nvSpPr>
          <p:cNvPr id="726840284" name="Text 15"/>
          <p:cNvSpPr/>
          <p:nvPr/>
        </p:nvSpPr>
        <p:spPr bwMode="auto">
          <a:xfrm>
            <a:off x="2692400" y="289485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Next.js App Router</a:t>
            </a:r>
            <a:endParaRPr lang="en-US" sz="1200"/>
          </a:p>
        </p:txBody>
      </p:sp>
      <p:sp>
        <p:nvSpPr>
          <p:cNvPr id="1356244642" name="Text 16"/>
          <p:cNvSpPr/>
          <p:nvPr/>
        </p:nvSpPr>
        <p:spPr bwMode="auto">
          <a:xfrm>
            <a:off x="4857750" y="289485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TypeScript</a:t>
            </a:r>
            <a:endParaRPr lang="en-US" sz="1200"/>
          </a:p>
        </p:txBody>
      </p:sp>
      <p:sp>
        <p:nvSpPr>
          <p:cNvPr id="176184175" name="Text 17"/>
          <p:cNvSpPr/>
          <p:nvPr/>
        </p:nvSpPr>
        <p:spPr bwMode="auto">
          <a:xfrm>
            <a:off x="7023100" y="289485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Tailwind CSS</a:t>
            </a:r>
            <a:endParaRPr lang="en-US" sz="1200"/>
          </a:p>
        </p:txBody>
      </p:sp>
      <p:sp>
        <p:nvSpPr>
          <p:cNvPr id="2094980241" name="Text 18"/>
          <p:cNvSpPr/>
          <p:nvPr/>
        </p:nvSpPr>
        <p:spPr bwMode="auto">
          <a:xfrm>
            <a:off x="9188450" y="289485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Three.js (аркада)</a:t>
            </a:r>
            <a:endParaRPr lang="en-US" sz="1200"/>
          </a:p>
        </p:txBody>
      </p:sp>
      <p:sp>
        <p:nvSpPr>
          <p:cNvPr id="1795622193" name="Shape 19"/>
          <p:cNvSpPr/>
          <p:nvPr/>
        </p:nvSpPr>
        <p:spPr bwMode="auto">
          <a:xfrm>
            <a:off x="812800" y="3476730"/>
            <a:ext cx="10566400" cy="645478"/>
          </a:xfrm>
          <a:prstGeom prst="roundRect">
            <a:avLst>
              <a:gd name="adj" fmla="val 27545"/>
            </a:avLst>
          </a:prstGeom>
          <a:solidFill>
            <a:srgbClr val="201B57"/>
          </a:solidFill>
          <a:ln/>
        </p:spPr>
      </p:sp>
      <p:sp>
        <p:nvSpPr>
          <p:cNvPr id="2134510466" name="Text 20"/>
          <p:cNvSpPr/>
          <p:nvPr/>
        </p:nvSpPr>
        <p:spPr bwMode="auto">
          <a:xfrm>
            <a:off x="914400" y="3564573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22E1B0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База данных</a:t>
            </a:r>
            <a:endParaRPr lang="en-US" sz="1500"/>
          </a:p>
        </p:txBody>
      </p:sp>
      <p:sp>
        <p:nvSpPr>
          <p:cNvPr id="1508121267" name="Text 21"/>
          <p:cNvSpPr/>
          <p:nvPr/>
        </p:nvSpPr>
        <p:spPr bwMode="auto">
          <a:xfrm>
            <a:off x="2692400" y="3629237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PostgreSQL</a:t>
            </a:r>
            <a:endParaRPr lang="en-US" sz="1200"/>
          </a:p>
        </p:txBody>
      </p:sp>
      <p:sp>
        <p:nvSpPr>
          <p:cNvPr id="917038428" name="Shape 22"/>
          <p:cNvSpPr/>
          <p:nvPr/>
        </p:nvSpPr>
        <p:spPr bwMode="auto">
          <a:xfrm>
            <a:off x="812800" y="4211109"/>
            <a:ext cx="10566400" cy="896514"/>
          </a:xfrm>
          <a:prstGeom prst="roundRect">
            <a:avLst>
              <a:gd name="adj" fmla="val 19832"/>
            </a:avLst>
          </a:prstGeom>
          <a:solidFill>
            <a:srgbClr val="201B57"/>
          </a:solidFill>
          <a:ln/>
        </p:spPr>
      </p:sp>
      <p:sp>
        <p:nvSpPr>
          <p:cNvPr id="1202989687" name="Text 23"/>
          <p:cNvSpPr/>
          <p:nvPr/>
        </p:nvSpPr>
        <p:spPr bwMode="auto">
          <a:xfrm>
            <a:off x="914400" y="4291118"/>
            <a:ext cx="1651000" cy="736600"/>
          </a:xfrm>
          <a:prstGeom prst="roundRect">
            <a:avLst>
              <a:gd name="adj" fmla="val 17241"/>
            </a:avLst>
          </a:prstGeom>
          <a:solidFill>
            <a:srgbClr val="FF5A66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Инфраструктура</a:t>
            </a:r>
            <a:endParaRPr lang="en-US" sz="1500"/>
          </a:p>
        </p:txBody>
      </p:sp>
      <p:sp>
        <p:nvSpPr>
          <p:cNvPr id="634130746" name="Text 24"/>
          <p:cNvSpPr/>
          <p:nvPr/>
        </p:nvSpPr>
        <p:spPr bwMode="auto">
          <a:xfrm>
            <a:off x="2692400" y="4489132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Docker Compose</a:t>
            </a:r>
            <a:endParaRPr lang="en-US" sz="1200"/>
          </a:p>
        </p:txBody>
      </p:sp>
      <p:sp>
        <p:nvSpPr>
          <p:cNvPr id="364121348" name="Shape 25"/>
          <p:cNvSpPr/>
          <p:nvPr/>
        </p:nvSpPr>
        <p:spPr bwMode="auto">
          <a:xfrm>
            <a:off x="812800" y="5196523"/>
            <a:ext cx="10566400" cy="645477"/>
          </a:xfrm>
          <a:prstGeom prst="roundRect">
            <a:avLst>
              <a:gd name="adj" fmla="val 27546"/>
            </a:avLst>
          </a:prstGeom>
          <a:solidFill>
            <a:srgbClr val="201B57"/>
          </a:solidFill>
          <a:ln/>
        </p:spPr>
      </p:sp>
      <p:sp>
        <p:nvSpPr>
          <p:cNvPr id="370408663" name="Text 26"/>
          <p:cNvSpPr/>
          <p:nvPr/>
        </p:nvSpPr>
        <p:spPr bwMode="auto">
          <a:xfrm>
            <a:off x="914400" y="5284364"/>
            <a:ext cx="1651000" cy="469900"/>
          </a:xfrm>
          <a:prstGeom prst="roundRect">
            <a:avLst>
              <a:gd name="adj" fmla="val 27027"/>
            </a:avLst>
          </a:prstGeom>
          <a:solidFill>
            <a:srgbClr val="FFD23F"/>
          </a:solidFill>
          <a:ln/>
        </p:spPr>
        <p:txBody>
          <a:bodyPr wrap="square" lIns="39003" tIns="64403" rIns="39003" bIns="39003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Тесты и CI</a:t>
            </a:r>
            <a:endParaRPr lang="en-US" sz="1500"/>
          </a:p>
        </p:txBody>
      </p:sp>
      <p:sp>
        <p:nvSpPr>
          <p:cNvPr id="1786353692" name="Text 27"/>
          <p:cNvSpPr/>
          <p:nvPr/>
        </p:nvSpPr>
        <p:spPr bwMode="auto">
          <a:xfrm>
            <a:off x="2692400" y="534902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pytest</a:t>
            </a:r>
            <a:endParaRPr lang="en-US" sz="1200"/>
          </a:p>
        </p:txBody>
      </p:sp>
      <p:sp>
        <p:nvSpPr>
          <p:cNvPr id="589996874" name="Text 28"/>
          <p:cNvSpPr/>
          <p:nvPr/>
        </p:nvSpPr>
        <p:spPr bwMode="auto">
          <a:xfrm>
            <a:off x="4857750" y="534902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httpx</a:t>
            </a:r>
            <a:endParaRPr lang="en-US" sz="1200"/>
          </a:p>
        </p:txBody>
      </p:sp>
      <p:sp>
        <p:nvSpPr>
          <p:cNvPr id="1981840463" name="Text 29"/>
          <p:cNvSpPr/>
          <p:nvPr/>
        </p:nvSpPr>
        <p:spPr bwMode="auto">
          <a:xfrm>
            <a:off x="7023100" y="5349029"/>
            <a:ext cx="2089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36548" tIns="13656" rIns="3654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GitHub Actions</a:t>
            </a:r>
            <a:endParaRPr lang="en-US" sz="1200"/>
          </a:p>
        </p:txBody>
      </p:sp>
      <p:sp>
        <p:nvSpPr>
          <p:cNvPr id="372872343" name="Shape 30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1874645397" name="Shape 31"/>
          <p:cNvSpPr/>
          <p:nvPr/>
        </p:nvSpPr>
        <p:spPr bwMode="auto">
          <a:xfrm>
            <a:off x="812800" y="6350000"/>
            <a:ext cx="12700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972561502" name="Text 32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300 · LVL 3/1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288237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03 · АРХИТЕКТУРА</a:t>
            </a:r>
            <a:endParaRPr lang="en-US" sz="1200"/>
          </a:p>
        </p:txBody>
      </p:sp>
      <p:sp>
        <p:nvSpPr>
          <p:cNvPr id="279814845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Слоистая архитектура backend</a:t>
            </a:r>
            <a:endParaRPr lang="en-US" sz="3800"/>
          </a:p>
        </p:txBody>
      </p:sp>
      <p:sp>
        <p:nvSpPr>
          <p:cNvPr id="1937240750" name="Shape 2"/>
          <p:cNvSpPr/>
          <p:nvPr/>
        </p:nvSpPr>
        <p:spPr bwMode="auto">
          <a:xfrm>
            <a:off x="812800" y="1448329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554278111" name="Text 3"/>
          <p:cNvSpPr/>
          <p:nvPr/>
        </p:nvSpPr>
        <p:spPr bwMode="auto">
          <a:xfrm>
            <a:off x="81280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FFD23F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Маршруты</a:t>
            </a:r>
            <a:endParaRPr lang="en-US" sz="1500"/>
          </a:p>
        </p:txBody>
      </p:sp>
      <p:sp>
        <p:nvSpPr>
          <p:cNvPr id="655880400" name="Text 4"/>
          <p:cNvSpPr/>
          <p:nvPr/>
        </p:nvSpPr>
        <p:spPr bwMode="auto">
          <a:xfrm>
            <a:off x="262382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863682501" name="Text 5"/>
          <p:cNvSpPr/>
          <p:nvPr/>
        </p:nvSpPr>
        <p:spPr bwMode="auto">
          <a:xfrm>
            <a:off x="3017519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7CC4FF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Контроллеры</a:t>
            </a:r>
            <a:endParaRPr lang="en-US" sz="1500"/>
          </a:p>
        </p:txBody>
      </p:sp>
      <p:sp>
        <p:nvSpPr>
          <p:cNvPr id="1530896973" name="Text 6"/>
          <p:cNvSpPr/>
          <p:nvPr/>
        </p:nvSpPr>
        <p:spPr bwMode="auto">
          <a:xfrm>
            <a:off x="482854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752310736" name="Text 7"/>
          <p:cNvSpPr/>
          <p:nvPr/>
        </p:nvSpPr>
        <p:spPr bwMode="auto">
          <a:xfrm>
            <a:off x="522224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22E1B0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Сервисы</a:t>
            </a:r>
            <a:endParaRPr lang="en-US" sz="1500"/>
          </a:p>
        </p:txBody>
      </p:sp>
      <p:sp>
        <p:nvSpPr>
          <p:cNvPr id="134182932" name="Text 8"/>
          <p:cNvSpPr/>
          <p:nvPr/>
        </p:nvSpPr>
        <p:spPr bwMode="auto">
          <a:xfrm>
            <a:off x="703326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677658595" name="Text 9"/>
          <p:cNvSpPr/>
          <p:nvPr/>
        </p:nvSpPr>
        <p:spPr bwMode="auto">
          <a:xfrm>
            <a:off x="742696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FF5A66"/>
          </a:solidFill>
          <a:ln/>
        </p:spPr>
        <p:txBody>
          <a:bodyPr wrap="square" lIns="82364" tIns="107764" rIns="823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Модели данных</a:t>
            </a:r>
            <a:endParaRPr lang="en-US" sz="1500"/>
          </a:p>
        </p:txBody>
      </p:sp>
      <p:sp>
        <p:nvSpPr>
          <p:cNvPr id="1197957253" name="Text 10"/>
          <p:cNvSpPr/>
          <p:nvPr/>
        </p:nvSpPr>
        <p:spPr bwMode="auto">
          <a:xfrm>
            <a:off x="9237980" y="196522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353634429" name="Text 11"/>
          <p:cNvSpPr/>
          <p:nvPr/>
        </p:nvSpPr>
        <p:spPr bwMode="auto">
          <a:xfrm>
            <a:off x="9631680" y="1765829"/>
            <a:ext cx="1747520" cy="825500"/>
          </a:xfrm>
          <a:prstGeom prst="roundRect">
            <a:avLst>
              <a:gd name="adj" fmla="val 18462"/>
            </a:avLst>
          </a:prstGeom>
          <a:solidFill>
            <a:srgbClr val="FFD23F"/>
          </a:solidFill>
          <a:ln/>
        </p:spPr>
        <p:txBody>
          <a:bodyPr wrap="square" lIns="107764" tIns="107764" rIns="107764" bIns="107764" rtlCol="0" anchor="ctr">
            <a:normAutofit/>
          </a:bodyPr>
          <a:lstStyle/>
          <a:p>
            <a:pPr marL="0" indent="0" algn="ctr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Валидаторы</a:t>
            </a:r>
            <a:endParaRPr lang="en-US" sz="1500"/>
          </a:p>
        </p:txBody>
      </p:sp>
      <p:sp>
        <p:nvSpPr>
          <p:cNvPr id="909158719" name="Shape 12"/>
          <p:cNvSpPr/>
          <p:nvPr/>
        </p:nvSpPr>
        <p:spPr bwMode="auto">
          <a:xfrm>
            <a:off x="812800" y="2743729"/>
            <a:ext cx="10566400" cy="969010"/>
          </a:xfrm>
          <a:prstGeom prst="roundRect">
            <a:avLst>
              <a:gd name="adj" fmla="val 18349"/>
            </a:avLst>
          </a:prstGeom>
          <a:solidFill>
            <a:srgbClr val="130F3A"/>
          </a:solidFill>
          <a:ln/>
        </p:spPr>
      </p:sp>
      <p:sp>
        <p:nvSpPr>
          <p:cNvPr id="920263303" name="Text 13"/>
          <p:cNvSpPr/>
          <p:nvPr/>
        </p:nvSpPr>
        <p:spPr bwMode="auto">
          <a:xfrm>
            <a:off x="990600" y="2921529"/>
            <a:ext cx="1051712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5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Рядом со слоями</a:t>
            </a:r>
            <a:endParaRPr lang="en-US" sz="1500"/>
          </a:p>
        </p:txBody>
      </p:sp>
      <p:sp>
        <p:nvSpPr>
          <p:cNvPr id="573869693" name="Text 14"/>
          <p:cNvSpPr/>
          <p:nvPr/>
        </p:nvSpPr>
        <p:spPr bwMode="auto">
          <a:xfrm>
            <a:off x="990600" y="3194579"/>
            <a:ext cx="556895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auth</a:t>
            </a:r>
            <a:endParaRPr lang="en-US" sz="1200"/>
          </a:p>
        </p:txBody>
      </p:sp>
      <p:sp>
        <p:nvSpPr>
          <p:cNvPr id="1904885974" name="Text 15"/>
          <p:cNvSpPr/>
          <p:nvPr/>
        </p:nvSpPr>
        <p:spPr bwMode="auto">
          <a:xfrm>
            <a:off x="1623695" y="3194579"/>
            <a:ext cx="645583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RBAC</a:t>
            </a:r>
            <a:endParaRPr lang="en-US" sz="1200"/>
          </a:p>
        </p:txBody>
      </p:sp>
      <p:sp>
        <p:nvSpPr>
          <p:cNvPr id="1795246913" name="Text 16"/>
          <p:cNvSpPr/>
          <p:nvPr/>
        </p:nvSpPr>
        <p:spPr bwMode="auto">
          <a:xfrm>
            <a:off x="2345478" y="3194579"/>
            <a:ext cx="1659149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обработка ошибок</a:t>
            </a:r>
            <a:endParaRPr lang="en-US" sz="1200"/>
          </a:p>
        </p:txBody>
      </p:sp>
      <p:sp>
        <p:nvSpPr>
          <p:cNvPr id="1602484648" name="Text 17"/>
          <p:cNvSpPr/>
          <p:nvPr/>
        </p:nvSpPr>
        <p:spPr bwMode="auto">
          <a:xfrm>
            <a:off x="4080828" y="3194579"/>
            <a:ext cx="1289685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безопасность</a:t>
            </a:r>
            <a:endParaRPr lang="en-US" sz="1200"/>
          </a:p>
        </p:txBody>
      </p:sp>
      <p:sp>
        <p:nvSpPr>
          <p:cNvPr id="1370635789" name="Text 18"/>
          <p:cNvSpPr/>
          <p:nvPr/>
        </p:nvSpPr>
        <p:spPr bwMode="auto">
          <a:xfrm>
            <a:off x="5446713" y="3194579"/>
            <a:ext cx="1326621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конфигурация</a:t>
            </a:r>
            <a:endParaRPr lang="en-US" sz="1200"/>
          </a:p>
        </p:txBody>
      </p:sp>
      <p:sp>
        <p:nvSpPr>
          <p:cNvPr id="465211616" name="Shape 19"/>
          <p:cNvSpPr/>
          <p:nvPr/>
        </p:nvSpPr>
        <p:spPr bwMode="auto">
          <a:xfrm>
            <a:off x="812800" y="3865139"/>
            <a:ext cx="3302000" cy="1711960"/>
          </a:xfrm>
          <a:prstGeom prst="roundRect">
            <a:avLst>
              <a:gd name="adj" fmla="val 10386"/>
            </a:avLst>
          </a:prstGeom>
          <a:solidFill>
            <a:srgbClr val="FFD23F"/>
          </a:solidFill>
          <a:ln/>
        </p:spPr>
      </p:sp>
      <p:sp>
        <p:nvSpPr>
          <p:cNvPr id="1896162818" name="Text 20"/>
          <p:cNvSpPr/>
          <p:nvPr/>
        </p:nvSpPr>
        <p:spPr bwMode="auto">
          <a:xfrm>
            <a:off x="1016000" y="4068339"/>
            <a:ext cx="2982468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  <a:defRPr/>
            </a:pPr>
            <a:r>
              <a:rPr lang="en-US" sz="6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≈39</a:t>
            </a:r>
            <a:endParaRPr lang="en-US" sz="6000"/>
          </a:p>
        </p:txBody>
      </p:sp>
      <p:sp>
        <p:nvSpPr>
          <p:cNvPr id="1265531952" name="Text 21"/>
          <p:cNvSpPr/>
          <p:nvPr/>
        </p:nvSpPr>
        <p:spPr bwMode="auto">
          <a:xfrm>
            <a:off x="1016000" y="4893839"/>
            <a:ext cx="298246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модулей backend, ни одного монолитного файла</a:t>
            </a:r>
            <a:endParaRPr lang="en-US" sz="1400"/>
          </a:p>
        </p:txBody>
      </p:sp>
      <p:sp>
        <p:nvSpPr>
          <p:cNvPr id="885814172" name="Shape 22"/>
          <p:cNvSpPr/>
          <p:nvPr/>
        </p:nvSpPr>
        <p:spPr bwMode="auto">
          <a:xfrm>
            <a:off x="4267200" y="3865139"/>
            <a:ext cx="7112000" cy="1711960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/>
        </p:spPr>
      </p:sp>
      <p:sp>
        <p:nvSpPr>
          <p:cNvPr id="642370181" name="Text 23"/>
          <p:cNvSpPr/>
          <p:nvPr/>
        </p:nvSpPr>
        <p:spPr bwMode="auto">
          <a:xfrm>
            <a:off x="4470400" y="4313450"/>
            <a:ext cx="6906768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Зачем так</a:t>
            </a:r>
            <a:endParaRPr lang="en-US" sz="1700"/>
          </a:p>
        </p:txBody>
      </p:sp>
      <p:sp>
        <p:nvSpPr>
          <p:cNvPr id="1740810812" name="Text 24"/>
          <p:cNvSpPr/>
          <p:nvPr/>
        </p:nvSpPr>
        <p:spPr bwMode="auto">
          <a:xfrm>
            <a:off x="4470400" y="4614439"/>
            <a:ext cx="690676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  <a:defRPr/>
            </a:pPr>
            <a:r>
              <a:rPr lang="en-US" sz="1500">
                <a:solidFill>
                  <a:srgbClr val="130F3A"/>
                </a:solidFill>
                <a:latin typeface="Inter"/>
                <a:ea typeface="Inter"/>
                <a:cs typeface="Inter"/>
              </a:rPr>
              <a:t>Строгое разделение слоёв упрощает сопровождение, тестирование и замену отдельных частей системы.</a:t>
            </a:r>
            <a:endParaRPr lang="en-US" sz="1500"/>
          </a:p>
        </p:txBody>
      </p:sp>
      <p:sp>
        <p:nvSpPr>
          <p:cNvPr id="1343492074" name="Shape 25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176108067" name="Shape 26"/>
          <p:cNvSpPr/>
          <p:nvPr/>
        </p:nvSpPr>
        <p:spPr bwMode="auto">
          <a:xfrm>
            <a:off x="812800" y="6350000"/>
            <a:ext cx="168910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1811799560" name="Text 27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400 · LVL 4/1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264212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04 · БАЗА ДАННЫХ</a:t>
            </a:r>
            <a:endParaRPr lang="en-US" sz="1200"/>
          </a:p>
        </p:txBody>
      </p:sp>
      <p:sp>
        <p:nvSpPr>
          <p:cNvPr id="2134801282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Схема базы данных</a:t>
            </a:r>
            <a:endParaRPr lang="en-US" sz="3800"/>
          </a:p>
        </p:txBody>
      </p:sp>
      <p:sp>
        <p:nvSpPr>
          <p:cNvPr id="1396603660" name="Shape 2"/>
          <p:cNvSpPr/>
          <p:nvPr/>
        </p:nvSpPr>
        <p:spPr bwMode="auto">
          <a:xfrm>
            <a:off x="812800" y="144833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899098640" name="Text 3"/>
          <p:cNvSpPr/>
          <p:nvPr/>
        </p:nvSpPr>
        <p:spPr bwMode="auto">
          <a:xfrm>
            <a:off x="812800" y="1765830"/>
            <a:ext cx="1206500" cy="889000"/>
          </a:xfrm>
          <a:prstGeom prst="roundRect">
            <a:avLst>
              <a:gd name="adj" fmla="val 17143"/>
            </a:avLst>
          </a:prstGeom>
          <a:solidFill>
            <a:srgbClr val="FFD23F"/>
          </a:solidFill>
          <a:ln/>
        </p:spPr>
        <p:txBody>
          <a:bodyPr wrap="square" lIns="82364" tIns="82364" rIns="82364" bIns="82364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Контент</a:t>
            </a:r>
            <a:endParaRPr lang="en-US" sz="1500"/>
          </a:p>
        </p:txBody>
      </p:sp>
      <p:sp>
        <p:nvSpPr>
          <p:cNvPr id="561240120" name="Shape 4"/>
          <p:cNvSpPr/>
          <p:nvPr/>
        </p:nvSpPr>
        <p:spPr bwMode="auto">
          <a:xfrm>
            <a:off x="214630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716447065" name="Text 5"/>
          <p:cNvSpPr/>
          <p:nvPr/>
        </p:nvSpPr>
        <p:spPr bwMode="auto">
          <a:xfrm>
            <a:off x="226060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Уровни</a:t>
            </a:r>
            <a:endParaRPr lang="en-US" sz="1400"/>
          </a:p>
        </p:txBody>
      </p:sp>
      <p:sp>
        <p:nvSpPr>
          <p:cNvPr id="1858354019" name="Text 6"/>
          <p:cNvSpPr/>
          <p:nvPr/>
        </p:nvSpPr>
        <p:spPr bwMode="auto">
          <a:xfrm>
            <a:off x="226060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levels</a:t>
            </a:r>
            <a:endParaRPr lang="en-US" sz="1200"/>
          </a:p>
        </p:txBody>
      </p:sp>
      <p:sp>
        <p:nvSpPr>
          <p:cNvPr id="974154738" name="Text 7"/>
          <p:cNvSpPr/>
          <p:nvPr/>
        </p:nvSpPr>
        <p:spPr bwMode="auto">
          <a:xfrm>
            <a:off x="3698240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214594685" name="Shape 8"/>
          <p:cNvSpPr/>
          <p:nvPr/>
        </p:nvSpPr>
        <p:spPr bwMode="auto">
          <a:xfrm>
            <a:off x="407924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1558740429" name="Text 9"/>
          <p:cNvSpPr/>
          <p:nvPr/>
        </p:nvSpPr>
        <p:spPr bwMode="auto">
          <a:xfrm>
            <a:off x="419354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Миссии</a:t>
            </a:r>
            <a:endParaRPr lang="en-US" sz="1400"/>
          </a:p>
        </p:txBody>
      </p:sp>
      <p:sp>
        <p:nvSpPr>
          <p:cNvPr id="1050814610" name="Text 10"/>
          <p:cNvSpPr/>
          <p:nvPr/>
        </p:nvSpPr>
        <p:spPr bwMode="auto">
          <a:xfrm>
            <a:off x="419354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missions</a:t>
            </a:r>
            <a:endParaRPr lang="en-US" sz="1200"/>
          </a:p>
        </p:txBody>
      </p:sp>
      <p:sp>
        <p:nvSpPr>
          <p:cNvPr id="948547456" name="Text 11"/>
          <p:cNvSpPr/>
          <p:nvPr/>
        </p:nvSpPr>
        <p:spPr bwMode="auto">
          <a:xfrm>
            <a:off x="5631179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433727354" name="Shape 12"/>
          <p:cNvSpPr/>
          <p:nvPr/>
        </p:nvSpPr>
        <p:spPr bwMode="auto">
          <a:xfrm>
            <a:off x="601218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1554940499" name="Text 13"/>
          <p:cNvSpPr/>
          <p:nvPr/>
        </p:nvSpPr>
        <p:spPr bwMode="auto">
          <a:xfrm>
            <a:off x="612648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Задачи</a:t>
            </a:r>
            <a:endParaRPr lang="en-US" sz="1400"/>
          </a:p>
        </p:txBody>
      </p:sp>
      <p:sp>
        <p:nvSpPr>
          <p:cNvPr id="1315032843" name="Text 14"/>
          <p:cNvSpPr/>
          <p:nvPr/>
        </p:nvSpPr>
        <p:spPr bwMode="auto">
          <a:xfrm>
            <a:off x="612648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tasks</a:t>
            </a:r>
            <a:endParaRPr lang="en-US" sz="1200"/>
          </a:p>
        </p:txBody>
      </p:sp>
      <p:sp>
        <p:nvSpPr>
          <p:cNvPr id="1027228272" name="Text 15"/>
          <p:cNvSpPr/>
          <p:nvPr/>
        </p:nvSpPr>
        <p:spPr bwMode="auto">
          <a:xfrm>
            <a:off x="7564120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923507700" name="Shape 16"/>
          <p:cNvSpPr/>
          <p:nvPr/>
        </p:nvSpPr>
        <p:spPr bwMode="auto">
          <a:xfrm>
            <a:off x="794512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1819958028" name="Text 17"/>
          <p:cNvSpPr/>
          <p:nvPr/>
        </p:nvSpPr>
        <p:spPr bwMode="auto">
          <a:xfrm>
            <a:off x="8059420" y="1880130"/>
            <a:ext cx="132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Вопросы</a:t>
            </a:r>
            <a:endParaRPr lang="en-US" sz="1400"/>
          </a:p>
        </p:txBody>
      </p:sp>
      <p:sp>
        <p:nvSpPr>
          <p:cNvPr id="217426551" name="Text 18"/>
          <p:cNvSpPr/>
          <p:nvPr/>
        </p:nvSpPr>
        <p:spPr bwMode="auto">
          <a:xfrm>
            <a:off x="8059420" y="2139209"/>
            <a:ext cx="13233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questions</a:t>
            </a:r>
            <a:endParaRPr lang="en-US" sz="1200"/>
          </a:p>
        </p:txBody>
      </p:sp>
      <p:sp>
        <p:nvSpPr>
          <p:cNvPr id="1963765606" name="Text 19"/>
          <p:cNvSpPr/>
          <p:nvPr/>
        </p:nvSpPr>
        <p:spPr bwMode="auto">
          <a:xfrm>
            <a:off x="9497060" y="19969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435650875" name="Shape 20"/>
          <p:cNvSpPr/>
          <p:nvPr/>
        </p:nvSpPr>
        <p:spPr bwMode="auto">
          <a:xfrm>
            <a:off x="9878060" y="1765830"/>
            <a:ext cx="1501140" cy="88900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/>
        </p:spPr>
      </p:sp>
      <p:sp>
        <p:nvSpPr>
          <p:cNvPr id="979710106" name="Text 21"/>
          <p:cNvSpPr/>
          <p:nvPr/>
        </p:nvSpPr>
        <p:spPr bwMode="auto">
          <a:xfrm>
            <a:off x="9992360" y="1880130"/>
            <a:ext cx="13233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Варианты ответов</a:t>
            </a:r>
            <a:endParaRPr lang="en-US" sz="1400"/>
          </a:p>
        </p:txBody>
      </p:sp>
      <p:sp>
        <p:nvSpPr>
          <p:cNvPr id="1377259704" name="Text 22"/>
          <p:cNvSpPr/>
          <p:nvPr/>
        </p:nvSpPr>
        <p:spPr bwMode="auto">
          <a:xfrm>
            <a:off x="9992360" y="2334788"/>
            <a:ext cx="13868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question_options</a:t>
            </a:r>
            <a:endParaRPr lang="en-US" sz="1200"/>
          </a:p>
        </p:txBody>
      </p:sp>
      <p:sp>
        <p:nvSpPr>
          <p:cNvPr id="66043786" name="Text 23"/>
          <p:cNvSpPr/>
          <p:nvPr/>
        </p:nvSpPr>
        <p:spPr bwMode="auto">
          <a:xfrm>
            <a:off x="812800" y="2781830"/>
            <a:ext cx="1206500" cy="899160"/>
          </a:xfrm>
          <a:prstGeom prst="roundRect">
            <a:avLst>
              <a:gd name="adj" fmla="val 16949"/>
            </a:avLst>
          </a:prstGeom>
          <a:solidFill>
            <a:srgbClr val="7CC4FF"/>
          </a:solidFill>
          <a:ln/>
        </p:spPr>
        <p:txBody>
          <a:bodyPr wrap="square" lIns="82364" tIns="82364" rIns="31564" bIns="82364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Люди и прогресс</a:t>
            </a:r>
            <a:endParaRPr lang="en-US" sz="1500"/>
          </a:p>
        </p:txBody>
      </p:sp>
      <p:sp>
        <p:nvSpPr>
          <p:cNvPr id="136384321" name="Shape 24"/>
          <p:cNvSpPr/>
          <p:nvPr/>
        </p:nvSpPr>
        <p:spPr bwMode="auto">
          <a:xfrm>
            <a:off x="2146300" y="2781830"/>
            <a:ext cx="2789767" cy="899160"/>
          </a:xfrm>
          <a:prstGeom prst="roundRect">
            <a:avLst>
              <a:gd name="adj" fmla="val 15537"/>
            </a:avLst>
          </a:prstGeom>
          <a:solidFill>
            <a:srgbClr val="FFFFFF"/>
          </a:solidFill>
          <a:ln/>
        </p:spPr>
      </p:sp>
      <p:sp>
        <p:nvSpPr>
          <p:cNvPr id="1881753833" name="Text 25"/>
          <p:cNvSpPr/>
          <p:nvPr/>
        </p:nvSpPr>
        <p:spPr bwMode="auto">
          <a:xfrm>
            <a:off x="2260600" y="2896130"/>
            <a:ext cx="263800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Роли и группы</a:t>
            </a:r>
            <a:endParaRPr lang="en-US" sz="1400"/>
          </a:p>
        </p:txBody>
      </p:sp>
      <p:sp>
        <p:nvSpPr>
          <p:cNvPr id="2016751413" name="Text 26"/>
          <p:cNvSpPr/>
          <p:nvPr/>
        </p:nvSpPr>
        <p:spPr bwMode="auto">
          <a:xfrm>
            <a:off x="2260600" y="3155209"/>
            <a:ext cx="263800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roles, groups</a:t>
            </a:r>
            <a:endParaRPr lang="en-US" sz="1200"/>
          </a:p>
        </p:txBody>
      </p:sp>
      <p:sp>
        <p:nvSpPr>
          <p:cNvPr id="1986288464" name="Text 27"/>
          <p:cNvSpPr/>
          <p:nvPr/>
        </p:nvSpPr>
        <p:spPr bwMode="auto">
          <a:xfrm>
            <a:off x="4986867" y="3018048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239204296" name="Shape 28"/>
          <p:cNvSpPr/>
          <p:nvPr/>
        </p:nvSpPr>
        <p:spPr bwMode="auto">
          <a:xfrm>
            <a:off x="5367867" y="2781830"/>
            <a:ext cx="2789767" cy="899160"/>
          </a:xfrm>
          <a:prstGeom prst="roundRect">
            <a:avLst>
              <a:gd name="adj" fmla="val 15537"/>
            </a:avLst>
          </a:prstGeom>
          <a:solidFill>
            <a:srgbClr val="FFFFFF"/>
          </a:solidFill>
          <a:ln/>
        </p:spPr>
      </p:sp>
      <p:sp>
        <p:nvSpPr>
          <p:cNvPr id="1200439549" name="Text 29"/>
          <p:cNvSpPr/>
          <p:nvPr/>
        </p:nvSpPr>
        <p:spPr bwMode="auto">
          <a:xfrm>
            <a:off x="5482167" y="2896130"/>
            <a:ext cx="263800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Пользователи</a:t>
            </a:r>
            <a:endParaRPr lang="en-US" sz="1400"/>
          </a:p>
        </p:txBody>
      </p:sp>
      <p:sp>
        <p:nvSpPr>
          <p:cNvPr id="1855809661" name="Text 30"/>
          <p:cNvSpPr/>
          <p:nvPr/>
        </p:nvSpPr>
        <p:spPr bwMode="auto">
          <a:xfrm>
            <a:off x="5482167" y="3155209"/>
            <a:ext cx="263800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users</a:t>
            </a:r>
            <a:endParaRPr lang="en-US" sz="1200"/>
          </a:p>
        </p:txBody>
      </p:sp>
      <p:sp>
        <p:nvSpPr>
          <p:cNvPr id="1187828257" name="Text 31"/>
          <p:cNvSpPr/>
          <p:nvPr/>
        </p:nvSpPr>
        <p:spPr bwMode="auto">
          <a:xfrm>
            <a:off x="8208433" y="3018048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2016794739" name="Shape 32"/>
          <p:cNvSpPr/>
          <p:nvPr/>
        </p:nvSpPr>
        <p:spPr bwMode="auto">
          <a:xfrm>
            <a:off x="8589433" y="2781830"/>
            <a:ext cx="2789767" cy="899160"/>
          </a:xfrm>
          <a:prstGeom prst="roundRect">
            <a:avLst>
              <a:gd name="adj" fmla="val 15537"/>
            </a:avLst>
          </a:prstGeom>
          <a:solidFill>
            <a:srgbClr val="FFFFFF"/>
          </a:solidFill>
          <a:ln/>
        </p:spPr>
      </p:sp>
      <p:sp>
        <p:nvSpPr>
          <p:cNvPr id="213117190" name="Text 33"/>
          <p:cNvSpPr/>
          <p:nvPr/>
        </p:nvSpPr>
        <p:spPr bwMode="auto">
          <a:xfrm>
            <a:off x="8703733" y="2896130"/>
            <a:ext cx="263800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Прогресс и попытки</a:t>
            </a:r>
            <a:endParaRPr lang="en-US" sz="1400"/>
          </a:p>
        </p:txBody>
      </p:sp>
      <p:sp>
        <p:nvSpPr>
          <p:cNvPr id="1519139829" name="Text 34"/>
          <p:cNvSpPr/>
          <p:nvPr/>
        </p:nvSpPr>
        <p:spPr bwMode="auto">
          <a:xfrm>
            <a:off x="8703733" y="3155209"/>
            <a:ext cx="263800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user_mission_progress, mission_attempts</a:t>
            </a:r>
            <a:endParaRPr lang="en-US" sz="1200"/>
          </a:p>
        </p:txBody>
      </p:sp>
      <p:sp>
        <p:nvSpPr>
          <p:cNvPr id="984907468" name="Text 35"/>
          <p:cNvSpPr/>
          <p:nvPr/>
        </p:nvSpPr>
        <p:spPr bwMode="auto">
          <a:xfrm>
            <a:off x="812800" y="3807988"/>
            <a:ext cx="1206500" cy="787400"/>
          </a:xfrm>
          <a:prstGeom prst="roundRect">
            <a:avLst>
              <a:gd name="adj" fmla="val 19355"/>
            </a:avLst>
          </a:prstGeom>
          <a:solidFill>
            <a:srgbClr val="22E1B0"/>
          </a:solidFill>
          <a:ln/>
        </p:spPr>
        <p:txBody>
          <a:bodyPr wrap="square" lIns="82364" tIns="69664" rIns="31564" bIns="69664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Вспомогательные</a:t>
            </a:r>
            <a:endParaRPr lang="en-US" sz="1500"/>
          </a:p>
        </p:txBody>
      </p:sp>
      <p:sp>
        <p:nvSpPr>
          <p:cNvPr id="817088704" name="Shape 36"/>
          <p:cNvSpPr/>
          <p:nvPr/>
        </p:nvSpPr>
        <p:spPr bwMode="auto">
          <a:xfrm>
            <a:off x="2146300" y="3807988"/>
            <a:ext cx="4400550" cy="78740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/>
        </p:spPr>
      </p:sp>
      <p:sp>
        <p:nvSpPr>
          <p:cNvPr id="2079071583" name="Text 37"/>
          <p:cNvSpPr/>
          <p:nvPr/>
        </p:nvSpPr>
        <p:spPr bwMode="auto">
          <a:xfrm>
            <a:off x="2260600" y="3922288"/>
            <a:ext cx="42971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Калибровка</a:t>
            </a:r>
            <a:endParaRPr lang="en-US" sz="1400"/>
          </a:p>
        </p:txBody>
      </p:sp>
      <p:sp>
        <p:nvSpPr>
          <p:cNvPr id="324522522" name="Text 38"/>
          <p:cNvSpPr/>
          <p:nvPr/>
        </p:nvSpPr>
        <p:spPr bwMode="auto">
          <a:xfrm>
            <a:off x="2260600" y="4181370"/>
            <a:ext cx="429710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calibration_questions</a:t>
            </a:r>
            <a:endParaRPr lang="en-US" sz="1200"/>
          </a:p>
        </p:txBody>
      </p:sp>
      <p:sp>
        <p:nvSpPr>
          <p:cNvPr id="358829859" name="Text 39"/>
          <p:cNvSpPr/>
          <p:nvPr/>
        </p:nvSpPr>
        <p:spPr bwMode="auto">
          <a:xfrm>
            <a:off x="6597650" y="398833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986960697" name="Shape 40"/>
          <p:cNvSpPr/>
          <p:nvPr/>
        </p:nvSpPr>
        <p:spPr bwMode="auto">
          <a:xfrm>
            <a:off x="6978650" y="3807988"/>
            <a:ext cx="4400550" cy="78740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/>
        </p:spPr>
      </p:sp>
      <p:sp>
        <p:nvSpPr>
          <p:cNvPr id="1686698907" name="Text 41"/>
          <p:cNvSpPr/>
          <p:nvPr/>
        </p:nvSpPr>
        <p:spPr bwMode="auto">
          <a:xfrm>
            <a:off x="7092950" y="3922288"/>
            <a:ext cx="42971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Словарь</a:t>
            </a:r>
            <a:endParaRPr lang="en-US" sz="1400"/>
          </a:p>
        </p:txBody>
      </p:sp>
      <p:sp>
        <p:nvSpPr>
          <p:cNvPr id="1011906847" name="Text 42"/>
          <p:cNvSpPr/>
          <p:nvPr/>
        </p:nvSpPr>
        <p:spPr bwMode="auto">
          <a:xfrm>
            <a:off x="7092950" y="4181370"/>
            <a:ext cx="429710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vocabulary_items</a:t>
            </a:r>
            <a:endParaRPr lang="en-US" sz="1200"/>
          </a:p>
        </p:txBody>
      </p:sp>
      <p:sp>
        <p:nvSpPr>
          <p:cNvPr id="1366059808" name="Text 43"/>
          <p:cNvSpPr/>
          <p:nvPr/>
        </p:nvSpPr>
        <p:spPr bwMode="auto">
          <a:xfrm>
            <a:off x="812800" y="4722388"/>
            <a:ext cx="1088339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E9E7FF"/>
                </a:solidFill>
                <a:latin typeface="Inter"/>
                <a:ea typeface="Inter"/>
                <a:cs typeface="Inter"/>
              </a:rPr>
              <a:t>Уровень содержит миссии, миссия — задачи, задача — вопросы, вопрос — варианты. Прогресс и попытки связывают пользователя с миссией.</a:t>
            </a:r>
            <a:endParaRPr lang="en-US" sz="1300"/>
          </a:p>
        </p:txBody>
      </p:sp>
      <p:sp>
        <p:nvSpPr>
          <p:cNvPr id="506721030" name="Shape 44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369576328" name="Shape 45"/>
          <p:cNvSpPr/>
          <p:nvPr/>
        </p:nvSpPr>
        <p:spPr bwMode="auto">
          <a:xfrm>
            <a:off x="812800" y="6350000"/>
            <a:ext cx="211455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1703730456" name="Text 46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500 · LVL 5/1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883386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05 · ЦЕЛОСТНОСТЬ</a:t>
            </a:r>
            <a:endParaRPr lang="en-US" sz="1200"/>
          </a:p>
        </p:txBody>
      </p:sp>
      <p:sp>
        <p:nvSpPr>
          <p:cNvPr id="1635129484" name="Text 1"/>
          <p:cNvSpPr/>
          <p:nvPr>
            <p:ph type="title"/>
          </p:nvPr>
        </p:nvSpPr>
        <p:spPr bwMode="auto">
          <a:xfrm>
            <a:off x="812800" y="812800"/>
            <a:ext cx="10883392" cy="503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71"/>
              </a:lnSpc>
              <a:buNone/>
              <a:defRPr/>
            </a:pPr>
            <a:r>
              <a:rPr lang="en-US" sz="35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Целостность данных и индексы</a:t>
            </a:r>
            <a:endParaRPr lang="en-US" sz="3500"/>
          </a:p>
        </p:txBody>
      </p:sp>
      <p:sp>
        <p:nvSpPr>
          <p:cNvPr id="464900669" name="Shape 2"/>
          <p:cNvSpPr/>
          <p:nvPr/>
        </p:nvSpPr>
        <p:spPr bwMode="auto">
          <a:xfrm>
            <a:off x="812800" y="1405468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564056257" name="Shape 3"/>
          <p:cNvSpPr/>
          <p:nvPr/>
        </p:nvSpPr>
        <p:spPr bwMode="auto">
          <a:xfrm>
            <a:off x="812800" y="1722968"/>
            <a:ext cx="3206750" cy="2551430"/>
          </a:xfrm>
          <a:prstGeom prst="roundRect">
            <a:avLst>
              <a:gd name="adj" fmla="val 6969"/>
            </a:avLst>
          </a:prstGeom>
          <a:solidFill>
            <a:srgbClr val="FFD23F"/>
          </a:solidFill>
          <a:ln/>
        </p:spPr>
      </p:sp>
      <p:sp>
        <p:nvSpPr>
          <p:cNvPr id="2088976498" name="Text 4"/>
          <p:cNvSpPr/>
          <p:nvPr/>
        </p:nvSpPr>
        <p:spPr bwMode="auto">
          <a:xfrm>
            <a:off x="1003300" y="1913468"/>
            <a:ext cx="291052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3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CHECK</a:t>
            </a:r>
            <a:endParaRPr lang="en-US" sz="3000"/>
          </a:p>
        </p:txBody>
      </p:sp>
      <p:sp>
        <p:nvSpPr>
          <p:cNvPr id="2016985276" name="Text 5"/>
          <p:cNvSpPr/>
          <p:nvPr/>
        </p:nvSpPr>
        <p:spPr bwMode="auto">
          <a:xfrm>
            <a:off x="1073658" y="2357968"/>
            <a:ext cx="2832545" cy="175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уровень CEFR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order_index от 1 до 5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допустимые типы задач и вопросов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XP строго положительный</a:t>
            </a:r>
            <a:endParaRPr lang="en-US" sz="1600"/>
          </a:p>
        </p:txBody>
      </p:sp>
      <p:sp>
        <p:nvSpPr>
          <p:cNvPr id="1932805986" name="Shape 6"/>
          <p:cNvSpPr/>
          <p:nvPr/>
        </p:nvSpPr>
        <p:spPr bwMode="auto">
          <a:xfrm>
            <a:off x="4171950" y="1722968"/>
            <a:ext cx="3206750" cy="2551430"/>
          </a:xfrm>
          <a:prstGeom prst="roundRect">
            <a:avLst>
              <a:gd name="adj" fmla="val 6969"/>
            </a:avLst>
          </a:prstGeom>
          <a:solidFill>
            <a:srgbClr val="7CC4FF"/>
          </a:solidFill>
          <a:ln/>
        </p:spPr>
      </p:sp>
      <p:sp>
        <p:nvSpPr>
          <p:cNvPr id="167526414" name="Text 7"/>
          <p:cNvSpPr/>
          <p:nvPr/>
        </p:nvSpPr>
        <p:spPr bwMode="auto">
          <a:xfrm>
            <a:off x="4362450" y="1913468"/>
            <a:ext cx="291052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3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UNIQUE</a:t>
            </a:r>
            <a:endParaRPr lang="en-US" sz="3000"/>
          </a:p>
        </p:txBody>
      </p:sp>
      <p:sp>
        <p:nvSpPr>
          <p:cNvPr id="579464957" name="Text 8"/>
          <p:cNvSpPr/>
          <p:nvPr/>
        </p:nvSpPr>
        <p:spPr bwMode="auto">
          <a:xfrm>
            <a:off x="4432808" y="2357968"/>
            <a:ext cx="2832545" cy="175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email пользователя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имя роли и код уровня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«уровень + порядок» у миссий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«пользователь + миссия» у прогресса</a:t>
            </a:r>
            <a:endParaRPr lang="en-US" sz="1600"/>
          </a:p>
        </p:txBody>
      </p:sp>
      <p:sp>
        <p:nvSpPr>
          <p:cNvPr id="577896060" name="Shape 9"/>
          <p:cNvSpPr/>
          <p:nvPr/>
        </p:nvSpPr>
        <p:spPr bwMode="auto">
          <a:xfrm>
            <a:off x="7531100" y="1722968"/>
            <a:ext cx="3848100" cy="3400108"/>
          </a:xfrm>
          <a:prstGeom prst="roundRect">
            <a:avLst>
              <a:gd name="adj" fmla="val 5229"/>
            </a:avLst>
          </a:prstGeom>
          <a:solidFill>
            <a:srgbClr val="22E1B0"/>
          </a:solidFill>
          <a:ln/>
        </p:spPr>
      </p:sp>
      <p:sp>
        <p:nvSpPr>
          <p:cNvPr id="848516079" name="Text 10"/>
          <p:cNvSpPr/>
          <p:nvPr/>
        </p:nvSpPr>
        <p:spPr bwMode="auto">
          <a:xfrm>
            <a:off x="7721600" y="1913468"/>
            <a:ext cx="357111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3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FK + индексы</a:t>
            </a:r>
            <a:endParaRPr lang="en-US" sz="3000"/>
          </a:p>
        </p:txBody>
      </p:sp>
      <p:sp>
        <p:nvSpPr>
          <p:cNvPr id="327516602" name="Text 11"/>
          <p:cNvSpPr/>
          <p:nvPr/>
        </p:nvSpPr>
        <p:spPr bwMode="auto">
          <a:xfrm>
            <a:off x="7791958" y="2357968"/>
            <a:ext cx="3493135" cy="260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CASCADE для задач, вопросов и вариантов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индексы на внешние ключи: tasks.mission_id, questions.task_id, question_options.question_id, vocabulary_items.level_id</a:t>
            </a:r>
            <a:endParaRPr lang="en-US" sz="1600"/>
          </a:p>
          <a:p>
            <a:pPr marL="183642" indent="-183642" algn="l">
              <a:lnSpc>
                <a:spcPts val="224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прогресс и попытки — по user_id и mission_id</a:t>
            </a:r>
            <a:endParaRPr lang="en-US" sz="1600"/>
          </a:p>
        </p:txBody>
      </p:sp>
      <p:sp>
        <p:nvSpPr>
          <p:cNvPr id="2093497458" name="Text 12"/>
          <p:cNvSpPr/>
          <p:nvPr/>
        </p:nvSpPr>
        <p:spPr bwMode="auto">
          <a:xfrm>
            <a:off x="812800" y="5039677"/>
            <a:ext cx="10566400" cy="802323"/>
          </a:xfrm>
          <a:prstGeom prst="roundRect">
            <a:avLst>
              <a:gd name="adj" fmla="val 22161"/>
            </a:avLst>
          </a:prstGeom>
          <a:solidFill>
            <a:srgbClr val="130F3A"/>
          </a:solidFill>
          <a:ln/>
        </p:spPr>
        <p:txBody>
          <a:bodyPr wrap="square" lIns="125724" tIns="125724" rIns="0" bIns="100324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Индексы ускоряют загрузку дочерних записей, выборку прогресса и каскадные удаления. Часть запросов покрыта уникальными индексами.</a:t>
            </a:r>
            <a:endParaRPr lang="en-US" sz="1300"/>
          </a:p>
        </p:txBody>
      </p:sp>
      <p:sp>
        <p:nvSpPr>
          <p:cNvPr id="34626327" name="Shape 13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330034902" name="Shape 14"/>
          <p:cNvSpPr/>
          <p:nvPr/>
        </p:nvSpPr>
        <p:spPr bwMode="auto">
          <a:xfrm>
            <a:off x="812800" y="6350000"/>
            <a:ext cx="254000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1054266018" name="Text 15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600 · LVL 6/1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832870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06 · ДОСТУП</a:t>
            </a:r>
            <a:endParaRPr lang="en-US" sz="1200"/>
          </a:p>
        </p:txBody>
      </p:sp>
      <p:sp>
        <p:nvSpPr>
          <p:cNvPr id="857277214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Аутентификация, роли и безопасность</a:t>
            </a:r>
            <a:endParaRPr lang="en-US" sz="3800"/>
          </a:p>
        </p:txBody>
      </p:sp>
      <p:sp>
        <p:nvSpPr>
          <p:cNvPr id="836606165" name="Shape 2"/>
          <p:cNvSpPr/>
          <p:nvPr/>
        </p:nvSpPr>
        <p:spPr bwMode="auto">
          <a:xfrm>
            <a:off x="812800" y="144833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848558220" name="Shape 3"/>
          <p:cNvSpPr/>
          <p:nvPr/>
        </p:nvSpPr>
        <p:spPr bwMode="auto">
          <a:xfrm>
            <a:off x="812800" y="1765830"/>
            <a:ext cx="3420533" cy="1938655"/>
          </a:xfrm>
          <a:prstGeom prst="roundRect">
            <a:avLst>
              <a:gd name="adj" fmla="val 9171"/>
            </a:avLst>
          </a:prstGeom>
          <a:solidFill>
            <a:srgbClr val="FFD23F"/>
          </a:solidFill>
          <a:ln/>
        </p:spPr>
      </p:sp>
      <p:sp>
        <p:nvSpPr>
          <p:cNvPr id="2020285386" name="Text 4"/>
          <p:cNvSpPr/>
          <p:nvPr/>
        </p:nvSpPr>
        <p:spPr bwMode="auto">
          <a:xfrm>
            <a:off x="1003300" y="1956330"/>
            <a:ext cx="3130719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  <a:defRPr/>
            </a:pPr>
            <a:r>
              <a:rPr lang="en-US" sz="6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12</a:t>
            </a:r>
            <a:endParaRPr lang="en-US" sz="6500"/>
          </a:p>
        </p:txBody>
      </p:sp>
      <p:sp>
        <p:nvSpPr>
          <p:cNvPr id="1069127297" name="Text 5"/>
          <p:cNvSpPr/>
          <p:nvPr/>
        </p:nvSpPr>
        <p:spPr bwMode="auto">
          <a:xfrm>
            <a:off x="1003300" y="2845330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раундов bcrypt; защита от усечения паролей длиннее 72 байт</a:t>
            </a:r>
            <a:endParaRPr lang="en-US" sz="1300"/>
          </a:p>
        </p:txBody>
      </p:sp>
      <p:sp>
        <p:nvSpPr>
          <p:cNvPr id="1060788271" name="Shape 6"/>
          <p:cNvSpPr/>
          <p:nvPr/>
        </p:nvSpPr>
        <p:spPr bwMode="auto">
          <a:xfrm>
            <a:off x="4385733" y="1765830"/>
            <a:ext cx="3420533" cy="1938655"/>
          </a:xfrm>
          <a:prstGeom prst="roundRect">
            <a:avLst>
              <a:gd name="adj" fmla="val 9171"/>
            </a:avLst>
          </a:prstGeom>
          <a:solidFill>
            <a:srgbClr val="7CC4FF"/>
          </a:solidFill>
          <a:ln/>
        </p:spPr>
      </p:sp>
      <p:sp>
        <p:nvSpPr>
          <p:cNvPr id="1597067761" name="Text 7"/>
          <p:cNvSpPr/>
          <p:nvPr/>
        </p:nvSpPr>
        <p:spPr bwMode="auto">
          <a:xfrm>
            <a:off x="4576233" y="1956330"/>
            <a:ext cx="3130719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  <a:defRPr/>
            </a:pPr>
            <a:r>
              <a:rPr lang="en-US" sz="6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JWT</a:t>
            </a:r>
            <a:endParaRPr lang="en-US" sz="6500"/>
          </a:p>
        </p:txBody>
      </p:sp>
      <p:sp>
        <p:nvSpPr>
          <p:cNvPr id="1390889903" name="Text 8"/>
          <p:cNvSpPr/>
          <p:nvPr/>
        </p:nvSpPr>
        <p:spPr bwMode="auto">
          <a:xfrm>
            <a:off x="4576233" y="2845330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подпись, срок действия и поиск пользователя в базе</a:t>
            </a:r>
            <a:endParaRPr lang="en-US" sz="1300"/>
          </a:p>
        </p:txBody>
      </p:sp>
      <p:sp>
        <p:nvSpPr>
          <p:cNvPr id="1753574739" name="Shape 9"/>
          <p:cNvSpPr/>
          <p:nvPr/>
        </p:nvSpPr>
        <p:spPr bwMode="auto">
          <a:xfrm>
            <a:off x="7958667" y="1765830"/>
            <a:ext cx="3420533" cy="1938655"/>
          </a:xfrm>
          <a:prstGeom prst="roundRect">
            <a:avLst>
              <a:gd name="adj" fmla="val 9171"/>
            </a:avLst>
          </a:prstGeom>
          <a:solidFill>
            <a:srgbClr val="FF5A66"/>
          </a:solidFill>
          <a:ln/>
        </p:spPr>
      </p:sp>
      <p:sp>
        <p:nvSpPr>
          <p:cNvPr id="356416704" name="Text 10"/>
          <p:cNvSpPr/>
          <p:nvPr/>
        </p:nvSpPr>
        <p:spPr bwMode="auto">
          <a:xfrm>
            <a:off x="8149167" y="1956330"/>
            <a:ext cx="3130719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00"/>
              </a:lnSpc>
              <a:buNone/>
              <a:defRPr/>
            </a:pPr>
            <a:r>
              <a:rPr lang="en-US" sz="65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403</a:t>
            </a:r>
            <a:endParaRPr lang="en-US" sz="6500"/>
          </a:p>
        </p:txBody>
      </p:sp>
      <p:sp>
        <p:nvSpPr>
          <p:cNvPr id="1391602950" name="Text 11"/>
          <p:cNvSpPr/>
          <p:nvPr/>
        </p:nvSpPr>
        <p:spPr bwMode="auto">
          <a:xfrm>
            <a:off x="8149167" y="2845330"/>
            <a:ext cx="313071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изменение контента доступно только преподавателю; роль берётся из базы</a:t>
            </a:r>
            <a:endParaRPr lang="en-US" sz="1300"/>
          </a:p>
        </p:txBody>
      </p:sp>
      <p:sp>
        <p:nvSpPr>
          <p:cNvPr id="90907190" name="Shape 12"/>
          <p:cNvSpPr/>
          <p:nvPr/>
        </p:nvSpPr>
        <p:spPr bwMode="auto">
          <a:xfrm>
            <a:off x="812800" y="3856884"/>
            <a:ext cx="3556000" cy="1573530"/>
          </a:xfrm>
          <a:prstGeom prst="roundRect">
            <a:avLst>
              <a:gd name="adj" fmla="val 11299"/>
            </a:avLst>
          </a:prstGeom>
          <a:solidFill>
            <a:srgbClr val="201B57"/>
          </a:solidFill>
          <a:ln/>
        </p:spPr>
      </p:sp>
      <p:sp>
        <p:nvSpPr>
          <p:cNvPr id="1821282865" name="Text 13"/>
          <p:cNvSpPr/>
          <p:nvPr/>
        </p:nvSpPr>
        <p:spPr bwMode="auto">
          <a:xfrm>
            <a:off x="1003300" y="4047384"/>
            <a:ext cx="327025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Безопасность</a:t>
            </a:r>
            <a:endParaRPr lang="en-US" sz="1700"/>
          </a:p>
        </p:txBody>
      </p:sp>
      <p:sp>
        <p:nvSpPr>
          <p:cNvPr id="397579541" name="Text 14"/>
          <p:cNvSpPr/>
          <p:nvPr/>
        </p:nvSpPr>
        <p:spPr bwMode="auto">
          <a:xfrm>
            <a:off x="1003300" y="4348373"/>
            <a:ext cx="3270250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Inter"/>
                <a:ea typeface="Inter"/>
                <a:cs typeface="Inter"/>
              </a:rPr>
              <a:t>В production запрещён запуск с небезопасными значениями по умолчанию. Ответы не раскрывают ученику правильные варианты.</a:t>
            </a:r>
            <a:endParaRPr lang="en-US" sz="1300"/>
          </a:p>
        </p:txBody>
      </p:sp>
      <p:sp>
        <p:nvSpPr>
          <p:cNvPr id="436812755" name="Text 15"/>
          <p:cNvSpPr/>
          <p:nvPr/>
        </p:nvSpPr>
        <p:spPr bwMode="auto">
          <a:xfrm>
            <a:off x="4521200" y="3856884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Валидация через Pydantic</a:t>
            </a:r>
            <a:endParaRPr lang="en-US" sz="1200"/>
          </a:p>
        </p:txBody>
      </p:sp>
      <p:sp>
        <p:nvSpPr>
          <p:cNvPr id="661074946" name="Text 16"/>
          <p:cNvSpPr/>
          <p:nvPr/>
        </p:nvSpPr>
        <p:spPr bwMode="auto">
          <a:xfrm>
            <a:off x="7994650" y="3856884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Единый формат ошибок</a:t>
            </a:r>
            <a:endParaRPr lang="en-US" sz="1200"/>
          </a:p>
        </p:txBody>
      </p:sp>
      <p:sp>
        <p:nvSpPr>
          <p:cNvPr id="1712730567" name="Text 17"/>
          <p:cNvSpPr/>
          <p:nvPr/>
        </p:nvSpPr>
        <p:spPr bwMode="auto">
          <a:xfrm>
            <a:off x="4521200" y="4411027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Лимит частоты запросов</a:t>
            </a:r>
            <a:endParaRPr lang="en-US" sz="1200"/>
          </a:p>
        </p:txBody>
      </p:sp>
      <p:sp>
        <p:nvSpPr>
          <p:cNvPr id="1075573964" name="Text 18"/>
          <p:cNvSpPr/>
          <p:nvPr/>
        </p:nvSpPr>
        <p:spPr bwMode="auto">
          <a:xfrm>
            <a:off x="7994650" y="4411027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Защитные HTTP-заголовки</a:t>
            </a:r>
            <a:endParaRPr lang="en-US" sz="1200"/>
          </a:p>
        </p:txBody>
      </p:sp>
      <p:sp>
        <p:nvSpPr>
          <p:cNvPr id="135779557" name="Text 19"/>
          <p:cNvSpPr/>
          <p:nvPr/>
        </p:nvSpPr>
        <p:spPr bwMode="auto">
          <a:xfrm>
            <a:off x="4521200" y="4965170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Корректный CORS</a:t>
            </a:r>
            <a:endParaRPr lang="en-US" sz="1200"/>
          </a:p>
        </p:txBody>
      </p:sp>
      <p:sp>
        <p:nvSpPr>
          <p:cNvPr id="813644707" name="Text 20"/>
          <p:cNvSpPr/>
          <p:nvPr/>
        </p:nvSpPr>
        <p:spPr bwMode="auto">
          <a:xfrm>
            <a:off x="7994650" y="4965170"/>
            <a:ext cx="3384550" cy="465243"/>
          </a:xfrm>
          <a:custGeom>
            <a:avLst/>
            <a:gdLst/>
            <a:ahLst/>
            <a:cxnLst/>
            <a:rect l="l" t="t" r="r" b="b"/>
            <a:pathLst>
              <a:path w="3384550" h="465243" fill="norm" stroke="1" extrusionOk="0">
                <a:moveTo>
                  <a:pt x="232622" y="0"/>
                </a:moveTo>
                <a:lnTo>
                  <a:pt x="3151928" y="0"/>
                </a:lnTo>
                <a:arcTo wR="232622" hR="232622" stAng="16200000" swAng="5400000"/>
                <a:lnTo>
                  <a:pt x="3384550" y="232622"/>
                </a:lnTo>
                <a:arcTo wR="232622" hR="232622" stAng="0" swAng="5400000"/>
                <a:lnTo>
                  <a:pt x="232622" y="465243"/>
                </a:lnTo>
                <a:arcTo wR="232622" hR="232622" stAng="5400000" swAng="5400000"/>
                <a:lnTo>
                  <a:pt x="0" y="232622"/>
                </a:lnTo>
                <a:arcTo wR="232622" hR="232622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square" lIns="66961" tIns="63500" rIns="66961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Секреты в переменных окружения</a:t>
            </a:r>
            <a:endParaRPr lang="en-US" sz="1200"/>
          </a:p>
        </p:txBody>
      </p:sp>
      <p:sp>
        <p:nvSpPr>
          <p:cNvPr id="1286900404" name="Shape 21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1322820120" name="Shape 22"/>
          <p:cNvSpPr/>
          <p:nvPr/>
        </p:nvSpPr>
        <p:spPr bwMode="auto">
          <a:xfrm>
            <a:off x="812800" y="6350000"/>
            <a:ext cx="29591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668907746" name="Text 23"/>
          <p:cNvSpPr/>
          <p:nvPr/>
        </p:nvSpPr>
        <p:spPr bwMode="auto">
          <a:xfrm>
            <a:off x="7454900" y="62890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700 · LVL 7/1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937351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07 · ОБУЧЕНИЕ</a:t>
            </a:r>
            <a:endParaRPr lang="en-US" sz="1200"/>
          </a:p>
        </p:txBody>
      </p:sp>
      <p:sp>
        <p:nvSpPr>
          <p:cNvPr id="1425990159" name="Shape 1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345164833" name="Shape 2"/>
          <p:cNvSpPr/>
          <p:nvPr/>
        </p:nvSpPr>
        <p:spPr bwMode="auto">
          <a:xfrm>
            <a:off x="812800" y="6350000"/>
            <a:ext cx="338455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435300679" name="Text 3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800 · LVL 8/1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  <p:sp>
        <p:nvSpPr>
          <p:cNvPr id="1007477012" name="Text 4"/>
          <p:cNvSpPr/>
          <p:nvPr>
            <p:ph type="title"/>
          </p:nvPr>
        </p:nvSpPr>
        <p:spPr bwMode="auto">
          <a:xfrm>
            <a:off x="812800" y="812800"/>
            <a:ext cx="108833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4"/>
              </a:lnSpc>
              <a:buNone/>
              <a:defRPr/>
            </a:pPr>
            <a:r>
              <a:rPr lang="en-US" sz="365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Калибровка и структура обучения</a:t>
            </a:r>
            <a:endParaRPr lang="en-US" sz="3650"/>
          </a:p>
        </p:txBody>
      </p:sp>
      <p:sp>
        <p:nvSpPr>
          <p:cNvPr id="2143551272" name="Shape 5"/>
          <p:cNvSpPr/>
          <p:nvPr/>
        </p:nvSpPr>
        <p:spPr bwMode="auto">
          <a:xfrm>
            <a:off x="812800" y="14224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216572548" name="Shape 6"/>
          <p:cNvSpPr/>
          <p:nvPr/>
        </p:nvSpPr>
        <p:spPr bwMode="auto">
          <a:xfrm>
            <a:off x="812800" y="1739900"/>
            <a:ext cx="4640580" cy="1892617"/>
          </a:xfrm>
          <a:prstGeom prst="roundRect">
            <a:avLst>
              <a:gd name="adj" fmla="val 9394"/>
            </a:avLst>
          </a:prstGeom>
          <a:solidFill>
            <a:srgbClr val="FFD23F"/>
          </a:solidFill>
          <a:ln/>
        </p:spPr>
      </p:sp>
      <p:sp>
        <p:nvSpPr>
          <p:cNvPr id="1698311523" name="Text 7"/>
          <p:cNvSpPr/>
          <p:nvPr/>
        </p:nvSpPr>
        <p:spPr bwMode="auto">
          <a:xfrm>
            <a:off x="1016000" y="1943100"/>
            <a:ext cx="4361205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  <a:defRPr/>
            </a:pPr>
            <a:r>
              <a:rPr lang="en-US" sz="19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Калибровка</a:t>
            </a:r>
            <a:endParaRPr lang="en-US" sz="1900"/>
          </a:p>
        </p:txBody>
      </p:sp>
      <p:sp>
        <p:nvSpPr>
          <p:cNvPr id="1110289895" name="Text 8"/>
          <p:cNvSpPr/>
          <p:nvPr/>
        </p:nvSpPr>
        <p:spPr bwMode="auto">
          <a:xfrm>
            <a:off x="1016000" y="2272029"/>
            <a:ext cx="4361205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  <a:defRPr/>
            </a:pPr>
            <a:r>
              <a:rPr lang="en-US" sz="1350">
                <a:solidFill>
                  <a:srgbClr val="130F3A"/>
                </a:solidFill>
                <a:latin typeface="Inter"/>
                <a:ea typeface="Inter"/>
                <a:cs typeface="Inter"/>
              </a:rPr>
              <a:t>Входной тест: backend сверяет ответы с эталоном и определяет уровень CEFR по порогам. Предыдущие уровни и их миссии засчитываются автоматически, начисляется стартовый XP.</a:t>
            </a:r>
            <a:endParaRPr lang="en-US" sz="1350"/>
          </a:p>
        </p:txBody>
      </p:sp>
      <p:sp>
        <p:nvSpPr>
          <p:cNvPr id="1351144086" name="Shape 9"/>
          <p:cNvSpPr/>
          <p:nvPr/>
        </p:nvSpPr>
        <p:spPr bwMode="auto">
          <a:xfrm>
            <a:off x="812800" y="3759516"/>
            <a:ext cx="4640580" cy="1401763"/>
          </a:xfrm>
          <a:prstGeom prst="roundRect">
            <a:avLst>
              <a:gd name="adj" fmla="val 12684"/>
            </a:avLst>
          </a:prstGeom>
          <a:solidFill>
            <a:srgbClr val="FFFFFF"/>
          </a:solidFill>
          <a:ln/>
        </p:spPr>
      </p:sp>
      <p:sp>
        <p:nvSpPr>
          <p:cNvPr id="562138051" name="Text 10"/>
          <p:cNvSpPr/>
          <p:nvPr/>
        </p:nvSpPr>
        <p:spPr bwMode="auto">
          <a:xfrm>
            <a:off x="1016000" y="3962716"/>
            <a:ext cx="4361205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Защита калибровки</a:t>
            </a:r>
            <a:endParaRPr lang="en-US" sz="1700"/>
          </a:p>
        </p:txBody>
      </p:sp>
      <p:sp>
        <p:nvSpPr>
          <p:cNvPr id="2132610941" name="Text 11"/>
          <p:cNvSpPr/>
          <p:nvPr/>
        </p:nvSpPr>
        <p:spPr bwMode="auto">
          <a:xfrm>
            <a:off x="1016000" y="4263709"/>
            <a:ext cx="4361205" cy="719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  <a:defRPr/>
            </a:pPr>
            <a:r>
              <a:rPr lang="en-US" sz="1350">
                <a:solidFill>
                  <a:srgbClr val="130F3A"/>
                </a:solidFill>
                <a:latin typeface="Inter"/>
                <a:ea typeface="Inter"/>
                <a:cs typeface="Inter"/>
              </a:rPr>
              <a:t>Один ответ не даёт высокий уровень, дубликаты вопросов запрещены, повторная калибровка отклоняется.</a:t>
            </a:r>
            <a:endParaRPr lang="en-US" sz="1350"/>
          </a:p>
        </p:txBody>
      </p:sp>
      <p:sp>
        <p:nvSpPr>
          <p:cNvPr id="198572928" name="Shape 12"/>
          <p:cNvSpPr/>
          <p:nvPr/>
        </p:nvSpPr>
        <p:spPr bwMode="auto">
          <a:xfrm>
            <a:off x="5707380" y="3390900"/>
            <a:ext cx="881802" cy="889000"/>
          </a:xfrm>
          <a:prstGeom prst="roundRect">
            <a:avLst>
              <a:gd name="adj" fmla="val 14402"/>
            </a:avLst>
          </a:prstGeom>
          <a:solidFill>
            <a:srgbClr val="22E1B0"/>
          </a:solidFill>
          <a:ln/>
        </p:spPr>
      </p:sp>
      <p:sp>
        <p:nvSpPr>
          <p:cNvPr id="1795106540" name="Text 13"/>
          <p:cNvSpPr/>
          <p:nvPr/>
        </p:nvSpPr>
        <p:spPr bwMode="auto">
          <a:xfrm>
            <a:off x="5783580" y="34671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A1</a:t>
            </a:r>
            <a:endParaRPr lang="en-US" sz="2000"/>
          </a:p>
        </p:txBody>
      </p:sp>
      <p:sp>
        <p:nvSpPr>
          <p:cNvPr id="1913147138" name="Text 14"/>
          <p:cNvSpPr/>
          <p:nvPr/>
        </p:nvSpPr>
        <p:spPr bwMode="auto">
          <a:xfrm>
            <a:off x="5783580" y="38481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зачтён</a:t>
            </a:r>
            <a:endParaRPr lang="en-US" sz="1200"/>
          </a:p>
        </p:txBody>
      </p:sp>
      <p:sp>
        <p:nvSpPr>
          <p:cNvPr id="1846601374" name="Shape 15"/>
          <p:cNvSpPr/>
          <p:nvPr/>
        </p:nvSpPr>
        <p:spPr bwMode="auto">
          <a:xfrm>
            <a:off x="6665383" y="3073400"/>
            <a:ext cx="881802" cy="1206500"/>
          </a:xfrm>
          <a:prstGeom prst="roundRect">
            <a:avLst>
              <a:gd name="adj" fmla="val 14402"/>
            </a:avLst>
          </a:prstGeom>
          <a:solidFill>
            <a:srgbClr val="22E1B0"/>
          </a:solidFill>
          <a:ln/>
        </p:spPr>
      </p:sp>
      <p:sp>
        <p:nvSpPr>
          <p:cNvPr id="1206751355" name="Text 16"/>
          <p:cNvSpPr/>
          <p:nvPr/>
        </p:nvSpPr>
        <p:spPr bwMode="auto">
          <a:xfrm>
            <a:off x="6741583" y="31496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A2</a:t>
            </a:r>
            <a:endParaRPr lang="en-US" sz="2000"/>
          </a:p>
        </p:txBody>
      </p:sp>
      <p:sp>
        <p:nvSpPr>
          <p:cNvPr id="1110620332" name="Text 17"/>
          <p:cNvSpPr/>
          <p:nvPr/>
        </p:nvSpPr>
        <p:spPr bwMode="auto">
          <a:xfrm>
            <a:off x="6741583" y="35306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зачтён</a:t>
            </a:r>
            <a:endParaRPr lang="en-US" sz="1200"/>
          </a:p>
        </p:txBody>
      </p:sp>
      <p:sp>
        <p:nvSpPr>
          <p:cNvPr id="694111822" name="Shape 18"/>
          <p:cNvSpPr/>
          <p:nvPr/>
        </p:nvSpPr>
        <p:spPr bwMode="auto">
          <a:xfrm>
            <a:off x="7623387" y="2755900"/>
            <a:ext cx="881802" cy="1524000"/>
          </a:xfrm>
          <a:prstGeom prst="roundRect">
            <a:avLst>
              <a:gd name="adj" fmla="val 14402"/>
            </a:avLst>
          </a:prstGeom>
          <a:solidFill>
            <a:srgbClr val="FFD23F"/>
          </a:solidFill>
          <a:ln/>
        </p:spPr>
      </p:sp>
      <p:sp>
        <p:nvSpPr>
          <p:cNvPr id="299352235" name="Text 19"/>
          <p:cNvSpPr/>
          <p:nvPr/>
        </p:nvSpPr>
        <p:spPr bwMode="auto">
          <a:xfrm>
            <a:off x="7699587" y="28321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B1</a:t>
            </a:r>
            <a:endParaRPr lang="en-US" sz="2000"/>
          </a:p>
        </p:txBody>
      </p:sp>
      <p:sp>
        <p:nvSpPr>
          <p:cNvPr id="185901317" name="Text 20"/>
          <p:cNvSpPr/>
          <p:nvPr/>
        </p:nvSpPr>
        <p:spPr bwMode="auto">
          <a:xfrm>
            <a:off x="7699587" y="32131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текущий</a:t>
            </a:r>
            <a:endParaRPr lang="en-US" sz="1200"/>
          </a:p>
        </p:txBody>
      </p:sp>
      <p:sp>
        <p:nvSpPr>
          <p:cNvPr id="698889157" name="Shape 21"/>
          <p:cNvSpPr/>
          <p:nvPr/>
        </p:nvSpPr>
        <p:spPr bwMode="auto">
          <a:xfrm>
            <a:off x="8581390" y="2438400"/>
            <a:ext cx="881802" cy="1841500"/>
          </a:xfrm>
          <a:prstGeom prst="roundRect">
            <a:avLst>
              <a:gd name="adj" fmla="val 14402"/>
            </a:avLst>
          </a:prstGeom>
          <a:solidFill>
            <a:srgbClr val="D9D4FF"/>
          </a:solidFill>
          <a:ln/>
        </p:spPr>
      </p:sp>
      <p:sp>
        <p:nvSpPr>
          <p:cNvPr id="1098054771" name="Text 22"/>
          <p:cNvSpPr/>
          <p:nvPr/>
        </p:nvSpPr>
        <p:spPr bwMode="auto">
          <a:xfrm>
            <a:off x="8657590" y="25146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B2</a:t>
            </a:r>
            <a:endParaRPr lang="en-US" sz="2000"/>
          </a:p>
        </p:txBody>
      </p:sp>
      <p:sp>
        <p:nvSpPr>
          <p:cNvPr id="2136412474" name="Text 23"/>
          <p:cNvSpPr/>
          <p:nvPr/>
        </p:nvSpPr>
        <p:spPr bwMode="auto">
          <a:xfrm>
            <a:off x="8657590" y="28956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закрыт</a:t>
            </a:r>
            <a:endParaRPr lang="en-US" sz="1200"/>
          </a:p>
        </p:txBody>
      </p:sp>
      <p:sp>
        <p:nvSpPr>
          <p:cNvPr id="366895709" name="Shape 24"/>
          <p:cNvSpPr/>
          <p:nvPr/>
        </p:nvSpPr>
        <p:spPr bwMode="auto">
          <a:xfrm>
            <a:off x="9539393" y="2120900"/>
            <a:ext cx="881802" cy="2159000"/>
          </a:xfrm>
          <a:prstGeom prst="roundRect">
            <a:avLst>
              <a:gd name="adj" fmla="val 14402"/>
            </a:avLst>
          </a:prstGeom>
          <a:solidFill>
            <a:srgbClr val="D9D4FF"/>
          </a:solidFill>
          <a:ln/>
        </p:spPr>
      </p:sp>
      <p:sp>
        <p:nvSpPr>
          <p:cNvPr id="1749295078" name="Text 25"/>
          <p:cNvSpPr/>
          <p:nvPr/>
        </p:nvSpPr>
        <p:spPr bwMode="auto">
          <a:xfrm>
            <a:off x="9615593" y="21971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C1</a:t>
            </a:r>
            <a:endParaRPr lang="en-US" sz="2000"/>
          </a:p>
        </p:txBody>
      </p:sp>
      <p:sp>
        <p:nvSpPr>
          <p:cNvPr id="1581306502" name="Text 26"/>
          <p:cNvSpPr/>
          <p:nvPr/>
        </p:nvSpPr>
        <p:spPr bwMode="auto">
          <a:xfrm>
            <a:off x="9615593" y="25781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закрыт</a:t>
            </a:r>
            <a:endParaRPr lang="en-US" sz="1200"/>
          </a:p>
        </p:txBody>
      </p:sp>
      <p:sp>
        <p:nvSpPr>
          <p:cNvPr id="1579729837" name="Shape 27"/>
          <p:cNvSpPr/>
          <p:nvPr/>
        </p:nvSpPr>
        <p:spPr bwMode="auto">
          <a:xfrm>
            <a:off x="10497396" y="1803400"/>
            <a:ext cx="881802" cy="2476500"/>
          </a:xfrm>
          <a:prstGeom prst="roundRect">
            <a:avLst>
              <a:gd name="adj" fmla="val 14402"/>
            </a:avLst>
          </a:prstGeom>
          <a:solidFill>
            <a:srgbClr val="D9D4FF"/>
          </a:solidFill>
          <a:ln/>
        </p:spPr>
      </p:sp>
      <p:sp>
        <p:nvSpPr>
          <p:cNvPr id="675025576" name="Text 28"/>
          <p:cNvSpPr/>
          <p:nvPr/>
        </p:nvSpPr>
        <p:spPr bwMode="auto">
          <a:xfrm>
            <a:off x="10573596" y="1879600"/>
            <a:ext cx="780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C2</a:t>
            </a:r>
            <a:endParaRPr lang="en-US" sz="2000"/>
          </a:p>
        </p:txBody>
      </p:sp>
      <p:sp>
        <p:nvSpPr>
          <p:cNvPr id="671609034" name="Text 29"/>
          <p:cNvSpPr/>
          <p:nvPr/>
        </p:nvSpPr>
        <p:spPr bwMode="auto">
          <a:xfrm>
            <a:off x="10573596" y="2260600"/>
            <a:ext cx="7802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закрыт</a:t>
            </a:r>
            <a:endParaRPr lang="en-US" sz="1200"/>
          </a:p>
        </p:txBody>
      </p:sp>
      <p:sp>
        <p:nvSpPr>
          <p:cNvPr id="54406435" name="Text 30"/>
          <p:cNvSpPr/>
          <p:nvPr/>
        </p:nvSpPr>
        <p:spPr bwMode="auto">
          <a:xfrm>
            <a:off x="5707380" y="4368800"/>
            <a:ext cx="5841975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Пример: калибровка определила уровень B1. Уровни выше текущего заблокированы.</a:t>
            </a:r>
            <a:endParaRPr lang="en-US" sz="1200"/>
          </a:p>
        </p:txBody>
      </p:sp>
      <p:sp>
        <p:nvSpPr>
          <p:cNvPr id="1223793154" name="Text 31"/>
          <p:cNvSpPr/>
          <p:nvPr/>
        </p:nvSpPr>
        <p:spPr bwMode="auto">
          <a:xfrm>
            <a:off x="5707380" y="4869179"/>
            <a:ext cx="1636607" cy="619760"/>
          </a:xfrm>
          <a:prstGeom prst="roundRect">
            <a:avLst>
              <a:gd name="adj" fmla="val 22541"/>
            </a:avLst>
          </a:prstGeom>
          <a:solidFill>
            <a:srgbClr val="7CC4FF"/>
          </a:solidFill>
          <a:ln/>
        </p:spPr>
        <p:txBody>
          <a:bodyPr wrap="square" lIns="561063" tIns="60683" rIns="561063" bIns="60683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1</a:t>
            </a:r>
            <a:endParaRPr lang="en-US" sz="1400"/>
          </a:p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Тест</a:t>
            </a:r>
            <a:endParaRPr lang="en-US" sz="1400"/>
          </a:p>
        </p:txBody>
      </p:sp>
      <p:sp>
        <p:nvSpPr>
          <p:cNvPr id="1531923515" name="Text 32"/>
          <p:cNvSpPr/>
          <p:nvPr/>
        </p:nvSpPr>
        <p:spPr bwMode="auto">
          <a:xfrm>
            <a:off x="7369386" y="496570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502906992" name="Text 33"/>
          <p:cNvSpPr/>
          <p:nvPr/>
        </p:nvSpPr>
        <p:spPr bwMode="auto">
          <a:xfrm>
            <a:off x="7724987" y="4869179"/>
            <a:ext cx="1636607" cy="619760"/>
          </a:xfrm>
          <a:prstGeom prst="roundRect">
            <a:avLst>
              <a:gd name="adj" fmla="val 22541"/>
            </a:avLst>
          </a:prstGeom>
          <a:solidFill>
            <a:srgbClr val="FF5A66"/>
          </a:solidFill>
          <a:ln/>
        </p:spPr>
        <p:txBody>
          <a:bodyPr wrap="square" lIns="47983" tIns="60683" rIns="47983" bIns="60683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2 Произношение</a:t>
            </a:r>
            <a:endParaRPr lang="en-US" sz="1400"/>
          </a:p>
        </p:txBody>
      </p:sp>
      <p:sp>
        <p:nvSpPr>
          <p:cNvPr id="1333958167" name="Text 34"/>
          <p:cNvSpPr/>
          <p:nvPr/>
        </p:nvSpPr>
        <p:spPr bwMode="auto">
          <a:xfrm>
            <a:off x="9386993" y="496570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223807357" name="Text 35"/>
          <p:cNvSpPr/>
          <p:nvPr/>
        </p:nvSpPr>
        <p:spPr bwMode="auto">
          <a:xfrm>
            <a:off x="9742593" y="4869179"/>
            <a:ext cx="1636607" cy="619760"/>
          </a:xfrm>
          <a:prstGeom prst="roundRect">
            <a:avLst>
              <a:gd name="adj" fmla="val 22541"/>
            </a:avLst>
          </a:prstGeom>
          <a:solidFill>
            <a:srgbClr val="FFD23F"/>
          </a:solidFill>
          <a:ln/>
        </p:spPr>
        <p:txBody>
          <a:bodyPr wrap="square" lIns="47983" tIns="73383" rIns="47983" bIns="47983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3</a:t>
            </a:r>
            <a:endParaRPr lang="en-US" sz="1400"/>
          </a:p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Игра-Словарь</a:t>
            </a:r>
            <a:endParaRPr lang="en-US" sz="1400"/>
          </a:p>
        </p:txBody>
      </p:sp>
      <p:sp>
        <p:nvSpPr>
          <p:cNvPr id="1205840329" name="Text 36"/>
          <p:cNvSpPr/>
          <p:nvPr/>
        </p:nvSpPr>
        <p:spPr bwMode="auto">
          <a:xfrm>
            <a:off x="5707380" y="5577842"/>
            <a:ext cx="584197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В каждом уровне 5 миссий; модули открываются строго по очереди.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695929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08 · ИГРОВАЯ ЛОГИКА</a:t>
            </a:r>
            <a:endParaRPr lang="en-US" sz="1200"/>
          </a:p>
        </p:txBody>
      </p:sp>
      <p:sp>
        <p:nvSpPr>
          <p:cNvPr id="1107253952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Игровая логика и начисление XP</a:t>
            </a:r>
            <a:endParaRPr lang="en-US" sz="3800"/>
          </a:p>
        </p:txBody>
      </p:sp>
      <p:sp>
        <p:nvSpPr>
          <p:cNvPr id="1136308045" name="Shape 2"/>
          <p:cNvSpPr/>
          <p:nvPr/>
        </p:nvSpPr>
        <p:spPr bwMode="auto">
          <a:xfrm>
            <a:off x="812800" y="1448327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455673442" name="Text 3"/>
          <p:cNvSpPr/>
          <p:nvPr/>
        </p:nvSpPr>
        <p:spPr bwMode="auto">
          <a:xfrm>
            <a:off x="812800" y="1850603"/>
            <a:ext cx="5284724" cy="161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500"/>
              </a:lnSpc>
              <a:buNone/>
              <a:defRPr/>
            </a:pPr>
            <a:r>
              <a:rPr lang="en-US" sz="125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70%</a:t>
            </a:r>
            <a:endParaRPr lang="en-US" sz="12500"/>
          </a:p>
        </p:txBody>
      </p:sp>
      <p:sp>
        <p:nvSpPr>
          <p:cNvPr id="1637061887" name="Text 4"/>
          <p:cNvSpPr/>
          <p:nvPr/>
        </p:nvSpPr>
        <p:spPr bwMode="auto">
          <a:xfrm>
            <a:off x="812800" y="3565103"/>
            <a:ext cx="5284724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порог успешности миссии</a:t>
            </a:r>
            <a:endParaRPr lang="en-US" sz="1700"/>
          </a:p>
        </p:txBody>
      </p:sp>
      <p:sp>
        <p:nvSpPr>
          <p:cNvPr id="528769849" name="Text 5"/>
          <p:cNvSpPr/>
          <p:nvPr/>
        </p:nvSpPr>
        <p:spPr bwMode="auto">
          <a:xfrm>
            <a:off x="812800" y="3983565"/>
            <a:ext cx="5130800" cy="835660"/>
          </a:xfrm>
          <a:prstGeom prst="roundRect">
            <a:avLst>
              <a:gd name="adj" fmla="val 18237"/>
            </a:avLst>
          </a:prstGeom>
          <a:solidFill>
            <a:srgbClr val="FFFFFF"/>
          </a:solidFill>
          <a:ln/>
        </p:spPr>
        <p:txBody>
          <a:bodyPr wrap="square" lIns="133164" tIns="133164" rIns="0" bIns="107764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Процент считает сервер по фактическим ответам, а не по числу, присланному клиентом.</a:t>
            </a:r>
            <a:endParaRPr lang="en-US" sz="1400"/>
          </a:p>
        </p:txBody>
      </p:sp>
      <p:sp>
        <p:nvSpPr>
          <p:cNvPr id="758946958" name="Shape 6"/>
          <p:cNvSpPr/>
          <p:nvPr/>
        </p:nvSpPr>
        <p:spPr bwMode="auto">
          <a:xfrm>
            <a:off x="6248400" y="1765827"/>
            <a:ext cx="5130800" cy="961390"/>
          </a:xfrm>
          <a:prstGeom prst="roundRect">
            <a:avLst>
              <a:gd name="adj" fmla="val 18494"/>
            </a:avLst>
          </a:prstGeom>
          <a:solidFill>
            <a:srgbClr val="22E1B0"/>
          </a:solidFill>
          <a:ln/>
        </p:spPr>
      </p:sp>
      <p:sp>
        <p:nvSpPr>
          <p:cNvPr id="1926592950" name="Text 7"/>
          <p:cNvSpPr/>
          <p:nvPr/>
        </p:nvSpPr>
        <p:spPr bwMode="auto">
          <a:xfrm>
            <a:off x="6451600" y="1969027"/>
            <a:ext cx="486613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  <a:defRPr/>
            </a:pPr>
            <a:r>
              <a:rPr lang="en-US" sz="18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Первое прохождение</a:t>
            </a:r>
            <a:endParaRPr lang="en-US" sz="1800"/>
          </a:p>
        </p:txBody>
      </p:sp>
      <p:sp>
        <p:nvSpPr>
          <p:cNvPr id="1226737887" name="Text 8"/>
          <p:cNvSpPr/>
          <p:nvPr/>
        </p:nvSpPr>
        <p:spPr bwMode="auto">
          <a:xfrm>
            <a:off x="6451600" y="2283991"/>
            <a:ext cx="486613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Повышенная награда XP — только на сервере.</a:t>
            </a:r>
            <a:endParaRPr lang="en-US" sz="1400"/>
          </a:p>
        </p:txBody>
      </p:sp>
      <p:sp>
        <p:nvSpPr>
          <p:cNvPr id="2110133073" name="Shape 9"/>
          <p:cNvSpPr/>
          <p:nvPr/>
        </p:nvSpPr>
        <p:spPr bwMode="auto">
          <a:xfrm>
            <a:off x="6248400" y="2854220"/>
            <a:ext cx="5130800" cy="961390"/>
          </a:xfrm>
          <a:prstGeom prst="roundRect">
            <a:avLst>
              <a:gd name="adj" fmla="val 18494"/>
            </a:avLst>
          </a:prstGeom>
          <a:solidFill>
            <a:srgbClr val="7CC4FF"/>
          </a:solidFill>
          <a:ln/>
        </p:spPr>
      </p:sp>
      <p:sp>
        <p:nvSpPr>
          <p:cNvPr id="2008106777" name="Text 10"/>
          <p:cNvSpPr/>
          <p:nvPr/>
        </p:nvSpPr>
        <p:spPr bwMode="auto">
          <a:xfrm>
            <a:off x="6451600" y="3057420"/>
            <a:ext cx="486613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  <a:defRPr/>
            </a:pPr>
            <a:r>
              <a:rPr lang="en-US" sz="18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Повторное прохождение</a:t>
            </a:r>
            <a:endParaRPr lang="en-US" sz="1800"/>
          </a:p>
        </p:txBody>
      </p:sp>
      <p:sp>
        <p:nvSpPr>
          <p:cNvPr id="75701750" name="Text 11"/>
          <p:cNvSpPr/>
          <p:nvPr/>
        </p:nvSpPr>
        <p:spPr bwMode="auto">
          <a:xfrm>
            <a:off x="6451600" y="3372377"/>
            <a:ext cx="486613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Сниженная награда XP.</a:t>
            </a:r>
            <a:endParaRPr lang="en-US" sz="1400"/>
          </a:p>
        </p:txBody>
      </p:sp>
      <p:sp>
        <p:nvSpPr>
          <p:cNvPr id="1533220874" name="Shape 12"/>
          <p:cNvSpPr/>
          <p:nvPr/>
        </p:nvSpPr>
        <p:spPr bwMode="auto">
          <a:xfrm>
            <a:off x="6248400" y="3942612"/>
            <a:ext cx="5130800" cy="961390"/>
          </a:xfrm>
          <a:prstGeom prst="roundRect">
            <a:avLst>
              <a:gd name="adj" fmla="val 18494"/>
            </a:avLst>
          </a:prstGeom>
          <a:solidFill>
            <a:srgbClr val="FF5A66"/>
          </a:solidFill>
          <a:ln/>
        </p:spPr>
      </p:sp>
      <p:sp>
        <p:nvSpPr>
          <p:cNvPr id="225735745" name="Text 13"/>
          <p:cNvSpPr/>
          <p:nvPr/>
        </p:nvSpPr>
        <p:spPr bwMode="auto">
          <a:xfrm>
            <a:off x="6451600" y="4145812"/>
            <a:ext cx="486613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  <a:defRPr/>
            </a:pPr>
            <a:r>
              <a:rPr lang="en-US" sz="18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Результат ниже порога</a:t>
            </a:r>
            <a:endParaRPr lang="en-US" sz="1800"/>
          </a:p>
        </p:txBody>
      </p:sp>
      <p:sp>
        <p:nvSpPr>
          <p:cNvPr id="1322381252" name="Text 14"/>
          <p:cNvSpPr/>
          <p:nvPr/>
        </p:nvSpPr>
        <p:spPr bwMode="auto">
          <a:xfrm>
            <a:off x="6451600" y="4460770"/>
            <a:ext cx="486613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>
                <a:solidFill>
                  <a:srgbClr val="130F3A"/>
                </a:solidFill>
                <a:latin typeface="Inter"/>
                <a:ea typeface="Inter"/>
                <a:cs typeface="Inter"/>
              </a:rPr>
              <a:t>Опыт не начисляется.</a:t>
            </a:r>
            <a:endParaRPr lang="en-US" sz="1400"/>
          </a:p>
        </p:txBody>
      </p:sp>
      <p:sp>
        <p:nvSpPr>
          <p:cNvPr id="1991223268" name="Shape 15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1235578981" name="Shape 16"/>
          <p:cNvSpPr/>
          <p:nvPr/>
        </p:nvSpPr>
        <p:spPr bwMode="auto">
          <a:xfrm>
            <a:off x="812800" y="6350000"/>
            <a:ext cx="38100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1361528157" name="Text 17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900 · LVL 9/1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55273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09 · ЗАЩИТА</a:t>
            </a:r>
            <a:endParaRPr lang="en-US" sz="1200"/>
          </a:p>
        </p:txBody>
      </p:sp>
      <p:sp>
        <p:nvSpPr>
          <p:cNvPr id="629839022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Защита игровой логики и транзакции</a:t>
            </a:r>
            <a:endParaRPr lang="en-US" sz="3800"/>
          </a:p>
        </p:txBody>
      </p:sp>
      <p:sp>
        <p:nvSpPr>
          <p:cNvPr id="525575354" name="Shape 2"/>
          <p:cNvSpPr/>
          <p:nvPr/>
        </p:nvSpPr>
        <p:spPr bwMode="auto">
          <a:xfrm>
            <a:off x="812800" y="1448327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581990663" name="Shape 3"/>
          <p:cNvSpPr/>
          <p:nvPr/>
        </p:nvSpPr>
        <p:spPr bwMode="auto">
          <a:xfrm>
            <a:off x="81280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FFD23F"/>
          </a:solidFill>
          <a:ln/>
        </p:spPr>
      </p:sp>
      <p:sp>
        <p:nvSpPr>
          <p:cNvPr id="748143919" name="Text 4"/>
          <p:cNvSpPr/>
          <p:nvPr/>
        </p:nvSpPr>
        <p:spPr bwMode="auto">
          <a:xfrm>
            <a:off x="96520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1</a:t>
            </a:r>
            <a:endParaRPr lang="en-US" sz="1300"/>
          </a:p>
        </p:txBody>
      </p:sp>
      <p:sp>
        <p:nvSpPr>
          <p:cNvPr id="1382089349" name="Text 5"/>
          <p:cNvSpPr/>
          <p:nvPr/>
        </p:nvSpPr>
        <p:spPr bwMode="auto">
          <a:xfrm>
            <a:off x="96520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Старт</a:t>
            </a:r>
            <a:endParaRPr lang="en-US" sz="1600"/>
          </a:p>
        </p:txBody>
      </p:sp>
      <p:sp>
        <p:nvSpPr>
          <p:cNvPr id="158620652" name="Text 6"/>
          <p:cNvSpPr/>
          <p:nvPr/>
        </p:nvSpPr>
        <p:spPr bwMode="auto">
          <a:xfrm>
            <a:off x="96520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Клиент начинает попытку на сервере</a:t>
            </a:r>
            <a:endParaRPr lang="en-US" sz="1200"/>
          </a:p>
        </p:txBody>
      </p:sp>
      <p:sp>
        <p:nvSpPr>
          <p:cNvPr id="1937778796" name="Text 7"/>
          <p:cNvSpPr/>
          <p:nvPr/>
        </p:nvSpPr>
        <p:spPr bwMode="auto">
          <a:xfrm>
            <a:off x="3181350" y="22382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232670197" name="Shape 8"/>
          <p:cNvSpPr/>
          <p:nvPr/>
        </p:nvSpPr>
        <p:spPr bwMode="auto">
          <a:xfrm>
            <a:off x="356235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7CC4FF"/>
          </a:solidFill>
          <a:ln/>
        </p:spPr>
      </p:sp>
      <p:sp>
        <p:nvSpPr>
          <p:cNvPr id="561030958" name="Text 9"/>
          <p:cNvSpPr/>
          <p:nvPr/>
        </p:nvSpPr>
        <p:spPr bwMode="auto">
          <a:xfrm>
            <a:off x="371475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2</a:t>
            </a:r>
            <a:endParaRPr lang="en-US" sz="1300"/>
          </a:p>
        </p:txBody>
      </p:sp>
      <p:sp>
        <p:nvSpPr>
          <p:cNvPr id="1376474073" name="Text 10"/>
          <p:cNvSpPr/>
          <p:nvPr/>
        </p:nvSpPr>
        <p:spPr bwMode="auto">
          <a:xfrm>
            <a:off x="371475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Выдача</a:t>
            </a:r>
            <a:endParaRPr lang="en-US" sz="1600"/>
          </a:p>
        </p:txBody>
      </p:sp>
      <p:sp>
        <p:nvSpPr>
          <p:cNvPr id="1397621545" name="Text 11"/>
          <p:cNvSpPr/>
          <p:nvPr/>
        </p:nvSpPr>
        <p:spPr bwMode="auto">
          <a:xfrm>
            <a:off x="371475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Получает id попытки и набор заданий</a:t>
            </a:r>
            <a:endParaRPr lang="en-US" sz="1200"/>
          </a:p>
        </p:txBody>
      </p:sp>
      <p:sp>
        <p:nvSpPr>
          <p:cNvPr id="896898692" name="Text 12"/>
          <p:cNvSpPr/>
          <p:nvPr/>
        </p:nvSpPr>
        <p:spPr bwMode="auto">
          <a:xfrm>
            <a:off x="5930900" y="22382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302720848" name="Shape 13"/>
          <p:cNvSpPr/>
          <p:nvPr/>
        </p:nvSpPr>
        <p:spPr bwMode="auto">
          <a:xfrm>
            <a:off x="631190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22E1B0"/>
          </a:solidFill>
          <a:ln/>
        </p:spPr>
      </p:sp>
      <p:sp>
        <p:nvSpPr>
          <p:cNvPr id="79840834" name="Text 14"/>
          <p:cNvSpPr/>
          <p:nvPr/>
        </p:nvSpPr>
        <p:spPr bwMode="auto">
          <a:xfrm>
            <a:off x="646430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3</a:t>
            </a:r>
            <a:endParaRPr lang="en-US" sz="1300"/>
          </a:p>
        </p:txBody>
      </p:sp>
      <p:sp>
        <p:nvSpPr>
          <p:cNvPr id="43273987" name="Text 15"/>
          <p:cNvSpPr/>
          <p:nvPr/>
        </p:nvSpPr>
        <p:spPr bwMode="auto">
          <a:xfrm>
            <a:off x="646430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Результат</a:t>
            </a:r>
            <a:endParaRPr lang="en-US" sz="1600"/>
          </a:p>
        </p:txBody>
      </p:sp>
      <p:sp>
        <p:nvSpPr>
          <p:cNvPr id="62038292" name="Text 16"/>
          <p:cNvSpPr/>
          <p:nvPr/>
        </p:nvSpPr>
        <p:spPr bwMode="auto">
          <a:xfrm>
            <a:off x="646430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Принимается только по этой попытке</a:t>
            </a:r>
            <a:endParaRPr lang="en-US" sz="1200"/>
          </a:p>
        </p:txBody>
      </p:sp>
      <p:sp>
        <p:nvSpPr>
          <p:cNvPr id="1891740235" name="Text 17"/>
          <p:cNvSpPr/>
          <p:nvPr/>
        </p:nvSpPr>
        <p:spPr bwMode="auto">
          <a:xfrm>
            <a:off x="8680450" y="2238270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565138726" name="Shape 18"/>
          <p:cNvSpPr/>
          <p:nvPr/>
        </p:nvSpPr>
        <p:spPr bwMode="auto">
          <a:xfrm>
            <a:off x="9061450" y="1765827"/>
            <a:ext cx="2317750" cy="1371600"/>
          </a:xfrm>
          <a:prstGeom prst="roundRect">
            <a:avLst>
              <a:gd name="adj" fmla="val 11111"/>
            </a:avLst>
          </a:prstGeom>
          <a:solidFill>
            <a:srgbClr val="FF5A66"/>
          </a:solidFill>
          <a:ln/>
        </p:spPr>
      </p:sp>
      <p:sp>
        <p:nvSpPr>
          <p:cNvPr id="1455126980" name="Text 19"/>
          <p:cNvSpPr/>
          <p:nvPr/>
        </p:nvSpPr>
        <p:spPr bwMode="auto">
          <a:xfrm>
            <a:off x="9213850" y="1918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30F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4</a:t>
            </a:r>
            <a:endParaRPr lang="en-US" sz="1300"/>
          </a:p>
        </p:txBody>
      </p:sp>
      <p:sp>
        <p:nvSpPr>
          <p:cNvPr id="1891712406" name="Text 20"/>
          <p:cNvSpPr/>
          <p:nvPr/>
        </p:nvSpPr>
        <p:spPr bwMode="auto">
          <a:xfrm>
            <a:off x="9213850" y="2286527"/>
            <a:ext cx="207333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Закрытие</a:t>
            </a:r>
            <a:endParaRPr lang="en-US" sz="1600"/>
          </a:p>
        </p:txBody>
      </p:sp>
      <p:sp>
        <p:nvSpPr>
          <p:cNvPr id="142913194" name="Text 21"/>
          <p:cNvSpPr/>
          <p:nvPr/>
        </p:nvSpPr>
        <p:spPr bwMode="auto">
          <a:xfrm>
            <a:off x="9213850" y="2573548"/>
            <a:ext cx="207333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Попытка закрывается один раз</a:t>
            </a:r>
            <a:endParaRPr lang="en-US" sz="1200"/>
          </a:p>
        </p:txBody>
      </p:sp>
      <p:sp>
        <p:nvSpPr>
          <p:cNvPr id="2008634455" name="Text 22"/>
          <p:cNvSpPr/>
          <p:nvPr/>
        </p:nvSpPr>
        <p:spPr bwMode="auto">
          <a:xfrm>
            <a:off x="812800" y="3277127"/>
            <a:ext cx="10566400" cy="810260"/>
          </a:xfrm>
          <a:prstGeom prst="roundRect">
            <a:avLst>
              <a:gd name="adj" fmla="val 18809"/>
            </a:avLst>
          </a:prstGeom>
          <a:solidFill>
            <a:srgbClr val="FF5A66"/>
          </a:solidFill>
          <a:ln/>
        </p:spPr>
        <p:txBody>
          <a:bodyPr wrap="square" lIns="120464" tIns="120464" rIns="0" bIns="95064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Повторная отправка того же запроса → конфликт, XP не начисляется. Так закрыты подделка результата и двойное начисление.</a:t>
            </a:r>
            <a:endParaRPr lang="en-US" sz="1400"/>
          </a:p>
        </p:txBody>
      </p:sp>
      <p:sp>
        <p:nvSpPr>
          <p:cNvPr id="1298785897" name="Shape 23"/>
          <p:cNvSpPr/>
          <p:nvPr/>
        </p:nvSpPr>
        <p:spPr bwMode="auto">
          <a:xfrm>
            <a:off x="812800" y="4227091"/>
            <a:ext cx="10566400" cy="1283335"/>
          </a:xfrm>
          <a:prstGeom prst="roundRect">
            <a:avLst>
              <a:gd name="adj" fmla="val 13855"/>
            </a:avLst>
          </a:prstGeom>
          <a:solidFill>
            <a:srgbClr val="201B57"/>
          </a:solidFill>
          <a:ln/>
        </p:spPr>
      </p:sp>
      <p:sp>
        <p:nvSpPr>
          <p:cNvPr id="94540947" name="Text 24"/>
          <p:cNvSpPr/>
          <p:nvPr/>
        </p:nvSpPr>
        <p:spPr bwMode="auto">
          <a:xfrm>
            <a:off x="990600" y="4404891"/>
            <a:ext cx="10517124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FFD23F"/>
                </a:solidFill>
                <a:latin typeface="Nunito"/>
                <a:ea typeface="Nunito"/>
                <a:cs typeface="Nunito"/>
              </a:rPr>
              <a:t>Атомарность</a:t>
            </a:r>
            <a:endParaRPr lang="en-US" sz="1700"/>
          </a:p>
        </p:txBody>
      </p:sp>
      <p:sp>
        <p:nvSpPr>
          <p:cNvPr id="1242685229" name="Text 25"/>
          <p:cNvSpPr/>
          <p:nvPr/>
        </p:nvSpPr>
        <p:spPr bwMode="auto">
          <a:xfrm>
            <a:off x="990600" y="4705877"/>
            <a:ext cx="1385147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начисление XP</a:t>
            </a:r>
            <a:endParaRPr lang="en-US" sz="1200"/>
          </a:p>
        </p:txBody>
      </p:sp>
      <p:sp>
        <p:nvSpPr>
          <p:cNvPr id="1019710141" name="Text 26"/>
          <p:cNvSpPr/>
          <p:nvPr/>
        </p:nvSpPr>
        <p:spPr bwMode="auto">
          <a:xfrm>
            <a:off x="2439247" y="4705877"/>
            <a:ext cx="941176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прогресс</a:t>
            </a:r>
            <a:endParaRPr lang="en-US" sz="1200"/>
          </a:p>
        </p:txBody>
      </p:sp>
      <p:sp>
        <p:nvSpPr>
          <p:cNvPr id="1140759327" name="Text 27"/>
          <p:cNvSpPr/>
          <p:nvPr/>
        </p:nvSpPr>
        <p:spPr bwMode="auto">
          <a:xfrm>
            <a:off x="3443922" y="4705877"/>
            <a:ext cx="2068830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калибровка + автозачёт</a:t>
            </a:r>
            <a:endParaRPr lang="en-US" sz="1200"/>
          </a:p>
        </p:txBody>
      </p:sp>
      <p:sp>
        <p:nvSpPr>
          <p:cNvPr id="1398231207" name="Text 28"/>
          <p:cNvSpPr/>
          <p:nvPr/>
        </p:nvSpPr>
        <p:spPr bwMode="auto">
          <a:xfrm>
            <a:off x="5576253" y="4705877"/>
            <a:ext cx="1567921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создание миссий</a:t>
            </a:r>
            <a:endParaRPr lang="en-US" sz="1200"/>
          </a:p>
        </p:txBody>
      </p:sp>
      <p:sp>
        <p:nvSpPr>
          <p:cNvPr id="951496728" name="Text 29"/>
          <p:cNvSpPr/>
          <p:nvPr/>
        </p:nvSpPr>
        <p:spPr bwMode="auto">
          <a:xfrm>
            <a:off x="7207673" y="4705877"/>
            <a:ext cx="1241637" cy="34036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сидирование</a:t>
            </a:r>
            <a:endParaRPr lang="en-US" sz="1200"/>
          </a:p>
        </p:txBody>
      </p:sp>
      <p:sp>
        <p:nvSpPr>
          <p:cNvPr id="1725381428" name="Text 30"/>
          <p:cNvSpPr/>
          <p:nvPr/>
        </p:nvSpPr>
        <p:spPr bwMode="auto">
          <a:xfrm>
            <a:off x="990600" y="5109741"/>
            <a:ext cx="10517124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Inter"/>
                <a:ea typeface="Inter"/>
                <a:cs typeface="Inter"/>
              </a:rPr>
              <a:t>XP растёт атомарно на стороне БД, при любой ошибке — откат.</a:t>
            </a:r>
            <a:endParaRPr lang="en-US" sz="1300"/>
          </a:p>
        </p:txBody>
      </p:sp>
      <p:sp>
        <p:nvSpPr>
          <p:cNvPr id="1028153153" name="Shape 31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1523208723" name="Shape 32"/>
          <p:cNvSpPr/>
          <p:nvPr/>
        </p:nvSpPr>
        <p:spPr bwMode="auto">
          <a:xfrm>
            <a:off x="812800" y="6350000"/>
            <a:ext cx="422910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24339093" name="Text 33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1000 · LVL 10/1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557747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E1B0"/>
                </a:solidFill>
                <a:latin typeface="Inter"/>
                <a:ea typeface="Inter"/>
                <a:cs typeface="Inter"/>
              </a:rPr>
              <a:t>МИССИЯ 10 · КЛИЕНТ</a:t>
            </a:r>
            <a:endParaRPr lang="en-US" sz="1200"/>
          </a:p>
        </p:txBody>
      </p:sp>
      <p:sp>
        <p:nvSpPr>
          <p:cNvPr id="1854517689" name="Text 1"/>
          <p:cNvSpPr/>
          <p:nvPr>
            <p:ph type="title"/>
          </p:nvPr>
        </p:nvSpPr>
        <p:spPr bwMode="auto">
          <a:xfrm>
            <a:off x="812800" y="812800"/>
            <a:ext cx="10883392" cy="1067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Клиентская часть и панель преподавателя</a:t>
            </a:r>
            <a:endParaRPr lang="en-US" sz="3800"/>
          </a:p>
        </p:txBody>
      </p:sp>
      <p:sp>
        <p:nvSpPr>
          <p:cNvPr id="1354207611" name="Shape 2"/>
          <p:cNvSpPr/>
          <p:nvPr/>
        </p:nvSpPr>
        <p:spPr bwMode="auto">
          <a:xfrm>
            <a:off x="812800" y="196956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610622740" name="Shape 3"/>
          <p:cNvSpPr/>
          <p:nvPr/>
        </p:nvSpPr>
        <p:spPr bwMode="auto">
          <a:xfrm>
            <a:off x="812800" y="2287060"/>
            <a:ext cx="6217920" cy="3114040"/>
          </a:xfrm>
          <a:prstGeom prst="roundRect">
            <a:avLst>
              <a:gd name="adj" fmla="val 4894"/>
            </a:avLst>
          </a:prstGeom>
          <a:solidFill>
            <a:srgbClr val="FFFFFF"/>
          </a:solidFill>
          <a:ln/>
        </p:spPr>
      </p:sp>
      <p:sp>
        <p:nvSpPr>
          <p:cNvPr id="800182359" name="Shape 4"/>
          <p:cNvSpPr/>
          <p:nvPr/>
        </p:nvSpPr>
        <p:spPr bwMode="auto">
          <a:xfrm>
            <a:off x="812800" y="2287060"/>
            <a:ext cx="6217920" cy="416560"/>
          </a:xfrm>
          <a:custGeom>
            <a:avLst/>
            <a:gdLst/>
            <a:ahLst/>
            <a:cxnLst/>
            <a:rect l="l" t="t" r="r" b="b"/>
            <a:pathLst>
              <a:path w="6217920" h="416560" fill="norm" stroke="1" extrusionOk="0">
                <a:moveTo>
                  <a:pt x="0" y="152400"/>
                </a:moveTo>
                <a:arcTo wR="152400" hR="152400" stAng="10800000" swAng="5400000"/>
                <a:lnTo>
                  <a:pt x="6065520" y="0"/>
                </a:lnTo>
                <a:arcTo wR="152400" hR="152400" stAng="16200000" swAng="5400000"/>
                <a:lnTo>
                  <a:pt x="621792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201B57"/>
          </a:solidFill>
          <a:ln/>
        </p:spPr>
      </p:sp>
      <p:sp>
        <p:nvSpPr>
          <p:cNvPr id="317656638" name="Shape 5"/>
          <p:cNvSpPr/>
          <p:nvPr/>
        </p:nvSpPr>
        <p:spPr bwMode="auto">
          <a:xfrm>
            <a:off x="952500" y="2431839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FF5A66"/>
          </a:solidFill>
          <a:ln/>
        </p:spPr>
      </p:sp>
      <p:sp>
        <p:nvSpPr>
          <p:cNvPr id="13189692" name="Shape 6"/>
          <p:cNvSpPr/>
          <p:nvPr/>
        </p:nvSpPr>
        <p:spPr bwMode="auto">
          <a:xfrm>
            <a:off x="1143000" y="2431839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979544467" name="Shape 7"/>
          <p:cNvSpPr/>
          <p:nvPr/>
        </p:nvSpPr>
        <p:spPr bwMode="auto">
          <a:xfrm>
            <a:off x="1333500" y="2431839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447559161" name="Text 8"/>
          <p:cNvSpPr/>
          <p:nvPr/>
        </p:nvSpPr>
        <p:spPr bwMode="auto">
          <a:xfrm>
            <a:off x="1600200" y="2388660"/>
            <a:ext cx="20142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English Quest · Next.js</a:t>
            </a:r>
            <a:endParaRPr lang="en-US" sz="1200"/>
          </a:p>
        </p:txBody>
      </p:sp>
      <p:sp>
        <p:nvSpPr>
          <p:cNvPr id="1080237794" name="Text 9"/>
          <p:cNvSpPr/>
          <p:nvPr/>
        </p:nvSpPr>
        <p:spPr bwMode="auto">
          <a:xfrm>
            <a:off x="990600" y="2881418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Главная</a:t>
            </a:r>
            <a:endParaRPr lang="en-US" sz="1200"/>
          </a:p>
        </p:txBody>
      </p:sp>
      <p:sp>
        <p:nvSpPr>
          <p:cNvPr id="126853211" name="Text 10"/>
          <p:cNvSpPr/>
          <p:nvPr/>
        </p:nvSpPr>
        <p:spPr bwMode="auto">
          <a:xfrm>
            <a:off x="2970107" y="2881418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Вход и регистрация</a:t>
            </a:r>
            <a:endParaRPr lang="en-US" sz="1200"/>
          </a:p>
        </p:txBody>
      </p:sp>
      <p:sp>
        <p:nvSpPr>
          <p:cNvPr id="1595149309" name="Text 11"/>
          <p:cNvSpPr/>
          <p:nvPr/>
        </p:nvSpPr>
        <p:spPr bwMode="auto">
          <a:xfrm>
            <a:off x="4949613" y="2881418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Калибровка</a:t>
            </a:r>
            <a:endParaRPr lang="en-US" sz="1200"/>
          </a:p>
        </p:txBody>
      </p:sp>
      <p:sp>
        <p:nvSpPr>
          <p:cNvPr id="479930896" name="Text 12"/>
          <p:cNvSpPr/>
          <p:nvPr/>
        </p:nvSpPr>
        <p:spPr bwMode="auto">
          <a:xfrm>
            <a:off x="990600" y="3297975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Дашборд</a:t>
            </a:r>
            <a:endParaRPr lang="en-US" sz="1200"/>
          </a:p>
        </p:txBody>
      </p:sp>
      <p:sp>
        <p:nvSpPr>
          <p:cNvPr id="1853614567" name="Text 13"/>
          <p:cNvSpPr/>
          <p:nvPr/>
        </p:nvSpPr>
        <p:spPr bwMode="auto">
          <a:xfrm>
            <a:off x="2970107" y="3297975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Уровни</a:t>
            </a:r>
            <a:endParaRPr lang="en-US" sz="1200"/>
          </a:p>
        </p:txBody>
      </p:sp>
      <p:sp>
        <p:nvSpPr>
          <p:cNvPr id="385615254" name="Text 14"/>
          <p:cNvSpPr/>
          <p:nvPr/>
        </p:nvSpPr>
        <p:spPr bwMode="auto">
          <a:xfrm>
            <a:off x="4949613" y="3297975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Миссия</a:t>
            </a:r>
            <a:endParaRPr lang="en-US" sz="1200"/>
          </a:p>
        </p:txBody>
      </p:sp>
      <p:sp>
        <p:nvSpPr>
          <p:cNvPr id="811291343" name="Text 15"/>
          <p:cNvSpPr/>
          <p:nvPr/>
        </p:nvSpPr>
        <p:spPr bwMode="auto">
          <a:xfrm>
            <a:off x="990600" y="3714539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Тест</a:t>
            </a:r>
            <a:endParaRPr lang="en-US" sz="1200"/>
          </a:p>
        </p:txBody>
      </p:sp>
      <p:sp>
        <p:nvSpPr>
          <p:cNvPr id="1790975033" name="Text 16"/>
          <p:cNvSpPr/>
          <p:nvPr/>
        </p:nvSpPr>
        <p:spPr bwMode="auto">
          <a:xfrm>
            <a:off x="2970107" y="3714539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Произношение</a:t>
            </a:r>
            <a:endParaRPr lang="en-US" sz="1200"/>
          </a:p>
        </p:txBody>
      </p:sp>
      <p:sp>
        <p:nvSpPr>
          <p:cNvPr id="1163407277" name="Text 17"/>
          <p:cNvSpPr/>
          <p:nvPr/>
        </p:nvSpPr>
        <p:spPr bwMode="auto">
          <a:xfrm>
            <a:off x="4949613" y="3714539"/>
            <a:ext cx="1903307" cy="340360"/>
          </a:xfrm>
          <a:prstGeom prst="roundRect">
            <a:avLst>
              <a:gd name="adj" fmla="val 50000"/>
            </a:avLst>
          </a:prstGeom>
          <a:solidFill>
            <a:srgbClr val="F2F0FF"/>
          </a:solidFill>
          <a:ln/>
        </p:spPr>
        <p:txBody>
          <a:bodyPr wrap="square" lIns="39056" tIns="13656" rIns="39056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Аркада (Three.js)</a:t>
            </a:r>
            <a:endParaRPr lang="en-US" sz="1200"/>
          </a:p>
        </p:txBody>
      </p:sp>
      <p:sp>
        <p:nvSpPr>
          <p:cNvPr id="938661201" name="Text 18"/>
          <p:cNvSpPr/>
          <p:nvPr/>
        </p:nvSpPr>
        <p:spPr bwMode="auto">
          <a:xfrm>
            <a:off x="990600" y="4131097"/>
            <a:ext cx="1903307" cy="553720"/>
          </a:xfrm>
          <a:custGeom>
            <a:avLst/>
            <a:gdLst/>
            <a:ahLst/>
            <a:cxnLst/>
            <a:rect l="l" t="t" r="r" b="b"/>
            <a:pathLst>
              <a:path w="1903307" h="553720" fill="norm" stroke="1" extrusionOk="0">
                <a:moveTo>
                  <a:pt x="254000" y="0"/>
                </a:moveTo>
                <a:lnTo>
                  <a:pt x="1649307" y="0"/>
                </a:lnTo>
                <a:arcTo wR="254000" hR="254000" stAng="16200000" swAng="5400000"/>
                <a:lnTo>
                  <a:pt x="1903307" y="299720"/>
                </a:lnTo>
                <a:arcTo wR="254000" hR="254000" stAng="0" swAng="5400000"/>
                <a:lnTo>
                  <a:pt x="254000" y="55372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2F0FF"/>
          </a:solidFill>
          <a:ln/>
        </p:spPr>
        <p:txBody>
          <a:bodyPr wrap="square" lIns="88900" tIns="63500" rIns="88900" bIns="381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Панель преподавателя</a:t>
            </a:r>
            <a:endParaRPr lang="en-US" sz="1200"/>
          </a:p>
        </p:txBody>
      </p:sp>
      <p:sp>
        <p:nvSpPr>
          <p:cNvPr id="748087158" name="Text 19"/>
          <p:cNvSpPr/>
          <p:nvPr/>
        </p:nvSpPr>
        <p:spPr bwMode="auto">
          <a:xfrm>
            <a:off x="990600" y="4811818"/>
            <a:ext cx="603819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Адаптивный интерфейс · светлая и тёмная темы · распознавание речи через браузер</a:t>
            </a:r>
            <a:endParaRPr lang="en-US" sz="1200"/>
          </a:p>
        </p:txBody>
      </p:sp>
      <p:sp>
        <p:nvSpPr>
          <p:cNvPr id="2066428612" name="Shape 20"/>
          <p:cNvSpPr/>
          <p:nvPr/>
        </p:nvSpPr>
        <p:spPr bwMode="auto">
          <a:xfrm>
            <a:off x="7233920" y="2287060"/>
            <a:ext cx="4145280" cy="2501900"/>
          </a:xfrm>
          <a:prstGeom prst="roundRect">
            <a:avLst>
              <a:gd name="adj" fmla="val 7107"/>
            </a:avLst>
          </a:prstGeom>
          <a:solidFill>
            <a:srgbClr val="22E1B0"/>
          </a:solidFill>
          <a:ln/>
        </p:spPr>
      </p:sp>
      <p:sp>
        <p:nvSpPr>
          <p:cNvPr id="1845603147" name="Text 21"/>
          <p:cNvSpPr/>
          <p:nvPr/>
        </p:nvSpPr>
        <p:spPr bwMode="auto">
          <a:xfrm>
            <a:off x="7449820" y="2502960"/>
            <a:ext cx="38248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ТОЛЬКО РОЛЬ TEACHER</a:t>
            </a:r>
            <a:endParaRPr lang="en-US" sz="1200"/>
          </a:p>
        </p:txBody>
      </p:sp>
      <p:sp>
        <p:nvSpPr>
          <p:cNvPr id="444424662" name="Text 22"/>
          <p:cNvSpPr/>
          <p:nvPr/>
        </p:nvSpPr>
        <p:spPr bwMode="auto">
          <a:xfrm>
            <a:off x="7449820" y="2779818"/>
            <a:ext cx="3824884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  <a:defRPr/>
            </a:pPr>
            <a:r>
              <a:rPr lang="en-US" sz="19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Панель преподавателя</a:t>
            </a:r>
            <a:endParaRPr lang="en-US" sz="1900"/>
          </a:p>
        </p:txBody>
      </p:sp>
      <p:sp>
        <p:nvSpPr>
          <p:cNvPr id="1683947355" name="Text 23"/>
          <p:cNvSpPr/>
          <p:nvPr/>
        </p:nvSpPr>
        <p:spPr bwMode="auto">
          <a:xfrm>
            <a:off x="7449820" y="3108747"/>
            <a:ext cx="382488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Управление миссиями, задачами, вопросами, вариантами ответов и словарём.</a:t>
            </a:r>
            <a:endParaRPr lang="en-US" sz="1300"/>
          </a:p>
        </p:txBody>
      </p:sp>
      <p:sp>
        <p:nvSpPr>
          <p:cNvPr id="116529149" name="Text 24"/>
          <p:cNvSpPr/>
          <p:nvPr/>
        </p:nvSpPr>
        <p:spPr bwMode="auto">
          <a:xfrm>
            <a:off x="7449820" y="3618018"/>
            <a:ext cx="382488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Редактирование миссии: заголовок, описание, уровень, порядок, публикация.</a:t>
            </a:r>
            <a:endParaRPr lang="en-US" sz="1300"/>
          </a:p>
        </p:txBody>
      </p:sp>
      <p:sp>
        <p:nvSpPr>
          <p:cNvPr id="1880043630" name="Text 25"/>
          <p:cNvSpPr/>
          <p:nvPr/>
        </p:nvSpPr>
        <p:spPr bwMode="auto">
          <a:xfrm>
            <a:off x="7449820" y="4127289"/>
            <a:ext cx="382488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Перед публикацией: у вопроса не меньше двух вариантов и ровно один правильный.</a:t>
            </a:r>
            <a:endParaRPr lang="en-US" sz="1300"/>
          </a:p>
        </p:txBody>
      </p:sp>
      <p:sp>
        <p:nvSpPr>
          <p:cNvPr id="1784859405" name="Shape 26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C2766"/>
          </a:solidFill>
          <a:ln/>
        </p:spPr>
      </p:sp>
      <p:sp>
        <p:nvSpPr>
          <p:cNvPr id="958708183" name="Shape 27"/>
          <p:cNvSpPr/>
          <p:nvPr/>
        </p:nvSpPr>
        <p:spPr bwMode="auto">
          <a:xfrm>
            <a:off x="812800" y="6350000"/>
            <a:ext cx="465455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  <p:sp>
        <p:nvSpPr>
          <p:cNvPr id="1106482183" name="Text 28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XP 1100 · LVL 11/1</a:t>
            </a:r>
            <a:r>
              <a:rPr lang="ru-RU" sz="1200" b="1">
                <a:solidFill>
                  <a:srgbClr val="B9B6D6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2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900654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E0314A"/>
                </a:solidFill>
                <a:latin typeface="Inter"/>
                <a:ea typeface="Inter"/>
                <a:cs typeface="Inter"/>
              </a:rPr>
              <a:t>МИССИЯ 11 · ПРОВЕРКА</a:t>
            </a:r>
            <a:endParaRPr lang="en-US" sz="1200"/>
          </a:p>
        </p:txBody>
      </p:sp>
      <p:sp>
        <p:nvSpPr>
          <p:cNvPr id="1233790670" name="Shape 1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D9D4FF"/>
          </a:solidFill>
          <a:ln/>
        </p:spPr>
      </p:sp>
      <p:sp>
        <p:nvSpPr>
          <p:cNvPr id="2070082775" name="Shape 2"/>
          <p:cNvSpPr/>
          <p:nvPr/>
        </p:nvSpPr>
        <p:spPr bwMode="auto">
          <a:xfrm>
            <a:off x="812800" y="6350000"/>
            <a:ext cx="5080000" cy="1016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1575021714" name="Text 3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XP 1200 · LVL 12/1</a:t>
            </a:r>
            <a:r>
              <a:rPr lang="ru-RU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  <p:sp>
        <p:nvSpPr>
          <p:cNvPr id="159233071" name="Text 4"/>
          <p:cNvSpPr/>
          <p:nvPr>
            <p:ph type="title"/>
          </p:nvPr>
        </p:nvSpPr>
        <p:spPr bwMode="auto">
          <a:xfrm>
            <a:off x="812800" y="812800"/>
            <a:ext cx="11379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3"/>
              </a:lnSpc>
              <a:buNone/>
              <a:defRPr/>
            </a:pPr>
            <a:r>
              <a:rPr lang="en-US" sz="365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Тестирование, CI и проверка по замечаниям</a:t>
            </a:r>
            <a:endParaRPr lang="en-US" sz="3650"/>
          </a:p>
        </p:txBody>
      </p:sp>
      <p:sp>
        <p:nvSpPr>
          <p:cNvPr id="521536972" name="Shape 5"/>
          <p:cNvSpPr/>
          <p:nvPr/>
        </p:nvSpPr>
        <p:spPr bwMode="auto">
          <a:xfrm>
            <a:off x="812800" y="16256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702865539" name="Text 6"/>
          <p:cNvSpPr/>
          <p:nvPr/>
        </p:nvSpPr>
        <p:spPr bwMode="auto">
          <a:xfrm>
            <a:off x="6223000" y="2120900"/>
            <a:ext cx="121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  <a:defRPr/>
            </a:pPr>
            <a:r>
              <a:rPr lang="en-US" sz="7000" b="1">
                <a:solidFill>
                  <a:srgbClr val="E0314A"/>
                </a:solidFill>
                <a:latin typeface="Nunito"/>
                <a:ea typeface="Nunito"/>
                <a:cs typeface="Nunito"/>
              </a:rPr>
              <a:t>35</a:t>
            </a:r>
            <a:endParaRPr lang="en-US" sz="7000"/>
          </a:p>
        </p:txBody>
      </p:sp>
      <p:sp>
        <p:nvSpPr>
          <p:cNvPr id="638109648" name="Text 7"/>
          <p:cNvSpPr/>
          <p:nvPr/>
        </p:nvSpPr>
        <p:spPr bwMode="auto">
          <a:xfrm>
            <a:off x="7442200" y="2325371"/>
            <a:ext cx="406165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  <a:defRPr/>
            </a:pPr>
            <a:r>
              <a:rPr lang="en-US" sz="1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замечаний преподавателя проверено; все критические и высокие закрыты:</a:t>
            </a:r>
            <a:endParaRPr lang="en-US" sz="1400"/>
          </a:p>
        </p:txBody>
      </p:sp>
      <p:sp>
        <p:nvSpPr>
          <p:cNvPr id="728578709" name="Text 8"/>
          <p:cNvSpPr/>
          <p:nvPr/>
        </p:nvSpPr>
        <p:spPr bwMode="auto">
          <a:xfrm>
            <a:off x="6223000" y="3111500"/>
            <a:ext cx="2549525" cy="34036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/>
        </p:spPr>
        <p:txBody>
          <a:bodyPr wrap="square" lIns="29641" tIns="13656" rIns="2964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подделка результата</a:t>
            </a:r>
            <a:endParaRPr lang="en-US" sz="1200"/>
          </a:p>
        </p:txBody>
      </p:sp>
      <p:sp>
        <p:nvSpPr>
          <p:cNvPr id="1740798790" name="Text 9"/>
          <p:cNvSpPr/>
          <p:nvPr/>
        </p:nvSpPr>
        <p:spPr bwMode="auto">
          <a:xfrm>
            <a:off x="8836025" y="3111500"/>
            <a:ext cx="2549525" cy="34036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/>
        </p:spPr>
        <p:txBody>
          <a:bodyPr wrap="square" lIns="29641" tIns="13656" rIns="2964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повторное начисление XP</a:t>
            </a:r>
            <a:endParaRPr lang="en-US" sz="1200"/>
          </a:p>
        </p:txBody>
      </p:sp>
      <p:sp>
        <p:nvSpPr>
          <p:cNvPr id="1592763654" name="Text 10"/>
          <p:cNvSpPr/>
          <p:nvPr/>
        </p:nvSpPr>
        <p:spPr bwMode="auto">
          <a:xfrm>
            <a:off x="6223000" y="3515358"/>
            <a:ext cx="2549525" cy="553720"/>
          </a:xfrm>
          <a:custGeom>
            <a:avLst/>
            <a:gdLst/>
            <a:ahLst/>
            <a:cxnLst/>
            <a:rect l="l" t="t" r="r" b="b"/>
            <a:pathLst>
              <a:path w="2549525" h="553720" fill="norm" stroke="1" extrusionOk="0">
                <a:moveTo>
                  <a:pt x="254000" y="0"/>
                </a:moveTo>
                <a:lnTo>
                  <a:pt x="2295525" y="0"/>
                </a:lnTo>
                <a:arcTo wR="254000" hR="254000" stAng="16200000" swAng="5400000"/>
                <a:lnTo>
                  <a:pt x="2549525" y="299720"/>
                </a:lnTo>
                <a:arcTo wR="254000" hR="254000" stAng="0" swAng="5400000"/>
                <a:lnTo>
                  <a:pt x="254000" y="55372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7CC4FF"/>
          </a:solidFill>
          <a:ln/>
        </p:spPr>
        <p:txBody>
          <a:bodyPr wrap="square" lIns="79486" tIns="63500" rIns="79486" bIns="381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раскрытие правильных ответов</a:t>
            </a:r>
            <a:endParaRPr lang="en-US" sz="1200"/>
          </a:p>
        </p:txBody>
      </p:sp>
      <p:sp>
        <p:nvSpPr>
          <p:cNvPr id="1039281196" name="Text 11"/>
          <p:cNvSpPr/>
          <p:nvPr/>
        </p:nvSpPr>
        <p:spPr bwMode="auto">
          <a:xfrm>
            <a:off x="8836025" y="3515358"/>
            <a:ext cx="2549525" cy="553720"/>
          </a:xfrm>
          <a:custGeom>
            <a:avLst/>
            <a:gdLst/>
            <a:ahLst/>
            <a:cxnLst/>
            <a:rect l="l" t="t" r="r" b="b"/>
            <a:pathLst>
              <a:path w="2549525" h="553720" fill="norm" stroke="1" extrusionOk="0">
                <a:moveTo>
                  <a:pt x="254000" y="0"/>
                </a:moveTo>
                <a:lnTo>
                  <a:pt x="2295525" y="0"/>
                </a:lnTo>
                <a:arcTo wR="254000" hR="254000" stAng="16200000" swAng="5400000"/>
                <a:lnTo>
                  <a:pt x="2549525" y="299720"/>
                </a:lnTo>
                <a:arcTo wR="254000" hR="254000" stAng="0" swAng="5400000"/>
                <a:lnTo>
                  <a:pt x="254000" y="55372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7CC4FF"/>
          </a:solidFill>
          <a:ln/>
        </p:spPr>
        <p:txBody>
          <a:bodyPr wrap="square" lIns="79486" tIns="63500" rIns="79486" bIns="635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слабая калибровка</a:t>
            </a:r>
            <a:endParaRPr lang="en-US" sz="1200"/>
          </a:p>
        </p:txBody>
      </p:sp>
      <p:sp>
        <p:nvSpPr>
          <p:cNvPr id="390774288" name="Text 12"/>
          <p:cNvSpPr/>
          <p:nvPr/>
        </p:nvSpPr>
        <p:spPr bwMode="auto">
          <a:xfrm>
            <a:off x="6223000" y="4132579"/>
            <a:ext cx="2549525" cy="34036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/>
        </p:spPr>
        <p:txBody>
          <a:bodyPr wrap="square" lIns="29641" tIns="13656" rIns="2964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обход блокировки миссий</a:t>
            </a:r>
            <a:endParaRPr lang="en-US" sz="1200"/>
          </a:p>
        </p:txBody>
      </p:sp>
      <p:sp>
        <p:nvSpPr>
          <p:cNvPr id="216991417" name="Text 13"/>
          <p:cNvSpPr/>
          <p:nvPr/>
        </p:nvSpPr>
        <p:spPr bwMode="auto">
          <a:xfrm>
            <a:off x="8836025" y="4132579"/>
            <a:ext cx="2549525" cy="34036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/>
        </p:spPr>
        <p:txBody>
          <a:bodyPr wrap="square" lIns="29641" tIns="13656" rIns="2964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известные секреты</a:t>
            </a:r>
            <a:endParaRPr lang="en-US" sz="1200"/>
          </a:p>
        </p:txBody>
      </p:sp>
      <p:sp>
        <p:nvSpPr>
          <p:cNvPr id="1078357009" name="Text 14"/>
          <p:cNvSpPr/>
          <p:nvPr/>
        </p:nvSpPr>
        <p:spPr bwMode="auto">
          <a:xfrm>
            <a:off x="6223000" y="4536442"/>
            <a:ext cx="2549525" cy="34036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/>
        </p:spPr>
        <p:txBody>
          <a:bodyPr wrap="square" lIns="29641" tIns="13656" rIns="2964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ограничение паролей</a:t>
            </a:r>
            <a:endParaRPr lang="en-US" sz="1200"/>
          </a:p>
        </p:txBody>
      </p:sp>
      <p:sp>
        <p:nvSpPr>
          <p:cNvPr id="976944217" name="Text 15"/>
          <p:cNvSpPr/>
          <p:nvPr/>
        </p:nvSpPr>
        <p:spPr bwMode="auto">
          <a:xfrm>
            <a:off x="6223000" y="4978400"/>
            <a:ext cx="531742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  <a:defRPr/>
            </a:pPr>
            <a:r>
              <a:rPr lang="en-US" sz="1200" b="1">
                <a:solidFill>
                  <a:srgbClr val="6A6692"/>
                </a:solidFill>
                <a:latin typeface="Inter"/>
                <a:ea typeface="Inter"/>
                <a:cs typeface="Inter"/>
              </a:rPr>
              <a:t>Остались несколько средних и низких пунктов и требования, которых нет в актуальном ТЗ.</a:t>
            </a:r>
            <a:endParaRPr lang="en-US" sz="1200"/>
          </a:p>
        </p:txBody>
      </p:sp>
      <p:sp>
        <p:nvSpPr>
          <p:cNvPr id="2127901182" name="Shape 16"/>
          <p:cNvSpPr/>
          <p:nvPr/>
        </p:nvSpPr>
        <p:spPr bwMode="auto">
          <a:xfrm>
            <a:off x="812800" y="1867005"/>
            <a:ext cx="5162550" cy="4311650"/>
          </a:xfrm>
          <a:prstGeom prst="roundRect">
            <a:avLst>
              <a:gd name="adj" fmla="val 4124"/>
            </a:avLst>
          </a:prstGeom>
          <a:solidFill>
            <a:srgbClr val="FFD23F"/>
          </a:solidFill>
          <a:ln/>
        </p:spPr>
      </p:sp>
      <p:sp>
        <p:nvSpPr>
          <p:cNvPr id="1852630384" name="Text 17"/>
          <p:cNvSpPr/>
          <p:nvPr/>
        </p:nvSpPr>
        <p:spPr bwMode="auto">
          <a:xfrm>
            <a:off x="1016000" y="2070205"/>
            <a:ext cx="48988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20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Тесты и CI</a:t>
            </a:r>
            <a:endParaRPr lang="en-US" sz="2000"/>
          </a:p>
        </p:txBody>
      </p:sp>
      <p:sp>
        <p:nvSpPr>
          <p:cNvPr id="1043427915" name="Text 18"/>
          <p:cNvSpPr/>
          <p:nvPr/>
        </p:nvSpPr>
        <p:spPr bwMode="auto">
          <a:xfrm>
            <a:off x="1016000" y="2413105"/>
            <a:ext cx="4898835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Интеграционные API-тесты на pytest и httpx проверяют:</a:t>
            </a:r>
            <a:endParaRPr lang="en-US" sz="1300"/>
          </a:p>
        </p:txBody>
      </p:sp>
      <p:sp>
        <p:nvSpPr>
          <p:cNvPr id="689195458" name="Text 19"/>
          <p:cNvSpPr/>
          <p:nvPr/>
        </p:nvSpPr>
        <p:spPr bwMode="auto">
          <a:xfrm>
            <a:off x="1016000" y="2699488"/>
            <a:ext cx="4756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1365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регистрация</a:t>
            </a:r>
            <a:endParaRPr lang="en-US" sz="1200"/>
          </a:p>
        </p:txBody>
      </p:sp>
      <p:sp>
        <p:nvSpPr>
          <p:cNvPr id="1688468096" name="Text 20"/>
          <p:cNvSpPr/>
          <p:nvPr/>
        </p:nvSpPr>
        <p:spPr bwMode="auto">
          <a:xfrm>
            <a:off x="1016000" y="3103352"/>
            <a:ext cx="4756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1365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калибровка</a:t>
            </a:r>
            <a:endParaRPr lang="en-US" sz="1200"/>
          </a:p>
        </p:txBody>
      </p:sp>
      <p:sp>
        <p:nvSpPr>
          <p:cNvPr id="407233296" name="Text 21"/>
          <p:cNvSpPr/>
          <p:nvPr/>
        </p:nvSpPr>
        <p:spPr bwMode="auto">
          <a:xfrm>
            <a:off x="1016000" y="3507209"/>
            <a:ext cx="4756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1365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серверная оценка</a:t>
            </a:r>
            <a:endParaRPr lang="en-US" sz="1200"/>
          </a:p>
        </p:txBody>
      </p:sp>
      <p:sp>
        <p:nvSpPr>
          <p:cNvPr id="1758657991" name="Text 22"/>
          <p:cNvSpPr/>
          <p:nvPr/>
        </p:nvSpPr>
        <p:spPr bwMode="auto">
          <a:xfrm>
            <a:off x="1016000" y="3911073"/>
            <a:ext cx="4756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1365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начисление и идемпотентность XP</a:t>
            </a:r>
            <a:endParaRPr lang="en-US" sz="1200"/>
          </a:p>
        </p:txBody>
      </p:sp>
      <p:sp>
        <p:nvSpPr>
          <p:cNvPr id="1032382756" name="Text 23"/>
          <p:cNvSpPr/>
          <p:nvPr/>
        </p:nvSpPr>
        <p:spPr bwMode="auto">
          <a:xfrm>
            <a:off x="1016000" y="4314930"/>
            <a:ext cx="4756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1365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контроль доступа</a:t>
            </a:r>
            <a:endParaRPr lang="en-US" sz="1200"/>
          </a:p>
        </p:txBody>
      </p:sp>
      <p:sp>
        <p:nvSpPr>
          <p:cNvPr id="389390066" name="Text 24"/>
          <p:cNvSpPr/>
          <p:nvPr/>
        </p:nvSpPr>
        <p:spPr bwMode="auto">
          <a:xfrm>
            <a:off x="1016000" y="4718788"/>
            <a:ext cx="4756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1365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валидация</a:t>
            </a:r>
            <a:endParaRPr lang="en-US" sz="1200"/>
          </a:p>
        </p:txBody>
      </p:sp>
      <p:sp>
        <p:nvSpPr>
          <p:cNvPr id="172168689" name="Text 25"/>
          <p:cNvSpPr/>
          <p:nvPr/>
        </p:nvSpPr>
        <p:spPr bwMode="auto">
          <a:xfrm>
            <a:off x="1016000" y="5122652"/>
            <a:ext cx="4756150" cy="340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1365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✓ откат без частичных изменений</a:t>
            </a:r>
            <a:endParaRPr lang="en-US" sz="1200"/>
          </a:p>
        </p:txBody>
      </p:sp>
      <p:sp>
        <p:nvSpPr>
          <p:cNvPr id="1032753191" name="Text 26"/>
          <p:cNvSpPr/>
          <p:nvPr/>
        </p:nvSpPr>
        <p:spPr bwMode="auto">
          <a:xfrm>
            <a:off x="1016000" y="5526509"/>
            <a:ext cx="489883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ESLint и CI на GitHub Actions: сборка и тесты backend и frontend.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381459" name="Text 0"/>
          <p:cNvSpPr/>
          <p:nvPr/>
        </p:nvSpPr>
        <p:spPr bwMode="auto">
          <a:xfrm>
            <a:off x="812800" y="381000"/>
            <a:ext cx="71945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МИССИЯ 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2</a:t>
            </a: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 · ИТОГИ</a:t>
            </a:r>
            <a:endParaRPr lang="en-US" sz="1200"/>
          </a:p>
        </p:txBody>
      </p:sp>
      <p:sp>
        <p:nvSpPr>
          <p:cNvPr id="953702835" name="Text 1"/>
          <p:cNvSpPr/>
          <p:nvPr>
            <p:ph type="title"/>
          </p:nvPr>
        </p:nvSpPr>
        <p:spPr bwMode="auto">
          <a:xfrm>
            <a:off x="812800" y="812800"/>
            <a:ext cx="10883392" cy="54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04"/>
              </a:lnSpc>
              <a:buNone/>
              <a:defRPr/>
            </a:pPr>
            <a:r>
              <a:rPr lang="en-US" sz="3800" b="1" i="0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Итоги</a:t>
            </a:r>
            <a:endParaRPr lang="en-US" sz="3800"/>
          </a:p>
        </p:txBody>
      </p:sp>
      <p:sp>
        <p:nvSpPr>
          <p:cNvPr id="19239490" name="Shape 2"/>
          <p:cNvSpPr/>
          <p:nvPr/>
        </p:nvSpPr>
        <p:spPr bwMode="auto">
          <a:xfrm>
            <a:off x="812800" y="1448327"/>
            <a:ext cx="762000" cy="63500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</p:sp>
      <p:sp>
        <p:nvSpPr>
          <p:cNvPr id="28848431" name="Text 3"/>
          <p:cNvSpPr/>
          <p:nvPr/>
        </p:nvSpPr>
        <p:spPr bwMode="auto">
          <a:xfrm>
            <a:off x="812800" y="1765827"/>
            <a:ext cx="108833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  <a:defRPr/>
            </a:pPr>
            <a:r>
              <a:rPr lang="en-US" sz="16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Работающий backend на FastAPI и клиент на Next.js с полным циклом:</a:t>
            </a:r>
            <a:endParaRPr lang="en-US" sz="1600"/>
          </a:p>
        </p:txBody>
      </p:sp>
      <p:sp>
        <p:nvSpPr>
          <p:cNvPr id="1468402218" name="Text 4"/>
          <p:cNvSpPr/>
          <p:nvPr/>
        </p:nvSpPr>
        <p:spPr bwMode="auto">
          <a:xfrm>
            <a:off x="812800" y="2192548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Регистрация</a:t>
            </a:r>
            <a:endParaRPr lang="en-US" sz="1400"/>
          </a:p>
        </p:txBody>
      </p:sp>
      <p:sp>
        <p:nvSpPr>
          <p:cNvPr id="1739203303" name="Text 5"/>
          <p:cNvSpPr/>
          <p:nvPr/>
        </p:nvSpPr>
        <p:spPr bwMode="auto">
          <a:xfrm>
            <a:off x="2631440" y="2328441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526392397" name="Text 6"/>
          <p:cNvSpPr/>
          <p:nvPr/>
        </p:nvSpPr>
        <p:spPr bwMode="auto">
          <a:xfrm>
            <a:off x="3012440" y="2192548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Калибровка</a:t>
            </a:r>
            <a:endParaRPr lang="en-US" sz="1400"/>
          </a:p>
        </p:txBody>
      </p:sp>
      <p:sp>
        <p:nvSpPr>
          <p:cNvPr id="2002812406" name="Text 7"/>
          <p:cNvSpPr/>
          <p:nvPr/>
        </p:nvSpPr>
        <p:spPr bwMode="auto">
          <a:xfrm>
            <a:off x="4831080" y="2328441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36453904" name="Text 8"/>
          <p:cNvSpPr/>
          <p:nvPr/>
        </p:nvSpPr>
        <p:spPr bwMode="auto">
          <a:xfrm>
            <a:off x="5212080" y="2192548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Миссии</a:t>
            </a:r>
            <a:endParaRPr lang="en-US" sz="1400"/>
          </a:p>
        </p:txBody>
      </p:sp>
      <p:sp>
        <p:nvSpPr>
          <p:cNvPr id="1353243880" name="Text 9"/>
          <p:cNvSpPr/>
          <p:nvPr/>
        </p:nvSpPr>
        <p:spPr bwMode="auto">
          <a:xfrm>
            <a:off x="7030720" y="2328441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363863222" name="Text 10"/>
          <p:cNvSpPr/>
          <p:nvPr/>
        </p:nvSpPr>
        <p:spPr bwMode="auto">
          <a:xfrm>
            <a:off x="7411720" y="2192548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95064" tIns="95064" rIns="950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Игра и XP</a:t>
            </a:r>
            <a:endParaRPr lang="en-US" sz="1400"/>
          </a:p>
        </p:txBody>
      </p:sp>
      <p:sp>
        <p:nvSpPr>
          <p:cNvPr id="1072443042" name="Text 11"/>
          <p:cNvSpPr/>
          <p:nvPr/>
        </p:nvSpPr>
        <p:spPr bwMode="auto">
          <a:xfrm>
            <a:off x="9230360" y="2328441"/>
            <a:ext cx="330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  <a:defRPr/>
            </a:pPr>
            <a:r>
              <a:rPr lang="en-US" sz="24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→</a:t>
            </a:r>
            <a:endParaRPr lang="en-US" sz="2400"/>
          </a:p>
        </p:txBody>
      </p:sp>
      <p:sp>
        <p:nvSpPr>
          <p:cNvPr id="1221896012" name="Text 12"/>
          <p:cNvSpPr/>
          <p:nvPr/>
        </p:nvSpPr>
        <p:spPr bwMode="auto">
          <a:xfrm>
            <a:off x="9611360" y="2192548"/>
            <a:ext cx="1767840" cy="698500"/>
          </a:xfrm>
          <a:prstGeom prst="roundRect">
            <a:avLst>
              <a:gd name="adj" fmla="val 21818"/>
            </a:avLst>
          </a:prstGeom>
          <a:solidFill>
            <a:srgbClr val="130F3A"/>
          </a:solidFill>
          <a:ln/>
        </p:spPr>
        <p:txBody>
          <a:bodyPr wrap="square" lIns="69664" tIns="95064" rIns="69664" bIns="95064" rtlCol="0" anchor="ctr">
            <a:normAutofit/>
          </a:bodyPr>
          <a:lstStyle/>
          <a:p>
            <a:pPr marL="0" indent="0" algn="ctr">
              <a:lnSpc>
                <a:spcPts val="154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Панель преподавателя</a:t>
            </a:r>
            <a:endParaRPr lang="en-US" sz="1400"/>
          </a:p>
        </p:txBody>
      </p:sp>
      <p:sp>
        <p:nvSpPr>
          <p:cNvPr id="594707203" name="Shape 13"/>
          <p:cNvSpPr/>
          <p:nvPr/>
        </p:nvSpPr>
        <p:spPr bwMode="auto">
          <a:xfrm>
            <a:off x="812800" y="3043448"/>
            <a:ext cx="3420533" cy="1127760"/>
          </a:xfrm>
          <a:prstGeom prst="roundRect">
            <a:avLst>
              <a:gd name="adj" fmla="val 15766"/>
            </a:avLst>
          </a:prstGeom>
          <a:solidFill>
            <a:srgbClr val="7CC4FF"/>
          </a:solidFill>
          <a:ln/>
        </p:spPr>
      </p:sp>
      <p:sp>
        <p:nvSpPr>
          <p:cNvPr id="82635003" name="Text 14"/>
          <p:cNvSpPr/>
          <p:nvPr/>
        </p:nvSpPr>
        <p:spPr bwMode="auto">
          <a:xfrm>
            <a:off x="1003300" y="3233948"/>
            <a:ext cx="3130719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Достоверность</a:t>
            </a:r>
            <a:endParaRPr lang="en-US" sz="1700"/>
          </a:p>
        </p:txBody>
      </p:sp>
      <p:sp>
        <p:nvSpPr>
          <p:cNvPr id="1650960625" name="Text 15"/>
          <p:cNvSpPr/>
          <p:nvPr/>
        </p:nvSpPr>
        <p:spPr bwMode="auto">
          <a:xfrm>
            <a:off x="1003300" y="3534941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Результаты считает и проверяет сервер</a:t>
            </a:r>
            <a:endParaRPr lang="en-US" sz="1300"/>
          </a:p>
        </p:txBody>
      </p:sp>
      <p:sp>
        <p:nvSpPr>
          <p:cNvPr id="1707722126" name="Shape 16"/>
          <p:cNvSpPr/>
          <p:nvPr/>
        </p:nvSpPr>
        <p:spPr bwMode="auto">
          <a:xfrm>
            <a:off x="4385733" y="3043448"/>
            <a:ext cx="3420533" cy="1127760"/>
          </a:xfrm>
          <a:prstGeom prst="roundRect">
            <a:avLst>
              <a:gd name="adj" fmla="val 15766"/>
            </a:avLst>
          </a:prstGeom>
          <a:solidFill>
            <a:srgbClr val="7CC4FF"/>
          </a:solidFill>
          <a:ln/>
        </p:spPr>
      </p:sp>
      <p:sp>
        <p:nvSpPr>
          <p:cNvPr id="1261020948" name="Text 17"/>
          <p:cNvSpPr/>
          <p:nvPr/>
        </p:nvSpPr>
        <p:spPr bwMode="auto">
          <a:xfrm>
            <a:off x="4576233" y="3233948"/>
            <a:ext cx="3130719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Атомарность</a:t>
            </a:r>
            <a:endParaRPr lang="en-US" sz="1700"/>
          </a:p>
        </p:txBody>
      </p:sp>
      <p:sp>
        <p:nvSpPr>
          <p:cNvPr id="1841399411" name="Text 18"/>
          <p:cNvSpPr/>
          <p:nvPr/>
        </p:nvSpPr>
        <p:spPr bwMode="auto">
          <a:xfrm>
            <a:off x="4576233" y="3534941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XP начисляется в транзакции, без потерь</a:t>
            </a:r>
            <a:endParaRPr lang="en-US" sz="1300"/>
          </a:p>
        </p:txBody>
      </p:sp>
      <p:sp>
        <p:nvSpPr>
          <p:cNvPr id="1274105920" name="Shape 19"/>
          <p:cNvSpPr/>
          <p:nvPr/>
        </p:nvSpPr>
        <p:spPr bwMode="auto">
          <a:xfrm>
            <a:off x="7958667" y="3043448"/>
            <a:ext cx="3420533" cy="1127760"/>
          </a:xfrm>
          <a:prstGeom prst="roundRect">
            <a:avLst>
              <a:gd name="adj" fmla="val 15766"/>
            </a:avLst>
          </a:prstGeom>
          <a:solidFill>
            <a:srgbClr val="7CC4FF"/>
          </a:solidFill>
          <a:ln/>
        </p:spPr>
      </p:sp>
      <p:sp>
        <p:nvSpPr>
          <p:cNvPr id="1286338272" name="Text 20"/>
          <p:cNvSpPr/>
          <p:nvPr/>
        </p:nvSpPr>
        <p:spPr bwMode="auto">
          <a:xfrm>
            <a:off x="8149167" y="3233948"/>
            <a:ext cx="3130719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Доступ</a:t>
            </a:r>
            <a:endParaRPr lang="en-US" sz="1700"/>
          </a:p>
        </p:txBody>
      </p:sp>
      <p:sp>
        <p:nvSpPr>
          <p:cNvPr id="176497819" name="Text 21"/>
          <p:cNvSpPr/>
          <p:nvPr/>
        </p:nvSpPr>
        <p:spPr bwMode="auto">
          <a:xfrm>
            <a:off x="8149167" y="3534941"/>
            <a:ext cx="313071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  <a:defRPr/>
            </a:pPr>
            <a:r>
              <a:rPr lang="en-US" sz="1300">
                <a:solidFill>
                  <a:srgbClr val="130F3A"/>
                </a:solidFill>
                <a:latin typeface="Inter"/>
                <a:ea typeface="Inter"/>
                <a:cs typeface="Inter"/>
              </a:rPr>
              <a:t>Роли student и teacher разграничены на сервере</a:t>
            </a:r>
            <a:endParaRPr lang="en-US" sz="1300"/>
          </a:p>
        </p:txBody>
      </p:sp>
      <p:sp>
        <p:nvSpPr>
          <p:cNvPr id="918332998" name="Text 22"/>
          <p:cNvSpPr/>
          <p:nvPr/>
        </p:nvSpPr>
        <p:spPr bwMode="auto">
          <a:xfrm>
            <a:off x="812800" y="4323612"/>
            <a:ext cx="10883392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  <a:defRPr/>
            </a:pPr>
            <a:r>
              <a:rPr lang="en-US" sz="17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Проект собирается, покрыт интеграционными тестами и готов к защите.</a:t>
            </a:r>
            <a:endParaRPr lang="en-US" sz="1700"/>
          </a:p>
        </p:txBody>
      </p:sp>
      <p:sp>
        <p:nvSpPr>
          <p:cNvPr id="761378399" name="Shape 23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6A6692"/>
          </a:solidFill>
          <a:ln/>
        </p:spPr>
      </p:sp>
      <p:sp>
        <p:nvSpPr>
          <p:cNvPr id="336843610" name="Shape 24"/>
          <p:cNvSpPr/>
          <p:nvPr/>
        </p:nvSpPr>
        <p:spPr bwMode="auto">
          <a:xfrm flipH="0" flipV="0">
            <a:off x="812799" y="6349999"/>
            <a:ext cx="5602774" cy="101599"/>
          </a:xfrm>
          <a:prstGeom prst="roundRect">
            <a:avLst>
              <a:gd name="adj" fmla="val 50000"/>
            </a:avLst>
          </a:prstGeom>
          <a:solidFill>
            <a:srgbClr val="130F3A"/>
          </a:solidFill>
          <a:ln/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38524856" name="Text 25"/>
          <p:cNvSpPr/>
          <p:nvPr/>
        </p:nvSpPr>
        <p:spPr bwMode="auto">
          <a:xfrm>
            <a:off x="7454900" y="62890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XP 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3</a:t>
            </a: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00 · LVL 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3</a:t>
            </a:r>
            <a:r>
              <a:rPr lang="en-US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/1</a:t>
            </a:r>
            <a:r>
              <a:rPr lang="ru-RU" sz="1200" b="1">
                <a:solidFill>
                  <a:srgbClr val="130F3A"/>
                </a:solidFill>
                <a:latin typeface="Inter"/>
                <a:ea typeface="Inter"/>
                <a:cs typeface="Inter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130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085557" name="Text 0"/>
          <p:cNvSpPr/>
          <p:nvPr/>
        </p:nvSpPr>
        <p:spPr bwMode="auto">
          <a:xfrm>
            <a:off x="8128000" y="1016000"/>
            <a:ext cx="753110" cy="822960"/>
          </a:xfrm>
          <a:custGeom>
            <a:avLst/>
            <a:gdLst/>
            <a:ahLst/>
            <a:cxnLst/>
            <a:rect l="l" t="t" r="r" b="b"/>
            <a:pathLst>
              <a:path w="753110" h="822960" fill="norm" stroke="1" extrusionOk="0">
                <a:moveTo>
                  <a:pt x="279400" y="0"/>
                </a:moveTo>
                <a:lnTo>
                  <a:pt x="473710" y="0"/>
                </a:lnTo>
                <a:arcTo wR="279400" hR="279400" stAng="16200000" swAng="5400000"/>
                <a:lnTo>
                  <a:pt x="753110" y="543560"/>
                </a:lnTo>
                <a:arcTo wR="279400" hR="279400" stAng="0" swAng="5400000"/>
                <a:lnTo>
                  <a:pt x="50800" y="822960"/>
                </a:lnTo>
                <a:arcTo wR="50800" hR="50800" stAng="5400000" swAng="5400000"/>
                <a:lnTo>
                  <a:pt x="0" y="279400"/>
                </a:lnTo>
                <a:arcTo wR="279400" hR="279400" stAng="10800000" swAng="5400000"/>
                <a:close/>
              </a:path>
            </a:pathLst>
          </a:custGeom>
          <a:solidFill>
            <a:srgbClr val="22E1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4480"/>
              </a:lnSpc>
              <a:buNone/>
              <a:defRPr/>
            </a:pPr>
            <a:r>
              <a:rPr lang="en-US" sz="32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?</a:t>
            </a:r>
            <a:endParaRPr lang="en-US" sz="3200"/>
          </a:p>
        </p:txBody>
      </p:sp>
      <p:sp>
        <p:nvSpPr>
          <p:cNvPr id="244220006" name="Text 1"/>
          <p:cNvSpPr/>
          <p:nvPr/>
        </p:nvSpPr>
        <p:spPr bwMode="auto">
          <a:xfrm>
            <a:off x="9525000" y="2667000"/>
            <a:ext cx="2307378" cy="594360"/>
          </a:xfrm>
          <a:custGeom>
            <a:avLst/>
            <a:gdLst/>
            <a:ahLst/>
            <a:cxnLst/>
            <a:rect l="l" t="t" r="r" b="b"/>
            <a:pathLst>
              <a:path w="2307378" h="594360" fill="norm" stroke="1" extrusionOk="0">
                <a:moveTo>
                  <a:pt x="254000" y="0"/>
                </a:moveTo>
                <a:lnTo>
                  <a:pt x="2053378" y="0"/>
                </a:lnTo>
                <a:arcTo wR="254000" hR="254000" stAng="16200000" swAng="5400000"/>
                <a:lnTo>
                  <a:pt x="2307378" y="543560"/>
                </a:lnTo>
                <a:arcTo wR="50800" hR="50800" stAng="0" swAng="5400000"/>
                <a:lnTo>
                  <a:pt x="254000" y="594360"/>
                </a:lnTo>
                <a:arcTo wR="254000" hR="254000" stAng="5400000" swAng="5400000"/>
                <a:lnTo>
                  <a:pt x="0" y="254000"/>
                </a:lnTo>
                <a:arcTo wR="254000" hR="2540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  <a:defRPr/>
            </a:pPr>
            <a:r>
              <a:rPr lang="en-US" sz="2200" b="1">
                <a:solidFill>
                  <a:srgbClr val="130F3A"/>
                </a:solidFill>
                <a:latin typeface="Nunito"/>
                <a:ea typeface="Nunito"/>
                <a:cs typeface="Nunito"/>
              </a:rPr>
              <a:t>GAME OVER?</a:t>
            </a:r>
            <a:endParaRPr lang="en-US" sz="2200"/>
          </a:p>
        </p:txBody>
      </p:sp>
      <p:sp>
        <p:nvSpPr>
          <p:cNvPr id="1309352604" name="Text 2"/>
          <p:cNvSpPr/>
          <p:nvPr>
            <p:ph type="title"/>
          </p:nvPr>
        </p:nvSpPr>
        <p:spPr bwMode="auto">
          <a:xfrm>
            <a:off x="812800" y="2084071"/>
            <a:ext cx="784860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  <a:defRPr/>
            </a:pPr>
            <a:r>
              <a:rPr lang="en-US" sz="7000" b="1" i="0">
                <a:solidFill>
                  <a:srgbClr val="FFD23F"/>
                </a:solidFill>
                <a:latin typeface="Nunito"/>
                <a:ea typeface="Nunito"/>
                <a:cs typeface="Nunito"/>
              </a:rPr>
              <a:t>Спасибо за внимание!</a:t>
            </a:r>
            <a:endParaRPr lang="en-US" sz="7000"/>
          </a:p>
        </p:txBody>
      </p:sp>
      <p:sp>
        <p:nvSpPr>
          <p:cNvPr id="2042148275" name="Text 3"/>
          <p:cNvSpPr/>
          <p:nvPr/>
        </p:nvSpPr>
        <p:spPr bwMode="auto">
          <a:xfrm>
            <a:off x="812800" y="4179571"/>
            <a:ext cx="719454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  <a:defRPr/>
            </a:pPr>
            <a:r>
              <a:rPr lang="en-US" sz="2200">
                <a:solidFill>
                  <a:srgbClr val="E9E7FF"/>
                </a:solidFill>
                <a:latin typeface="Inter"/>
                <a:ea typeface="Inter"/>
                <a:cs typeface="Inter"/>
              </a:rPr>
              <a:t>Готовы ответить на ваши вопросы.</a:t>
            </a:r>
            <a:endParaRPr lang="en-US" sz="2200"/>
          </a:p>
        </p:txBody>
      </p:sp>
      <p:sp>
        <p:nvSpPr>
          <p:cNvPr id="1653708783" name="Shape 4"/>
          <p:cNvSpPr/>
          <p:nvPr/>
        </p:nvSpPr>
        <p:spPr bwMode="auto">
          <a:xfrm>
            <a:off x="812800" y="6350000"/>
            <a:ext cx="6350000" cy="101600"/>
          </a:xfrm>
          <a:prstGeom prst="roundRect">
            <a:avLst>
              <a:gd name="adj" fmla="val 50000"/>
            </a:avLst>
          </a:prstGeom>
          <a:solidFill>
            <a:srgbClr val="22E1B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English Quest — защита проекта">
  <a:themeElements>
    <a:clrScheme name="English Quest — защита проекта">
      <a:dk1>
        <a:srgbClr val="130F3A"/>
      </a:dk1>
      <a:lt1>
        <a:srgbClr val="FFFFFF"/>
      </a:lt1>
      <a:dk2>
        <a:srgbClr val="2B274E"/>
      </a:dk2>
      <a:lt2>
        <a:srgbClr val="C4C3CE"/>
      </a:lt2>
      <a:accent1>
        <a:srgbClr val="FFD23F"/>
      </a:accent1>
      <a:accent2>
        <a:srgbClr val="22E1B0"/>
      </a:accent2>
      <a:accent3>
        <a:srgbClr val="7CC4FF"/>
      </a:accent3>
      <a:accent4>
        <a:srgbClr val="FF5A66"/>
      </a:accent4>
      <a:accent5>
        <a:srgbClr val="D9D4FF"/>
      </a:accent5>
      <a:accent6>
        <a:srgbClr val="6A6692"/>
      </a:accent6>
      <a:hlink>
        <a:srgbClr val="0563C1"/>
      </a:hlink>
      <a:folHlink>
        <a:srgbClr val="954F72"/>
      </a:folHlink>
    </a:clrScheme>
    <a:fontScheme name="English Quest — защита проекта">
      <a:majorFont>
        <a:latin typeface="Nunito"/>
        <a:ea typeface="Arial"/>
        <a:cs typeface="Arial"/>
      </a:majorFont>
      <a:minorFont>
        <a:latin typeface="Inter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Quest — защита проекта</dc:title>
  <dc:subject/>
  <dc:creator/>
  <cp:lastModifiedBy/>
  <cp:revision>2</cp:revision>
  <dcterms:created xsi:type="dcterms:W3CDTF">2026-10-13T16:07:00Z</dcterms:created>
  <dcterms:modified xsi:type="dcterms:W3CDTF">2026-10-13T16:10:24Z</dcterms:modified>
</cp:coreProperties>
</file>